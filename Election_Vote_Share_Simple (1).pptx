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b9c4a0f-f7ea-1cba-0737-0298d69adb76}">
          <p14:sldIdLst>
            <p14:sldId id="256"/>
            <p14:sldId id="257"/>
          </p14:sldIdLst>
        </p14:section>
        <p14:section name="Method" id="{31334206-4add-f411-736c-218458675884}">
          <p14:sldIdLst>
            <p14:sldId id="258"/>
            <p14:sldId id="259"/>
            <p14:sldId id="260"/>
            <p14:sldId id="261"/>
          </p14:sldIdLst>
        </p14:section>
        <p14:section name="Findings" id="{b5f2ab03-6a6f-5c2d-3e7e-b90279da3985}">
          <p14:sldIdLst>
            <p14:sldId id="262"/>
          </p14:sldIdLst>
        </p14:section>
        <p14:section name="Application" id="{3c7ca52c-ead3-131e-2847-450e2991a793}">
          <p14:sldIdLst>
            <p14:sldId id="263"/>
          </p14:sldIdLst>
        </p14:section>
        <p14:section name="Wrap-up" id="{8d8cecfa-a075-b53a-6d73-343fc970be24}">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MAE</c:v>
                </c:pt>
              </c:strCache>
            </c:strRef>
          </c:tx>
          <c:spPr>
            <a:solidFill>
              <a:srgbClr val="D20C0C"/>
            </a:solidFill>
            <a:effectLst/>
          </c:spPr>
          <c:invertIfNegative val="0"/>
          <c:dLbls>
            <c:numFmt formatCode="0.00" sourceLinked="0"/>
            <c:txPr>
              <a:bodyPr/>
              <a:lstStyle/>
              <a:p>
                <a:pPr>
                  <a:defRPr b="1" i="0" strike="noStrike" sz="1300" u="none">
                    <a:solidFill>
                      <a:srgbClr val="023465"/>
                    </a:solidFill>
                    <a:latin typeface="+mn-lt"/>
                  </a:defRPr>
                </a:pPr>
              </a:p>
            </c:txPr>
            <c:showLegendKey val="0"/>
            <c:showVal val="1"/>
            <c:showCatName val="0"/>
            <c:showSerName val="0"/>
            <c:showPercent val="0"/>
            <c:showBubbleSize val="0"/>
            <c:showLeaderLines val="0"/>
          </c:dLbls>
          <c:dPt>
            <c:idx val="0"/>
            <c:invertIfNegative val="0"/>
            <c:bubble3D val="0"/>
            <c:spPr>
              <a:solidFill>
                <a:srgbClr val="D20C0C"/>
              </a:solidFill>
              <a:effectLst/>
            </c:spPr>
          </c:dPt>
          <c:dPt>
            <c:idx val="1"/>
            <c:invertIfNegative val="0"/>
            <c:bubble3D val="0"/>
            <c:spPr>
              <a:solidFill>
                <a:srgbClr val="CACACA"/>
              </a:solidFill>
              <a:effectLst/>
            </c:spPr>
          </c:dPt>
          <c:dPt>
            <c:idx val="2"/>
            <c:invertIfNegative val="0"/>
            <c:bubble3D val="0"/>
            <c:spPr>
              <a:solidFill>
                <a:srgbClr val="CACACA"/>
              </a:solidFill>
              <a:effectLst/>
            </c:spPr>
          </c:dPt>
          <c:dPt>
            <c:idx val="3"/>
            <c:invertIfNegative val="0"/>
            <c:bubble3D val="0"/>
            <c:spPr>
              <a:solidFill>
                <a:srgbClr val="CACACA"/>
              </a:solidFill>
              <a:effectLst/>
            </c:spPr>
          </c:dPt>
          <c:dPt>
            <c:idx val="4"/>
            <c:invertIfNegative val="0"/>
            <c:bubble3D val="0"/>
            <c:spPr>
              <a:solidFill>
                <a:srgbClr val="CACACA"/>
              </a:solidFill>
              <a:effectLst/>
            </c:spPr>
          </c:dPt>
          <c:dPt>
            <c:idx val="5"/>
            <c:invertIfNegative val="0"/>
            <c:bubble3D val="0"/>
            <c:spPr>
              <a:solidFill>
                <a:srgbClr val="CACACA"/>
              </a:solidFill>
              <a:effectLst/>
            </c:spPr>
          </c:dPt>
          <c:dPt>
            <c:idx val="6"/>
            <c:invertIfNegative val="0"/>
            <c:bubble3D val="0"/>
            <c:spPr>
              <a:solidFill>
                <a:srgbClr val="CACACA"/>
              </a:solidFill>
              <a:effectLst/>
            </c:spPr>
          </c:dPt>
          <c:cat>
            <c:multiLvlStrRef>
              <c:f>Sheet1!$A$2:$A$8</c:f>
              <c:multiLvlStrCache>
                <c:ptCount val="7"/>
                <c:lvl>
                  <c:pt idx="0">
                    <c:v>Gradient Boosting</c:v>
                  </c:pt>
                  <c:pt idx="1">
                    <c:v>AdaBoost</c:v>
                  </c:pt>
                  <c:pt idx="2">
                    <c:v>Random Forest</c:v>
                  </c:pt>
                  <c:pt idx="3">
                    <c:v>Bagging</c:v>
                  </c:pt>
                  <c:pt idx="4">
                    <c:v>Decision Tree</c:v>
                  </c:pt>
                  <c:pt idx="5">
                    <c:v>Baseline (same as last time)</c:v>
                  </c:pt>
                  <c:pt idx="6">
                    <c:v>Linear Regression</c:v>
                  </c:pt>
                </c:lvl>
              </c:multiLvlStrCache>
            </c:multiLvlStrRef>
          </c:cat>
          <c:val>
            <c:numRef>
              <c:f>Sheet1!$B$2:$B$8</c:f>
              <c:numCache>
                <c:formatCode>General</c:formatCode>
                <c:ptCount val="7"/>
                <c:pt idx="0">
                  <c:v>3.15</c:v>
                </c:pt>
                <c:pt idx="1">
                  <c:v>3.42</c:v>
                </c:pt>
                <c:pt idx="2">
                  <c:v>3.42</c:v>
                </c:pt>
                <c:pt idx="3">
                  <c:v>3.46</c:v>
                </c:pt>
                <c:pt idx="4">
                  <c:v>3.55</c:v>
                </c:pt>
                <c:pt idx="5">
                  <c:v>3.59</c:v>
                </c:pt>
                <c:pt idx="6">
                  <c:v>3.73</c:v>
                </c:pt>
              </c:numCache>
            </c:numRef>
          </c:val>
        </c:ser>
        <c:dLbls>
          <c:numFmt formatCode="0.00" sourceLinked="0"/>
          <c:txPr>
            <a:bodyPr/>
            <a:lstStyle/>
            <a:p>
              <a:pPr>
                <a:defRPr b="1" i="0" strike="noStrike" sz="1300" u="none">
                  <a:solidFill>
                    <a:srgbClr val="023465"/>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023465"/>
                </a:solidFill>
                <a:latin typeface="+mn-lt"/>
              </a:defRPr>
            </a:pPr>
            <a:endParaRPr lang="en-US"/>
          </a:p>
        </c:txPr>
        <c:crossAx val="2094734552"/>
        <c:crosses val="autoZero"/>
        <c:auto val="1"/>
        <c:lblAlgn val="ctr"/>
        <c:noMultiLvlLbl val="1"/>
      </c:catAx>
      <c:valAx>
        <c:axId val="2094734552"/>
        <c:scaling>
          <c:orientation val="minMax"/>
          <c:max val="4"/>
          <c:min val="0"/>
        </c:scaling>
        <c:delete val="0"/>
        <c:axPos val="b"/>
        <c:majorGridlines>
          <c:spPr>
            <a:ln w="6350" cap="flat">
              <a:solidFill>
                <a:srgbClr val="CACACA"/>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100" b="0" i="0" u="none" strike="noStrike">
                <a:solidFill>
                  <a:srgbClr val="4F6886"/>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Training years 1991–2014</c:v>
                </c:pt>
              </c:strCache>
            </c:strRef>
          </c:tx>
          <c:spPr>
            <a:solidFill>
              <a:srgbClr val="CACACA"/>
            </a:solidFill>
            <a:effectLst/>
          </c:spPr>
          <c:invertIfNegative val="0"/>
          <c:dLbls>
            <c:numFmt formatCode="0.00" sourceLinked="0"/>
            <c:txPr>
              <a:bodyPr/>
              <a:lstStyle/>
              <a:p>
                <a:pPr>
                  <a:defRPr b="1" i="0" strike="noStrike" sz="1300" u="none">
                    <a:solidFill>
                      <a:srgbClr val="023465"/>
                    </a:solidFill>
                    <a:latin typeface="+mn-lt"/>
                  </a:defRPr>
                </a:pPr>
              </a:p>
            </c:txPr>
            <c:showLegendKey val="0"/>
            <c:showVal val="1"/>
            <c:showCatName val="0"/>
            <c:showSerName val="0"/>
            <c:showPercent val="0"/>
            <c:showBubbleSize val="0"/>
            <c:showLeaderLines val="0"/>
          </c:dLbls>
          <c:cat>
            <c:multiLvlStrRef>
              <c:f>Sheet1!$A$2:$A$3</c:f>
              <c:multiLvlStrCache>
                <c:ptCount val="2"/>
                <c:lvl>
                  <c:pt idx="0">
                    <c:v>One deep tree (15 questions)</c:v>
                  </c:pt>
                  <c:pt idx="1">
                    <c:v>Tuned Gradient Boosting</c:v>
                  </c:pt>
                </c:lvl>
              </c:multiLvlStrCache>
            </c:multiLvlStrRef>
          </c:cat>
          <c:val>
            <c:numRef>
              <c:f>Sheet1!$B$2:$B$3</c:f>
              <c:numCache>
                <c:formatCode>General</c:formatCode>
                <c:ptCount val="2"/>
                <c:pt idx="0">
                  <c:v>0.48</c:v>
                </c:pt>
                <c:pt idx="1">
                  <c:v>2.99</c:v>
                </c:pt>
              </c:numCache>
            </c:numRef>
          </c:val>
        </c:ser>
        <c:ser>
          <c:idx val="1"/>
          <c:order val="1"/>
          <c:tx>
            <c:strRef>
              <c:f>Sheet1!$C$1</c:f>
              <c:strCache>
                <c:ptCount val="1"/>
                <c:pt idx="0">
                  <c:v>New elections 2015–2023</c:v>
                </c:pt>
              </c:strCache>
            </c:strRef>
          </c:tx>
          <c:spPr>
            <a:solidFill>
              <a:srgbClr val="D20C0C"/>
            </a:solidFill>
            <a:effectLst/>
          </c:spPr>
          <c:invertIfNegative val="0"/>
          <c:dLbls>
            <c:numFmt formatCode="0.00" sourceLinked="0"/>
            <c:txPr>
              <a:bodyPr/>
              <a:lstStyle/>
              <a:p>
                <a:pPr>
                  <a:defRPr b="1" i="0" strike="noStrike" sz="1300" u="none">
                    <a:solidFill>
                      <a:srgbClr val="023465"/>
                    </a:solidFill>
                    <a:latin typeface="+mn-lt"/>
                  </a:defRPr>
                </a:pPr>
              </a:p>
            </c:txPr>
            <c:showLegendKey val="0"/>
            <c:showVal val="1"/>
            <c:showCatName val="0"/>
            <c:showSerName val="0"/>
            <c:showPercent val="0"/>
            <c:showBubbleSize val="0"/>
            <c:showLeaderLines val="0"/>
          </c:dLbls>
          <c:cat>
            <c:multiLvlStrRef>
              <c:f>Sheet1!$A$2:$A$3</c:f>
              <c:multiLvlStrCache>
                <c:ptCount val="2"/>
                <c:lvl>
                  <c:pt idx="0">
                    <c:v>One deep tree (15 questions)</c:v>
                  </c:pt>
                  <c:pt idx="1">
                    <c:v>Tuned Gradient Boosting</c:v>
                  </c:pt>
                </c:lvl>
              </c:multiLvlStrCache>
            </c:multiLvlStrRef>
          </c:cat>
          <c:val>
            <c:numRef>
              <c:f>Sheet1!$C$2:$C$3</c:f>
              <c:numCache>
                <c:formatCode>General</c:formatCode>
                <c:ptCount val="2"/>
                <c:pt idx="0">
                  <c:v>4.59</c:v>
                </c:pt>
                <c:pt idx="1">
                  <c:v>3.15</c:v>
                </c:pt>
              </c:numCache>
            </c:numRef>
          </c:val>
        </c:ser>
        <c:dLbls>
          <c:numFmt formatCode="0.00" sourceLinked="0"/>
          <c:txPr>
            <a:bodyPr/>
            <a:lstStyle/>
            <a:p>
              <a:pPr>
                <a:defRPr b="1" i="0" strike="noStrike" sz="1300" u="none">
                  <a:solidFill>
                    <a:srgbClr val="023465"/>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023465"/>
                </a:solidFill>
                <a:latin typeface="+mn-lt"/>
              </a:defRPr>
            </a:pPr>
            <a:endParaRPr lang="en-US"/>
          </a:p>
        </c:txPr>
        <c:crossAx val="2094734552"/>
        <c:crosses val="autoZero"/>
        <c:auto val="1"/>
        <c:lblAlgn val="ctr"/>
        <c:noMultiLvlLbl val="1"/>
      </c:catAx>
      <c:valAx>
        <c:axId val="2094734552"/>
        <c:scaling>
          <c:orientation val="minMax"/>
          <c:max val="5"/>
          <c:min val="0"/>
        </c:scaling>
        <c:delete val="0"/>
        <c:axPos val="l"/>
        <c:majorGridlines>
          <c:spPr>
            <a:ln w="6350" cap="flat">
              <a:solidFill>
                <a:srgbClr val="CACACA"/>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4F6886"/>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Left vote share</c:v>
                </c:pt>
              </c:strCache>
            </c:strRef>
          </c:tx>
          <c:spPr>
            <a:solidFill>
              <a:srgbClr val="D20C0C"/>
            </a:solidFill>
            <a:effectLst/>
          </c:spPr>
          <c:invertIfNegative val="0"/>
          <c:dLbls>
            <c:numFmt formatCode="0.0&quot;%&quot;" sourceLinked="0"/>
            <c:txPr>
              <a:bodyPr/>
              <a:lstStyle/>
              <a:p>
                <a:pPr>
                  <a:defRPr b="1" i="0" strike="noStrike" sz="1500" u="none">
                    <a:solidFill>
                      <a:srgbClr val="023465"/>
                    </a:solidFill>
                    <a:latin typeface="+mn-lt"/>
                  </a:defRPr>
                </a:pPr>
              </a:p>
            </c:txPr>
            <c:showLegendKey val="0"/>
            <c:showVal val="1"/>
            <c:showCatName val="0"/>
            <c:showSerName val="0"/>
            <c:showPercent val="0"/>
            <c:showBubbleSize val="0"/>
            <c:showLeaderLines val="0"/>
          </c:dLbls>
          <c:dPt>
            <c:idx val="0"/>
            <c:invertIfNegative val="0"/>
            <c:bubble3D val="0"/>
            <c:spPr>
              <a:solidFill>
                <a:srgbClr val="D20C0C"/>
              </a:solidFill>
              <a:effectLst/>
            </c:spPr>
          </c:dPt>
          <c:dPt>
            <c:idx val="1"/>
            <c:invertIfNegative val="0"/>
            <c:bubble3D val="0"/>
            <c:spPr>
              <a:solidFill>
                <a:srgbClr val="418BCA"/>
              </a:solidFill>
              <a:effectLst/>
            </c:spPr>
          </c:dPt>
          <c:dPt>
            <c:idx val="2"/>
            <c:invertIfNegative val="0"/>
            <c:bubble3D val="0"/>
            <c:spPr>
              <a:solidFill>
                <a:srgbClr val="023465"/>
              </a:solidFill>
              <a:effectLst/>
            </c:spPr>
          </c:dPt>
          <c:cat>
            <c:multiLvlStrRef>
              <c:f>Sheet1!$A$2:$A$4</c:f>
              <c:multiLvlStrCache>
                <c:ptCount val="3"/>
                <c:lvl>
                  <c:pt idx="0">
                    <c:v>Party model</c:v>
                  </c:pt>
                  <c:pt idx="1">
                    <c:v>Bloc model</c:v>
                  </c:pt>
                  <c:pt idx="2">
                    <c:v>Real result</c:v>
                  </c:pt>
                </c:lvl>
              </c:multiLvlStrCache>
            </c:multiLvlStrRef>
          </c:cat>
          <c:val>
            <c:numRef>
              <c:f>Sheet1!$B$2:$B$4</c:f>
              <c:numCache>
                <c:formatCode>General</c:formatCode>
                <c:ptCount val="3"/>
                <c:pt idx="0">
                  <c:v>13.6</c:v>
                </c:pt>
                <c:pt idx="1">
                  <c:v>25.2</c:v>
                </c:pt>
                <c:pt idx="2">
                  <c:v>28.3</c:v>
                </c:pt>
              </c:numCache>
            </c:numRef>
          </c:val>
        </c:ser>
        <c:dLbls>
          <c:numFmt formatCode="0.0&quot;%&quot;" sourceLinked="0"/>
          <c:txPr>
            <a:bodyPr/>
            <a:lstStyle/>
            <a:p>
              <a:pPr>
                <a:defRPr b="1" i="0" strike="noStrike" sz="1500" u="none">
                  <a:solidFill>
                    <a:srgbClr val="023465"/>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023465"/>
                </a:solidFill>
                <a:latin typeface="+mn-lt"/>
              </a:defRPr>
            </a:pPr>
            <a:endParaRPr lang="en-US"/>
          </a:p>
        </c:txPr>
        <c:crossAx val="2094734552"/>
        <c:crosses val="autoZero"/>
        <c:auto val="1"/>
        <c:lblAlgn val="ctr"/>
        <c:noMultiLvlLbl val="1"/>
      </c:catAx>
      <c:valAx>
        <c:axId val="2094734552"/>
        <c:scaling>
          <c:orientation val="minMax"/>
          <c:max val="30"/>
          <c:min val="0"/>
        </c:scaling>
        <c:delete val="0"/>
        <c:axPos val="l"/>
        <c:majorGridlines>
          <c:spPr>
            <a:ln w="6350" cap="flat">
              <a:solidFill>
                <a:srgbClr val="CACACA"/>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4F6886"/>
                </a:solidFill>
                <a:latin typeface="+mn-lt"/>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Bloc model</c:v>
                </c:pt>
              </c:strCache>
            </c:strRef>
          </c:tx>
          <c:spPr>
            <a:solidFill>
              <a:srgbClr val="418BCA"/>
            </a:solidFill>
            <a:effectLst/>
          </c:spPr>
          <c:invertIfNegative val="0"/>
          <c:dLbls>
            <c:numFmt formatCode="0.0" sourceLinked="0"/>
            <c:txPr>
              <a:bodyPr/>
              <a:lstStyle/>
              <a:p>
                <a:pPr>
                  <a:defRPr b="1" i="0" strike="noStrike" sz="1100" u="none">
                    <a:solidFill>
                      <a:srgbClr val="023465"/>
                    </a:solidFill>
                    <a:latin typeface="+mn-lt"/>
                  </a:defRPr>
                </a:pPr>
              </a:p>
            </c:txPr>
            <c:showLegendKey val="0"/>
            <c:showVal val="1"/>
            <c:showCatName val="0"/>
            <c:showSerName val="0"/>
            <c:showPercent val="0"/>
            <c:showBubbleSize val="0"/>
            <c:showLeaderLines val="0"/>
          </c:dLbls>
          <c:cat>
            <c:multiLvlStrRef>
              <c:f>Sheet1!$A$2:$A$6</c:f>
              <c:multiLvlStrCache>
                <c:ptCount val="5"/>
                <c:lvl>
                  <c:pt idx="0">
                    <c:v>Far right</c:v>
                  </c:pt>
                  <c:pt idx="1">
                    <c:v>Centre</c:v>
                  </c:pt>
                  <c:pt idx="2">
                    <c:v>Left</c:v>
                  </c:pt>
                  <c:pt idx="3">
                    <c:v>Far left</c:v>
                  </c:pt>
                  <c:pt idx="4">
                    <c:v>Right</c:v>
                  </c:pt>
                </c:lvl>
              </c:multiLvlStrCache>
            </c:multiLvlStrRef>
          </c:cat>
          <c:val>
            <c:numRef>
              <c:f>Sheet1!$B$2:$B$6</c:f>
              <c:numCache>
                <c:formatCode>General</c:formatCode>
                <c:ptCount val="5"/>
                <c:pt idx="0">
                  <c:v>33</c:v>
                </c:pt>
                <c:pt idx="1">
                  <c:v>19</c:v>
                </c:pt>
                <c:pt idx="2">
                  <c:v>15</c:v>
                </c:pt>
                <c:pt idx="3">
                  <c:v>13.5</c:v>
                </c:pt>
                <c:pt idx="4">
                  <c:v>8.3</c:v>
                </c:pt>
              </c:numCache>
            </c:numRef>
          </c:val>
        </c:ser>
        <c:ser>
          <c:idx val="1"/>
          <c:order val="1"/>
          <c:tx>
            <c:strRef>
              <c:f>Sheet1!$C$1</c:f>
              <c:strCache>
                <c:ptCount val="1"/>
                <c:pt idx="0">
                  <c:v>Polls</c:v>
                </c:pt>
              </c:strCache>
            </c:strRef>
          </c:tx>
          <c:spPr>
            <a:solidFill>
              <a:srgbClr val="1F5A96"/>
            </a:solidFill>
            <a:effectLst/>
          </c:spPr>
          <c:invertIfNegative val="0"/>
          <c:dLbls>
            <c:numFmt formatCode="0.0" sourceLinked="0"/>
            <c:txPr>
              <a:bodyPr/>
              <a:lstStyle/>
              <a:p>
                <a:pPr>
                  <a:defRPr b="1" i="0" strike="noStrike" sz="1100" u="none">
                    <a:solidFill>
                      <a:srgbClr val="023465"/>
                    </a:solidFill>
                    <a:latin typeface="+mn-lt"/>
                  </a:defRPr>
                </a:pPr>
              </a:p>
            </c:txPr>
            <c:showLegendKey val="0"/>
            <c:showVal val="1"/>
            <c:showCatName val="0"/>
            <c:showSerName val="0"/>
            <c:showPercent val="0"/>
            <c:showBubbleSize val="0"/>
            <c:showLeaderLines val="0"/>
          </c:dLbls>
          <c:cat>
            <c:multiLvlStrRef>
              <c:f>Sheet1!$A$2:$A$6</c:f>
              <c:multiLvlStrCache>
                <c:ptCount val="5"/>
                <c:lvl>
                  <c:pt idx="0">
                    <c:v>Far right</c:v>
                  </c:pt>
                  <c:pt idx="1">
                    <c:v>Centre</c:v>
                  </c:pt>
                  <c:pt idx="2">
                    <c:v>Left</c:v>
                  </c:pt>
                  <c:pt idx="3">
                    <c:v>Far left</c:v>
                  </c:pt>
                  <c:pt idx="4">
                    <c:v>Right</c:v>
                  </c:pt>
                </c:lvl>
              </c:multiLvlStrCache>
            </c:multiLvlStrRef>
          </c:cat>
          <c:val>
            <c:numRef>
              <c:f>Sheet1!$C$2:$C$6</c:f>
              <c:numCache>
                <c:formatCode>General</c:formatCode>
                <c:ptCount val="5"/>
                <c:pt idx="0">
                  <c:v>30.7</c:v>
                </c:pt>
                <c:pt idx="1">
                  <c:v>14.8</c:v>
                </c:pt>
                <c:pt idx="2">
                  <c:v>18</c:v>
                </c:pt>
                <c:pt idx="3">
                  <c:v>12.4</c:v>
                </c:pt>
                <c:pt idx="4">
                  <c:v>15.2</c:v>
                </c:pt>
              </c:numCache>
            </c:numRef>
          </c:val>
        </c:ser>
        <c:ser>
          <c:idx val="2"/>
          <c:order val="2"/>
          <c:tx>
            <c:strRef>
              <c:f>Sheet1!$D$1</c:f>
              <c:strCache>
                <c:ptCount val="1"/>
                <c:pt idx="0">
                  <c:v>Final estimate</c:v>
                </c:pt>
              </c:strCache>
            </c:strRef>
          </c:tx>
          <c:spPr>
            <a:solidFill>
              <a:srgbClr val="7B1E3A"/>
            </a:solidFill>
            <a:effectLst/>
          </c:spPr>
          <c:invertIfNegative val="0"/>
          <c:dLbls>
            <c:numFmt formatCode="0.0" sourceLinked="0"/>
            <c:txPr>
              <a:bodyPr/>
              <a:lstStyle/>
              <a:p>
                <a:pPr>
                  <a:defRPr b="1" i="0" strike="noStrike" sz="1100" u="none">
                    <a:solidFill>
                      <a:srgbClr val="023465"/>
                    </a:solidFill>
                    <a:latin typeface="+mn-lt"/>
                  </a:defRPr>
                </a:pPr>
              </a:p>
            </c:txPr>
            <c:showLegendKey val="0"/>
            <c:showVal val="1"/>
            <c:showCatName val="0"/>
            <c:showSerName val="0"/>
            <c:showPercent val="0"/>
            <c:showBubbleSize val="0"/>
            <c:showLeaderLines val="0"/>
          </c:dLbls>
          <c:cat>
            <c:multiLvlStrRef>
              <c:f>Sheet1!$A$2:$A$6</c:f>
              <c:multiLvlStrCache>
                <c:ptCount val="5"/>
                <c:lvl>
                  <c:pt idx="0">
                    <c:v>Far right</c:v>
                  </c:pt>
                  <c:pt idx="1">
                    <c:v>Centre</c:v>
                  </c:pt>
                  <c:pt idx="2">
                    <c:v>Left</c:v>
                  </c:pt>
                  <c:pt idx="3">
                    <c:v>Far left</c:v>
                  </c:pt>
                  <c:pt idx="4">
                    <c:v>Right</c:v>
                  </c:pt>
                </c:lvl>
              </c:multiLvlStrCache>
            </c:multiLvlStrRef>
          </c:cat>
          <c:val>
            <c:numRef>
              <c:f>Sheet1!$D$2:$D$6</c:f>
              <c:numCache>
                <c:formatCode>General</c:formatCode>
                <c:ptCount val="5"/>
                <c:pt idx="0">
                  <c:v>31.8</c:v>
                </c:pt>
                <c:pt idx="1">
                  <c:v>16.9</c:v>
                </c:pt>
                <c:pt idx="2">
                  <c:v>16.5</c:v>
                </c:pt>
                <c:pt idx="3">
                  <c:v>12.9</c:v>
                </c:pt>
                <c:pt idx="4">
                  <c:v>11.8</c:v>
                </c:pt>
              </c:numCache>
            </c:numRef>
          </c:val>
        </c:ser>
        <c:dLbls>
          <c:numFmt formatCode="0.0" sourceLinked="0"/>
          <c:txPr>
            <a:bodyPr/>
            <a:lstStyle/>
            <a:p>
              <a:pPr>
                <a:defRPr b="1" i="0" strike="noStrike" sz="1100" u="none">
                  <a:solidFill>
                    <a:srgbClr val="023465"/>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023465"/>
                </a:solidFill>
                <a:latin typeface="+mn-lt"/>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6350" cap="flat">
              <a:solidFill>
                <a:srgbClr val="CACACA"/>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4F6886"/>
                </a:solidFill>
                <a:latin typeface="+mn-lt"/>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an election, the simplest guess is that every party gets the same score as last time. Can a model do better, using previous election results? I tested it on 271 European elections.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 I’m [your name], a Data Analytics student at Ironhack. I chose elections because [your reason]. I built this project in Python with pandas and scikit-learn.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joined three free sources: ParlGov for election results, the World Bank for the economy, and polls for 2027. Each row is one party in one election: 2,575 rows. The model predicts the vote share, a number, so it’s regression.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trained on 1991 to 2014 and tested on 2015 to 2023, elections the model never saw. I measure the average error in points.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compared six models. Linear regression did worse than the simple guess. The winner is Gradient Boosting: 400 small trees, each fixing the previous one’s mistakes. It’s off by 3.15 points, 12% better. Its strongest clue is the party’s last score.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Tuning matters. A single deep tree memorised the training years, almost no error there, but 4.59 on new elections. That’s overfitting. My tuned model scores about the same on both, so it learned real patterns.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But France 2022 broke it. Four left parties ran as one alliance, NUPES, recorded under one name. The model predicted 13.6% for the left instead of 28.3%. So I predicted whole political camps instead of parties: 25.2%, much closer.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Past results can’t see surprises like new leaders, so for 2027 I averaged my model with the polls. The far right comes first, with about 1 vote in 3. It’s an illustration, not a forecast.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My model beats the simple guess by 12%, mostly on small and new parties. For big political shifts, you still need polls.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you! Any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320040"/>
          </a:xfrm>
          <a:prstGeom prst="rect">
            <a:avLst/>
          </a:prstGeom>
          <a:noFill/>
          <a:ln/>
        </p:spPr>
        <p:txBody>
          <a:bodyPr wrap="square" rtlCol="0"/>
          <a:lstStyle>
            <a:lvl1pPr indent="0" marL="0">
              <a:buNone/>
              <a:defRPr lang="en-US" sz="1200" b="1" spc="200" kern="0" dirty="0">
                <a:solidFill>
                  <a:srgbClr val="D20C0C"/>
                </a:solidFill>
              </a:defRPr>
            </a:lvl1pPr>
          </a:lstStyle>
          <a:p>
            <a:pPr indent="0" marL="0">
              <a:buNone/>
            </a:pPr>
            <a:endParaRPr lang="en-US" sz="1200" dirty="0"/>
          </a:p>
        </p:txBody>
      </p:sp>
      <p:sp>
        <p:nvSpPr>
          <p:cNvPr id="3" name="Text 0"/>
          <p:cNvSpPr/>
          <p:nvPr>
            <p:ph idx="101" type="title" hasCustomPrompt="1"/>
          </p:nvPr>
        </p:nvSpPr>
        <p:spPr>
          <a:xfrm>
            <a:off x="548640" y="685800"/>
            <a:ext cx="11064240" cy="777240"/>
          </a:xfrm>
          <a:prstGeom prst="rect">
            <a:avLst/>
          </a:prstGeom>
          <a:noFill/>
          <a:ln/>
        </p:spPr>
        <p:txBody>
          <a:bodyPr wrap="square" rtlCol="0"/>
          <a:lstStyle>
            <a:lvl1pPr algn="l" indent="0" marL="0">
              <a:buNone/>
              <a:defRPr lang="en-US" sz="3400" b="1" dirty="0">
                <a:solidFill>
                  <a:srgbClr val="023465"/>
                </a:solidFill>
                <a:latin typeface="Arial" pitchFamily="34" charset="0"/>
                <a:ea typeface="Arial" pitchFamily="34" charset="-122"/>
                <a:cs typeface="Arial"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688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23465"/>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688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image" Target="../media/image-5-5.png"/><Relationship Id="rId7" Type="http://schemas.openxmlformats.org/officeDocument/2006/relationships/image" Target="../media/image-5-6.png"/><Relationship Id="rId8" Type="http://schemas.openxmlformats.org/officeDocument/2006/relationships/image" Target="../media/image-5-7.png"/><Relationship Id="rId9" Type="http://schemas.openxmlformats.org/officeDocument/2006/relationships/image" Target="../media/image-5-8.png"/><Relationship Id="rId10" Type="http://schemas.openxmlformats.org/officeDocument/2006/relationships/image" Target="../media/image-5-9.png"/><Relationship Id="rId11" Type="http://schemas.openxmlformats.org/officeDocument/2006/relationships/image" Target="../media/image-5-10.png"/><Relationship Id="rId12" Type="http://schemas.openxmlformats.org/officeDocument/2006/relationships/slideLayout" Target="../slideLayouts/slideLayout2.xml"/><Relationship Id="rId1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chart" Target="../charts/chart3.xml"/><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chart" Target="../charts/chart4.xml"/><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image" Target="../media/image-8-4.png"/><Relationship Id="rId6" Type="http://schemas.openxmlformats.org/officeDocument/2006/relationships/image" Target="../media/image-8-5.png"/><Relationship Id="rId7" Type="http://schemas.openxmlformats.org/officeDocument/2006/relationships/image" Target="../media/image-8-6.png"/><Relationship Id="rId8" Type="http://schemas.openxmlformats.org/officeDocument/2006/relationships/image" Target="../media/image-8-7.png"/><Relationship Id="rId9" Type="http://schemas.openxmlformats.org/officeDocument/2006/relationships/image" Target="../media/image-8-8.png"/><Relationship Id="rId10" Type="http://schemas.openxmlformats.org/officeDocument/2006/relationships/image" Target="../media/image-8-9.png"/><Relationship Id="rId11" Type="http://schemas.openxmlformats.org/officeDocument/2006/relationships/image" Target="../media/image-8-10.png"/><Relationship Id="rId12" Type="http://schemas.openxmlformats.org/officeDocument/2006/relationships/image" Target="../media/image-8-11.png"/><Relationship Id="rId13" Type="http://schemas.openxmlformats.org/officeDocument/2006/relationships/image" Target="../media/image-8-12.png"/><Relationship Id="rId14" Type="http://schemas.openxmlformats.org/officeDocument/2006/relationships/image" Target="../media/image-8-13.png"/><Relationship Id="rId15" Type="http://schemas.openxmlformats.org/officeDocument/2006/relationships/image" Target="../media/image-8-14.png"/><Relationship Id="rId16" Type="http://schemas.openxmlformats.org/officeDocument/2006/relationships/image" Target="../media/image-8-15.png"/><Relationship Id="rId17" Type="http://schemas.openxmlformats.org/officeDocument/2006/relationships/image" Target="../media/image-8-16.png"/><Relationship Id="rId18" Type="http://schemas.openxmlformats.org/officeDocument/2006/relationships/image" Target="../media/image-8-17.png"/><Relationship Id="rId19" Type="http://schemas.openxmlformats.org/officeDocument/2006/relationships/image" Target="../media/image-8-18.png"/><Relationship Id="rId20" Type="http://schemas.openxmlformats.org/officeDocument/2006/relationships/image" Target="../media/image-8-19.png"/><Relationship Id="rId21" Type="http://schemas.openxmlformats.org/officeDocument/2006/relationships/image" Target="../media/image-8-20.png"/><Relationship Id="rId22" Type="http://schemas.openxmlformats.org/officeDocument/2006/relationships/image" Target="../media/image-8-21.png"/><Relationship Id="rId23" Type="http://schemas.openxmlformats.org/officeDocument/2006/relationships/image" Target="../media/image-8-22.png"/><Relationship Id="rId24" Type="http://schemas.openxmlformats.org/officeDocument/2006/relationships/image" Target="../media/image-8-23.png"/><Relationship Id="rId25" Type="http://schemas.openxmlformats.org/officeDocument/2006/relationships/image" Target="../media/image-8-24.png"/><Relationship Id="rId26" Type="http://schemas.openxmlformats.org/officeDocument/2006/relationships/image" Target="../media/image-8-25.png"/><Relationship Id="rId27" Type="http://schemas.openxmlformats.org/officeDocument/2006/relationships/image" Target="../media/image-8-26.png"/><Relationship Id="rId28" Type="http://schemas.openxmlformats.org/officeDocument/2006/relationships/image" Target="../media/image-8-27.png"/><Relationship Id="rId29" Type="http://schemas.openxmlformats.org/officeDocument/2006/relationships/image" Target="../media/image-8-28.png"/><Relationship Id="rId30" Type="http://schemas.openxmlformats.org/officeDocument/2006/relationships/image" Target="../media/image-8-29.png"/><Relationship Id="rId31" Type="http://schemas.openxmlformats.org/officeDocument/2006/relationships/image" Target="../media/image-8-30.png"/><Relationship Id="rId32" Type="http://schemas.openxmlformats.org/officeDocument/2006/relationships/image" Target="../media/image-8-31.png"/><Relationship Id="rId33" Type="http://schemas.openxmlformats.org/officeDocument/2006/relationships/image" Target="../media/image-8-32.png"/><Relationship Id="rId34" Type="http://schemas.openxmlformats.org/officeDocument/2006/relationships/image" Target="../media/image-8-33.png"/><Relationship Id="rId35" Type="http://schemas.openxmlformats.org/officeDocument/2006/relationships/image" Target="../media/image-8-34.png"/><Relationship Id="rId36" Type="http://schemas.openxmlformats.org/officeDocument/2006/relationships/image" Target="../media/image-8-35.png"/><Relationship Id="rId37" Type="http://schemas.openxmlformats.org/officeDocument/2006/relationships/image" Target="../media/image-8-36.png"/><Relationship Id="rId38" Type="http://schemas.openxmlformats.org/officeDocument/2006/relationships/image" Target="../media/image-8-37.png"/><Relationship Id="rId39" Type="http://schemas.openxmlformats.org/officeDocument/2006/relationships/image" Target="../media/image-8-38.png"/><Relationship Id="rId40" Type="http://schemas.openxmlformats.org/officeDocument/2006/relationships/image" Target="../media/image-8-39.png"/><Relationship Id="rId41" Type="http://schemas.openxmlformats.org/officeDocument/2006/relationships/image" Target="../media/image-8-40.png"/><Relationship Id="rId42" Type="http://schemas.openxmlformats.org/officeDocument/2006/relationships/image" Target="../media/image-8-41.png"/><Relationship Id="rId43" Type="http://schemas.openxmlformats.org/officeDocument/2006/relationships/image" Target="../media/image-8-42.png"/><Relationship Id="rId44" Type="http://schemas.openxmlformats.org/officeDocument/2006/relationships/image" Target="../media/image-8-43.png"/><Relationship Id="rId45" Type="http://schemas.openxmlformats.org/officeDocument/2006/relationships/image" Target="../media/image-8-44.png"/><Relationship Id="rId46" Type="http://schemas.openxmlformats.org/officeDocument/2006/relationships/image" Target="../media/image-8-45.png"/><Relationship Id="rId47" Type="http://schemas.openxmlformats.org/officeDocument/2006/relationships/image" Target="../media/image-8-46.png"/><Relationship Id="rId48" Type="http://schemas.openxmlformats.org/officeDocument/2006/relationships/image" Target="../media/image-8-47.png"/><Relationship Id="rId49" Type="http://schemas.openxmlformats.org/officeDocument/2006/relationships/image" Target="../media/image-8-48.png"/><Relationship Id="rId50" Type="http://schemas.openxmlformats.org/officeDocument/2006/relationships/image" Target="../media/image-8-49.png"/><Relationship Id="rId51" Type="http://schemas.openxmlformats.org/officeDocument/2006/relationships/image" Target="../media/image-8-50.png"/><Relationship Id="rId52" Type="http://schemas.openxmlformats.org/officeDocument/2006/relationships/image" Target="../media/image-8-51.png"/><Relationship Id="rId53" Type="http://schemas.openxmlformats.org/officeDocument/2006/relationships/image" Target="../media/image-8-52.png"/><Relationship Id="rId54" Type="http://schemas.openxmlformats.org/officeDocument/2006/relationships/image" Target="../media/image-8-53.png"/><Relationship Id="rId55" Type="http://schemas.openxmlformats.org/officeDocument/2006/relationships/image" Target="../media/image-8-54.png"/><Relationship Id="rId56" Type="http://schemas.openxmlformats.org/officeDocument/2006/relationships/image" Target="../media/image-8-55.png"/><Relationship Id="rId57" Type="http://schemas.openxmlformats.org/officeDocument/2006/relationships/image" Target="../media/image-8-56.png"/><Relationship Id="rId58" Type="http://schemas.openxmlformats.org/officeDocument/2006/relationships/image" Target="../media/image-8-57.png"/><Relationship Id="rId59" Type="http://schemas.openxmlformats.org/officeDocument/2006/relationships/image" Target="../media/image-8-58.png"/><Relationship Id="rId60" Type="http://schemas.openxmlformats.org/officeDocument/2006/relationships/image" Target="../media/image-8-59.png"/><Relationship Id="rId61" Type="http://schemas.openxmlformats.org/officeDocument/2006/relationships/image" Target="../media/image-8-60.png"/><Relationship Id="rId62" Type="http://schemas.openxmlformats.org/officeDocument/2006/relationships/image" Target="../media/image-8-61.png"/><Relationship Id="rId63" Type="http://schemas.openxmlformats.org/officeDocument/2006/relationships/image" Target="../media/image-8-62.png"/><Relationship Id="rId64" Type="http://schemas.openxmlformats.org/officeDocument/2006/relationships/image" Target="../media/image-8-63.png"/><Relationship Id="rId65" Type="http://schemas.openxmlformats.org/officeDocument/2006/relationships/image" Target="../media/image-8-64.png"/><Relationship Id="rId66" Type="http://schemas.openxmlformats.org/officeDocument/2006/relationships/image" Target="../media/image-8-65.png"/><Relationship Id="rId67" Type="http://schemas.openxmlformats.org/officeDocument/2006/relationships/image" Target="../media/image-8-66.png"/><Relationship Id="rId68" Type="http://schemas.openxmlformats.org/officeDocument/2006/relationships/image" Target="../media/image-8-67.png"/><Relationship Id="rId69" Type="http://schemas.openxmlformats.org/officeDocument/2006/relationships/image" Target="../media/image-8-68.png"/><Relationship Id="rId70" Type="http://schemas.openxmlformats.org/officeDocument/2006/relationships/image" Target="../media/image-8-69.png"/><Relationship Id="rId71" Type="http://schemas.openxmlformats.org/officeDocument/2006/relationships/image" Target="../media/image-8-70.png"/><Relationship Id="rId72" Type="http://schemas.openxmlformats.org/officeDocument/2006/relationships/image" Target="../media/image-8-71.png"/><Relationship Id="rId73" Type="http://schemas.openxmlformats.org/officeDocument/2006/relationships/image" Target="../media/image-8-72.png"/><Relationship Id="rId74" Type="http://schemas.openxmlformats.org/officeDocument/2006/relationships/image" Target="../media/image-8-73.png"/><Relationship Id="rId75" Type="http://schemas.openxmlformats.org/officeDocument/2006/relationships/image" Target="../media/image-8-74.png"/><Relationship Id="rId76" Type="http://schemas.openxmlformats.org/officeDocument/2006/relationships/image" Target="../media/image-8-75.png"/><Relationship Id="rId77" Type="http://schemas.openxmlformats.org/officeDocument/2006/relationships/image" Target="../media/image-8-76.png"/><Relationship Id="rId78" Type="http://schemas.openxmlformats.org/officeDocument/2006/relationships/image" Target="../media/image-8-77.png"/><Relationship Id="rId79" Type="http://schemas.openxmlformats.org/officeDocument/2006/relationships/image" Target="../media/image-8-78.png"/><Relationship Id="rId80" Type="http://schemas.openxmlformats.org/officeDocument/2006/relationships/image" Target="../media/image-8-79.png"/><Relationship Id="rId81" Type="http://schemas.openxmlformats.org/officeDocument/2006/relationships/image" Target="../media/image-8-80.png"/><Relationship Id="rId82" Type="http://schemas.openxmlformats.org/officeDocument/2006/relationships/image" Target="../media/image-8-81.png"/><Relationship Id="rId83" Type="http://schemas.openxmlformats.org/officeDocument/2006/relationships/image" Target="../media/image-8-82.png"/><Relationship Id="rId84" Type="http://schemas.openxmlformats.org/officeDocument/2006/relationships/image" Target="../media/image-8-83.png"/><Relationship Id="rId85" Type="http://schemas.openxmlformats.org/officeDocument/2006/relationships/image" Target="../media/image-8-84.png"/><Relationship Id="rId86" Type="http://schemas.openxmlformats.org/officeDocument/2006/relationships/image" Target="../media/image-8-85.png"/><Relationship Id="rId87" Type="http://schemas.openxmlformats.org/officeDocument/2006/relationships/image" Target="../media/image-8-86.png"/><Relationship Id="rId88" Type="http://schemas.openxmlformats.org/officeDocument/2006/relationships/image" Target="../media/image-8-87.png"/><Relationship Id="rId89" Type="http://schemas.openxmlformats.org/officeDocument/2006/relationships/image" Target="../media/image-8-88.png"/><Relationship Id="rId90" Type="http://schemas.openxmlformats.org/officeDocument/2006/relationships/image" Target="../media/image-8-89.png"/><Relationship Id="rId91" Type="http://schemas.openxmlformats.org/officeDocument/2006/relationships/image" Target="../media/image-8-90.png"/><Relationship Id="rId92" Type="http://schemas.openxmlformats.org/officeDocument/2006/relationships/image" Target="../media/image-8-91.png"/><Relationship Id="rId93" Type="http://schemas.openxmlformats.org/officeDocument/2006/relationships/image" Target="../media/image-8-92.png"/><Relationship Id="rId94" Type="http://schemas.openxmlformats.org/officeDocument/2006/relationships/image" Target="../media/image-8-93.png"/><Relationship Id="rId95" Type="http://schemas.openxmlformats.org/officeDocument/2006/relationships/image" Target="../media/image-8-94.png"/><Relationship Id="rId96" Type="http://schemas.openxmlformats.org/officeDocument/2006/relationships/image" Target="../media/image-8-95.png"/><Relationship Id="rId97" Type="http://schemas.openxmlformats.org/officeDocument/2006/relationships/image" Target="../media/image-8-96.png"/><Relationship Id="rId98" Type="http://schemas.openxmlformats.org/officeDocument/2006/relationships/image" Target="../media/image-8-97.png"/><Relationship Id="rId99" Type="http://schemas.openxmlformats.org/officeDocument/2006/relationships/image" Target="../media/image-8-98.png"/><Relationship Id="rId100" Type="http://schemas.openxmlformats.org/officeDocument/2006/relationships/image" Target="../media/image-8-99.png"/><Relationship Id="rId101" Type="http://schemas.openxmlformats.org/officeDocument/2006/relationships/image" Target="../media/image-8-100.png"/><Relationship Id="rId102" Type="http://schemas.openxmlformats.org/officeDocument/2006/relationships/image" Target="../media/image-8-101.png"/><Relationship Id="rId103" Type="http://schemas.openxmlformats.org/officeDocument/2006/relationships/image" Target="../media/image-8-102.png"/><Relationship Id="rId104" Type="http://schemas.openxmlformats.org/officeDocument/2006/relationships/image" Target="../media/image-8-103.png"/><Relationship Id="rId105" Type="http://schemas.openxmlformats.org/officeDocument/2006/relationships/image" Target="../media/image-8-104.png"/><Relationship Id="rId106" Type="http://schemas.openxmlformats.org/officeDocument/2006/relationships/slideLayout" Target="../slideLayouts/slideLayout2.xml"/><Relationship Id="rId10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48640"/>
            <a:ext cx="6766560" cy="320040"/>
          </a:xfrm>
          <a:prstGeom prst="rect">
            <a:avLst/>
          </a:prstGeom>
          <a:noFill/>
          <a:ln/>
        </p:spPr>
        <p:txBody>
          <a:bodyPr wrap="square" lIns="0" tIns="0" rIns="0" bIns="0" rtlCol="0" anchor="ctr"/>
          <a:lstStyle/>
          <a:p>
            <a:pPr indent="0" marL="0">
              <a:buNone/>
            </a:pPr>
            <a:r>
              <a:rPr lang="en-US" sz="1300" b="1" spc="200" kern="0" dirty="0">
                <a:solidFill>
                  <a:srgbClr val="A9CBEA"/>
                </a:solidFill>
              </a:rPr>
              <a:t>MACHINE LEARNING PROJECT  ·  YOUR NAME</a:t>
            </a:r>
            <a:endParaRPr lang="en-US" sz="1300" dirty="0"/>
          </a:p>
        </p:txBody>
      </p:sp>
      <p:sp>
        <p:nvSpPr>
          <p:cNvPr id="3" name="Text 1"/>
          <p:cNvSpPr txBox="1"/>
          <p:nvPr/>
        </p:nvSpPr>
        <p:spPr>
          <a:xfrm>
            <a:off x="548640" y="960120"/>
            <a:ext cx="11064240" cy="150876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Predicting vote shares from</a:t>
            </a:r>
            <a:endParaRPr lang="en-US" sz="4800" dirty="0"/>
          </a:p>
          <a:p>
            <a:pPr indent="0" marL="0">
              <a:buNone/>
            </a:pPr>
            <a:r>
              <a:rPr lang="en-US" sz="4800" b="1" dirty="0">
                <a:solidFill>
                  <a:srgbClr val="FFFFFF"/>
                </a:solidFill>
                <a:latin typeface="Arial" pitchFamily="34" charset="0"/>
                <a:ea typeface="Arial" pitchFamily="34" charset="-122"/>
                <a:cs typeface="Arial" pitchFamily="34" charset="-120"/>
              </a:rPr>
              <a:t>previous election results</a:t>
            </a:r>
            <a:endParaRPr lang="en-US" sz="4800" dirty="0"/>
          </a:p>
        </p:txBody>
      </p:sp>
      <p:sp>
        <p:nvSpPr>
          <p:cNvPr id="4" name="Text 2"/>
          <p:cNvSpPr txBox="1"/>
          <p:nvPr/>
        </p:nvSpPr>
        <p:spPr>
          <a:xfrm>
            <a:off x="548640" y="2697480"/>
            <a:ext cx="10515600" cy="1097280"/>
          </a:xfrm>
          <a:prstGeom prst="rect">
            <a:avLst/>
          </a:prstGeom>
          <a:noFill/>
          <a:ln/>
        </p:spPr>
        <p:txBody>
          <a:bodyPr wrap="square" lIns="0" tIns="0" rIns="0" bIns="0" rtlCol="0" anchor="t"/>
          <a:lstStyle/>
          <a:p>
            <a:pPr indent="0" marL="0">
              <a:buNone/>
            </a:pPr>
            <a:r>
              <a:rPr lang="en-US" sz="2000" dirty="0">
                <a:solidFill>
                  <a:srgbClr val="C9D8E8"/>
                </a:solidFill>
              </a:rPr>
              <a:t>Can a model guess each party's share of the vote before an election, using only what we know beforehand: its past results, whether it's in power, and the economy?</a:t>
            </a:r>
            <a:endParaRPr lang="en-US" sz="2000" dirty="0"/>
          </a:p>
        </p:txBody>
      </p:sp>
      <p:sp>
        <p:nvSpPr>
          <p:cNvPr id="5" name="Shape 3"/>
          <p:cNvSpPr/>
          <p:nvPr/>
        </p:nvSpPr>
        <p:spPr>
          <a:xfrm>
            <a:off x="548640" y="3931920"/>
            <a:ext cx="2651760" cy="2286000"/>
          </a:xfrm>
          <a:prstGeom prst="roundRect">
            <a:avLst>
              <a:gd name="adj" fmla="val 3200"/>
            </a:avLst>
          </a:prstGeom>
          <a:solidFill>
            <a:srgbClr val="0E447A"/>
          </a:solidFill>
          <a:ln w="12700">
            <a:solidFill>
              <a:srgbClr val="2A5583"/>
            </a:solidFill>
            <a:prstDash val="solid"/>
          </a:ln>
        </p:spPr>
      </p:sp>
      <p:sp>
        <p:nvSpPr>
          <p:cNvPr id="6" name="Shape 4"/>
          <p:cNvSpPr/>
          <p:nvPr/>
        </p:nvSpPr>
        <p:spPr>
          <a:xfrm>
            <a:off x="713232" y="4114800"/>
            <a:ext cx="457200" cy="457200"/>
          </a:xfrm>
          <a:prstGeom prst="ellipse">
            <a:avLst/>
          </a:prstGeom>
          <a:solidFill>
            <a:srgbClr val="D20C0C"/>
          </a:solidFill>
          <a:ln w="12700">
            <a:solidFill>
              <a:srgbClr val="D20C0C"/>
            </a:solidFill>
            <a:prstDash val="solid"/>
          </a:ln>
        </p:spPr>
      </p:sp>
      <p:pic>
        <p:nvPicPr>
          <p:cNvPr id="7" name="Image 0" descr="271 elections">    </p:cNvPr>
          <p:cNvPicPr>
            <a:picLocks noChangeAspect="1"/>
          </p:cNvPicPr>
          <p:nvPr/>
        </p:nvPicPr>
        <p:blipFill>
          <a:blip r:embed="rId1"/>
          <a:stretch>
            <a:fillRect/>
          </a:stretch>
        </p:blipFill>
        <p:spPr>
          <a:xfrm>
            <a:off x="827532" y="4229100"/>
            <a:ext cx="228600" cy="228600"/>
          </a:xfrm>
          <a:prstGeom prst="rect">
            <a:avLst/>
          </a:prstGeom>
        </p:spPr>
      </p:pic>
      <p:sp>
        <p:nvSpPr>
          <p:cNvPr id="8" name="Text 5"/>
          <p:cNvSpPr txBox="1"/>
          <p:nvPr/>
        </p:nvSpPr>
        <p:spPr>
          <a:xfrm>
            <a:off x="713232" y="4754880"/>
            <a:ext cx="2286000" cy="228600"/>
          </a:xfrm>
          <a:prstGeom prst="rect">
            <a:avLst/>
          </a:prstGeom>
          <a:noFill/>
          <a:ln/>
        </p:spPr>
        <p:txBody>
          <a:bodyPr wrap="square" lIns="0" tIns="0" rIns="0" bIns="0" rtlCol="0" anchor="ctr"/>
          <a:lstStyle/>
          <a:p>
            <a:pPr indent="0" marL="0">
              <a:buNone/>
            </a:pPr>
            <a:r>
              <a:rPr lang="en-US" sz="1200" b="1" spc="150" kern="0" dirty="0">
                <a:solidFill>
                  <a:srgbClr val="A9CBEA"/>
                </a:solidFill>
              </a:rPr>
              <a:t>1 · DATA</a:t>
            </a:r>
            <a:endParaRPr lang="en-US" sz="1200" dirty="0"/>
          </a:p>
        </p:txBody>
      </p:sp>
      <p:sp>
        <p:nvSpPr>
          <p:cNvPr id="9" name="Text 6"/>
          <p:cNvSpPr txBox="1"/>
          <p:nvPr/>
        </p:nvSpPr>
        <p:spPr>
          <a:xfrm>
            <a:off x="713232" y="5029200"/>
            <a:ext cx="2377440" cy="41148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271 elections</a:t>
            </a:r>
            <a:endParaRPr lang="en-US" sz="1800" dirty="0"/>
          </a:p>
        </p:txBody>
      </p:sp>
      <p:sp>
        <p:nvSpPr>
          <p:cNvPr id="10" name="Text 7"/>
          <p:cNvSpPr txBox="1"/>
          <p:nvPr/>
        </p:nvSpPr>
        <p:spPr>
          <a:xfrm>
            <a:off x="713232" y="5486400"/>
            <a:ext cx="2331720" cy="640080"/>
          </a:xfrm>
          <a:prstGeom prst="rect">
            <a:avLst/>
          </a:prstGeom>
          <a:noFill/>
          <a:ln/>
        </p:spPr>
        <p:txBody>
          <a:bodyPr wrap="square" lIns="0" tIns="0" rIns="0" bIns="0" rtlCol="0" anchor="t"/>
          <a:lstStyle/>
          <a:p>
            <a:pPr indent="0" marL="0">
              <a:buNone/>
            </a:pPr>
            <a:r>
              <a:rPr lang="en-US" sz="1400" dirty="0">
                <a:solidFill>
                  <a:srgbClr val="C9D8E8"/>
                </a:solidFill>
              </a:rPr>
              <a:t>31 European countries, 1991–2023</a:t>
            </a:r>
            <a:endParaRPr lang="en-US" sz="1400" dirty="0"/>
          </a:p>
        </p:txBody>
      </p:sp>
      <p:sp>
        <p:nvSpPr>
          <p:cNvPr id="11" name="Shape 8"/>
          <p:cNvSpPr/>
          <p:nvPr/>
        </p:nvSpPr>
        <p:spPr>
          <a:xfrm>
            <a:off x="3364992" y="3931920"/>
            <a:ext cx="2651760" cy="2286000"/>
          </a:xfrm>
          <a:prstGeom prst="roundRect">
            <a:avLst>
              <a:gd name="adj" fmla="val 3200"/>
            </a:avLst>
          </a:prstGeom>
          <a:solidFill>
            <a:srgbClr val="0E447A"/>
          </a:solidFill>
          <a:ln w="12700">
            <a:solidFill>
              <a:srgbClr val="2A5583"/>
            </a:solidFill>
            <a:prstDash val="solid"/>
          </a:ln>
        </p:spPr>
      </p:sp>
      <p:sp>
        <p:nvSpPr>
          <p:cNvPr id="12" name="Shape 9"/>
          <p:cNvSpPr/>
          <p:nvPr/>
        </p:nvSpPr>
        <p:spPr>
          <a:xfrm>
            <a:off x="3529584" y="4114800"/>
            <a:ext cx="457200" cy="457200"/>
          </a:xfrm>
          <a:prstGeom prst="ellipse">
            <a:avLst/>
          </a:prstGeom>
          <a:solidFill>
            <a:srgbClr val="D20C0C"/>
          </a:solidFill>
          <a:ln w="12700">
            <a:solidFill>
              <a:srgbClr val="D20C0C"/>
            </a:solidFill>
            <a:prstDash val="solid"/>
          </a:ln>
        </p:spPr>
      </p:sp>
      <p:pic>
        <p:nvPicPr>
          <p:cNvPr id="13" name="Image 1" descr="1991–2014">    </p:cNvPr>
          <p:cNvPicPr>
            <a:picLocks noChangeAspect="1"/>
          </p:cNvPicPr>
          <p:nvPr/>
        </p:nvPicPr>
        <p:blipFill>
          <a:blip r:embed="rId2"/>
          <a:stretch>
            <a:fillRect/>
          </a:stretch>
        </p:blipFill>
        <p:spPr>
          <a:xfrm>
            <a:off x="3643884" y="4229100"/>
            <a:ext cx="228600" cy="228600"/>
          </a:xfrm>
          <a:prstGeom prst="rect">
            <a:avLst/>
          </a:prstGeom>
        </p:spPr>
      </p:pic>
      <p:sp>
        <p:nvSpPr>
          <p:cNvPr id="14" name="Text 10"/>
          <p:cNvSpPr txBox="1"/>
          <p:nvPr/>
        </p:nvSpPr>
        <p:spPr>
          <a:xfrm>
            <a:off x="3529584" y="4754880"/>
            <a:ext cx="2286000" cy="228600"/>
          </a:xfrm>
          <a:prstGeom prst="rect">
            <a:avLst/>
          </a:prstGeom>
          <a:noFill/>
          <a:ln/>
        </p:spPr>
        <p:txBody>
          <a:bodyPr wrap="square" lIns="0" tIns="0" rIns="0" bIns="0" rtlCol="0" anchor="ctr"/>
          <a:lstStyle/>
          <a:p>
            <a:pPr indent="0" marL="0">
              <a:buNone/>
            </a:pPr>
            <a:r>
              <a:rPr lang="en-US" sz="1200" b="1" spc="150" kern="0" dirty="0">
                <a:solidFill>
                  <a:srgbClr val="A9CBEA"/>
                </a:solidFill>
              </a:rPr>
              <a:t>2 · TRAIN</a:t>
            </a:r>
            <a:endParaRPr lang="en-US" sz="1200" dirty="0"/>
          </a:p>
        </p:txBody>
      </p:sp>
      <p:sp>
        <p:nvSpPr>
          <p:cNvPr id="15" name="Text 11"/>
          <p:cNvSpPr txBox="1"/>
          <p:nvPr/>
        </p:nvSpPr>
        <p:spPr>
          <a:xfrm>
            <a:off x="3529584" y="5029200"/>
            <a:ext cx="2377440" cy="41148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1991–2014</a:t>
            </a:r>
            <a:endParaRPr lang="en-US" sz="1800" dirty="0"/>
          </a:p>
        </p:txBody>
      </p:sp>
      <p:sp>
        <p:nvSpPr>
          <p:cNvPr id="16" name="Text 12"/>
          <p:cNvSpPr txBox="1"/>
          <p:nvPr/>
        </p:nvSpPr>
        <p:spPr>
          <a:xfrm>
            <a:off x="3529584" y="5486400"/>
            <a:ext cx="2331720" cy="640080"/>
          </a:xfrm>
          <a:prstGeom prst="rect">
            <a:avLst/>
          </a:prstGeom>
          <a:noFill/>
          <a:ln/>
        </p:spPr>
        <p:txBody>
          <a:bodyPr wrap="square" lIns="0" tIns="0" rIns="0" bIns="0" rtlCol="0" anchor="t"/>
          <a:lstStyle/>
          <a:p>
            <a:pPr indent="0" marL="0">
              <a:buNone/>
            </a:pPr>
            <a:r>
              <a:rPr lang="en-US" sz="1400" dirty="0">
                <a:solidFill>
                  <a:srgbClr val="C9D8E8"/>
                </a:solidFill>
              </a:rPr>
              <a:t>The years the model learns from</a:t>
            </a:r>
            <a:endParaRPr lang="en-US" sz="1400" dirty="0"/>
          </a:p>
        </p:txBody>
      </p:sp>
      <p:sp>
        <p:nvSpPr>
          <p:cNvPr id="17" name="Shape 13"/>
          <p:cNvSpPr/>
          <p:nvPr/>
        </p:nvSpPr>
        <p:spPr>
          <a:xfrm>
            <a:off x="6181344" y="3931920"/>
            <a:ext cx="2651760" cy="2286000"/>
          </a:xfrm>
          <a:prstGeom prst="roundRect">
            <a:avLst>
              <a:gd name="adj" fmla="val 3200"/>
            </a:avLst>
          </a:prstGeom>
          <a:solidFill>
            <a:srgbClr val="0E447A"/>
          </a:solidFill>
          <a:ln w="12700">
            <a:solidFill>
              <a:srgbClr val="2A5583"/>
            </a:solidFill>
            <a:prstDash val="solid"/>
          </a:ln>
        </p:spPr>
      </p:sp>
      <p:sp>
        <p:nvSpPr>
          <p:cNvPr id="18" name="Shape 14"/>
          <p:cNvSpPr/>
          <p:nvPr/>
        </p:nvSpPr>
        <p:spPr>
          <a:xfrm>
            <a:off x="6345936" y="4114800"/>
            <a:ext cx="457200" cy="457200"/>
          </a:xfrm>
          <a:prstGeom prst="ellipse">
            <a:avLst/>
          </a:prstGeom>
          <a:solidFill>
            <a:srgbClr val="D20C0C"/>
          </a:solidFill>
          <a:ln w="12700">
            <a:solidFill>
              <a:srgbClr val="D20C0C"/>
            </a:solidFill>
            <a:prstDash val="solid"/>
          </a:ln>
        </p:spPr>
      </p:sp>
      <p:pic>
        <p:nvPicPr>
          <p:cNvPr id="19" name="Image 2" descr="2015–2023">    </p:cNvPr>
          <p:cNvPicPr>
            <a:picLocks noChangeAspect="1"/>
          </p:cNvPicPr>
          <p:nvPr/>
        </p:nvPicPr>
        <p:blipFill>
          <a:blip r:embed="rId3"/>
          <a:stretch>
            <a:fillRect/>
          </a:stretch>
        </p:blipFill>
        <p:spPr>
          <a:xfrm>
            <a:off x="6460236" y="4229100"/>
            <a:ext cx="228600" cy="228600"/>
          </a:xfrm>
          <a:prstGeom prst="rect">
            <a:avLst/>
          </a:prstGeom>
        </p:spPr>
      </p:pic>
      <p:sp>
        <p:nvSpPr>
          <p:cNvPr id="20" name="Text 15"/>
          <p:cNvSpPr txBox="1"/>
          <p:nvPr/>
        </p:nvSpPr>
        <p:spPr>
          <a:xfrm>
            <a:off x="6345936" y="4754880"/>
            <a:ext cx="2286000" cy="228600"/>
          </a:xfrm>
          <a:prstGeom prst="rect">
            <a:avLst/>
          </a:prstGeom>
          <a:noFill/>
          <a:ln/>
        </p:spPr>
        <p:txBody>
          <a:bodyPr wrap="square" lIns="0" tIns="0" rIns="0" bIns="0" rtlCol="0" anchor="ctr"/>
          <a:lstStyle/>
          <a:p>
            <a:pPr indent="0" marL="0">
              <a:buNone/>
            </a:pPr>
            <a:r>
              <a:rPr lang="en-US" sz="1200" b="1" spc="150" kern="0" dirty="0">
                <a:solidFill>
                  <a:srgbClr val="A9CBEA"/>
                </a:solidFill>
              </a:rPr>
              <a:t>3 · TEST</a:t>
            </a:r>
            <a:endParaRPr lang="en-US" sz="1200" dirty="0"/>
          </a:p>
        </p:txBody>
      </p:sp>
      <p:sp>
        <p:nvSpPr>
          <p:cNvPr id="21" name="Text 16"/>
          <p:cNvSpPr txBox="1"/>
          <p:nvPr/>
        </p:nvSpPr>
        <p:spPr>
          <a:xfrm>
            <a:off x="6345936" y="5029200"/>
            <a:ext cx="2377440" cy="41148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2015–2023</a:t>
            </a:r>
            <a:endParaRPr lang="en-US" sz="1800" dirty="0"/>
          </a:p>
        </p:txBody>
      </p:sp>
      <p:sp>
        <p:nvSpPr>
          <p:cNvPr id="22" name="Text 17"/>
          <p:cNvSpPr txBox="1"/>
          <p:nvPr/>
        </p:nvSpPr>
        <p:spPr>
          <a:xfrm>
            <a:off x="6345936" y="5486400"/>
            <a:ext cx="2331720" cy="640080"/>
          </a:xfrm>
          <a:prstGeom prst="rect">
            <a:avLst/>
          </a:prstGeom>
          <a:noFill/>
          <a:ln/>
        </p:spPr>
        <p:txBody>
          <a:bodyPr wrap="square" lIns="0" tIns="0" rIns="0" bIns="0" rtlCol="0" anchor="t"/>
          <a:lstStyle/>
          <a:p>
            <a:pPr indent="0" marL="0">
              <a:buNone/>
            </a:pPr>
            <a:r>
              <a:rPr lang="en-US" sz="1400" dirty="0">
                <a:solidFill>
                  <a:srgbClr val="C9D8E8"/>
                </a:solidFill>
              </a:rPr>
              <a:t>Elections the model never saw</a:t>
            </a:r>
            <a:endParaRPr lang="en-US" sz="1400" dirty="0"/>
          </a:p>
        </p:txBody>
      </p:sp>
      <p:sp>
        <p:nvSpPr>
          <p:cNvPr id="23" name="Shape 18"/>
          <p:cNvSpPr/>
          <p:nvPr/>
        </p:nvSpPr>
        <p:spPr>
          <a:xfrm>
            <a:off x="8997696" y="3931920"/>
            <a:ext cx="2651760" cy="2286000"/>
          </a:xfrm>
          <a:prstGeom prst="roundRect">
            <a:avLst>
              <a:gd name="adj" fmla="val 3200"/>
            </a:avLst>
          </a:prstGeom>
          <a:solidFill>
            <a:srgbClr val="0E447A"/>
          </a:solidFill>
          <a:ln w="12700">
            <a:solidFill>
              <a:srgbClr val="2A5583"/>
            </a:solidFill>
            <a:prstDash val="solid"/>
          </a:ln>
        </p:spPr>
      </p:sp>
      <p:sp>
        <p:nvSpPr>
          <p:cNvPr id="24" name="Shape 19"/>
          <p:cNvSpPr/>
          <p:nvPr/>
        </p:nvSpPr>
        <p:spPr>
          <a:xfrm>
            <a:off x="9162288" y="4114800"/>
            <a:ext cx="457200" cy="457200"/>
          </a:xfrm>
          <a:prstGeom prst="ellipse">
            <a:avLst/>
          </a:prstGeom>
          <a:solidFill>
            <a:srgbClr val="D20C0C"/>
          </a:solidFill>
          <a:ln w="12700">
            <a:solidFill>
              <a:srgbClr val="D20C0C"/>
            </a:solidFill>
            <a:prstDash val="solid"/>
          </a:ln>
        </p:spPr>
      </p:sp>
      <p:pic>
        <p:nvPicPr>
          <p:cNvPr id="25" name="Image 3" descr="Gradient Boosting">    </p:cNvPr>
          <p:cNvPicPr>
            <a:picLocks noChangeAspect="1"/>
          </p:cNvPicPr>
          <p:nvPr/>
        </p:nvPicPr>
        <p:blipFill>
          <a:blip r:embed="rId4"/>
          <a:stretch>
            <a:fillRect/>
          </a:stretch>
        </p:blipFill>
        <p:spPr>
          <a:xfrm>
            <a:off x="9276588" y="4229100"/>
            <a:ext cx="228600" cy="228600"/>
          </a:xfrm>
          <a:prstGeom prst="rect">
            <a:avLst/>
          </a:prstGeom>
        </p:spPr>
      </p:pic>
      <p:sp>
        <p:nvSpPr>
          <p:cNvPr id="26" name="Text 20"/>
          <p:cNvSpPr txBox="1"/>
          <p:nvPr/>
        </p:nvSpPr>
        <p:spPr>
          <a:xfrm>
            <a:off x="9162288" y="4754880"/>
            <a:ext cx="2286000" cy="228600"/>
          </a:xfrm>
          <a:prstGeom prst="rect">
            <a:avLst/>
          </a:prstGeom>
          <a:noFill/>
          <a:ln/>
        </p:spPr>
        <p:txBody>
          <a:bodyPr wrap="square" lIns="0" tIns="0" rIns="0" bIns="0" rtlCol="0" anchor="ctr"/>
          <a:lstStyle/>
          <a:p>
            <a:pPr indent="0" marL="0">
              <a:buNone/>
            </a:pPr>
            <a:r>
              <a:rPr lang="en-US" sz="1200" b="1" spc="150" kern="0" dirty="0">
                <a:solidFill>
                  <a:srgbClr val="A9CBEA"/>
                </a:solidFill>
              </a:rPr>
              <a:t>4 · MODEL</a:t>
            </a:r>
            <a:endParaRPr lang="en-US" sz="1200" dirty="0"/>
          </a:p>
        </p:txBody>
      </p:sp>
      <p:sp>
        <p:nvSpPr>
          <p:cNvPr id="27" name="Text 21"/>
          <p:cNvSpPr txBox="1"/>
          <p:nvPr/>
        </p:nvSpPr>
        <p:spPr>
          <a:xfrm>
            <a:off x="9162288" y="5029200"/>
            <a:ext cx="2377440" cy="41148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Gradient Boosting</a:t>
            </a:r>
            <a:endParaRPr lang="en-US" sz="1800" dirty="0"/>
          </a:p>
        </p:txBody>
      </p:sp>
      <p:sp>
        <p:nvSpPr>
          <p:cNvPr id="28" name="Text 22"/>
          <p:cNvSpPr txBox="1"/>
          <p:nvPr/>
        </p:nvSpPr>
        <p:spPr>
          <a:xfrm>
            <a:off x="9162288" y="5486400"/>
            <a:ext cx="2331720" cy="640080"/>
          </a:xfrm>
          <a:prstGeom prst="rect">
            <a:avLst/>
          </a:prstGeom>
          <a:noFill/>
          <a:ln/>
        </p:spPr>
        <p:txBody>
          <a:bodyPr wrap="square" lIns="0" tIns="0" rIns="0" bIns="0" rtlCol="0" anchor="t"/>
          <a:lstStyle/>
          <a:p>
            <a:pPr indent="0" marL="0">
              <a:buNone/>
            </a:pPr>
            <a:r>
              <a:rPr lang="en-US" sz="1400" dirty="0">
                <a:solidFill>
                  <a:srgbClr val="C9D8E8"/>
                </a:solidFill>
              </a:rPr>
              <a:t>Learns how party scores usually change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320040"/>
          </a:xfrm>
          <a:prstGeom prst="rect">
            <a:avLst/>
          </a:prstGeom>
          <a:noFill/>
          <a:ln/>
        </p:spPr>
        <p:txBody>
          <a:bodyPr wrap="square" lIns="0" tIns="0" rIns="0" bIns="0" rtlCol="0" anchor="t"/>
          <a:lstStyle/>
          <a:p>
            <a:pPr indent="0" marL="0">
              <a:buNone/>
            </a:pPr>
            <a:r>
              <a:rPr lang="en-US" sz="1200" b="1" spc="200" kern="0" dirty="0">
                <a:solidFill>
                  <a:srgbClr val="D20C0C"/>
                </a:solidFill>
              </a:rPr>
              <a:t>ABOUT ME</a:t>
            </a:r>
            <a:endParaRPr lang="en-US" sz="1200" dirty="0"/>
          </a:p>
        </p:txBody>
      </p:sp>
      <p:sp>
        <p:nvSpPr>
          <p:cNvPr id="3" name="photo placeholder"/>
          <p:cNvSpPr/>
          <p:nvPr/>
        </p:nvSpPr>
        <p:spPr>
          <a:xfrm>
            <a:off x="822960" y="1828800"/>
            <a:ext cx="3108960" cy="3108960"/>
          </a:xfrm>
          <a:prstGeom prst="ellipse">
            <a:avLst/>
          </a:prstGeom>
          <a:solidFill>
            <a:srgbClr val="E3EEF8"/>
          </a:solidFill>
          <a:ln w="12700">
            <a:solidFill>
              <a:srgbClr val="E3EEF8"/>
            </a:solidFill>
            <a:prstDash val="solid"/>
          </a:ln>
        </p:spPr>
      </p:sp>
      <p:pic>
        <p:nvPicPr>
          <p:cNvPr id="4" name="Image 0" descr="Photo placeholder">    </p:cNvPr>
          <p:cNvPicPr>
            <a:picLocks noChangeAspect="1"/>
          </p:cNvPicPr>
          <p:nvPr/>
        </p:nvPicPr>
        <p:blipFill>
          <a:blip r:embed="rId1"/>
          <a:stretch>
            <a:fillRect/>
          </a:stretch>
        </p:blipFill>
        <p:spPr>
          <a:xfrm>
            <a:off x="1691640" y="2606040"/>
            <a:ext cx="1371600" cy="1554480"/>
          </a:xfrm>
          <a:prstGeom prst="rect">
            <a:avLst/>
          </a:prstGeom>
        </p:spPr>
      </p:pic>
      <p:sp>
        <p:nvSpPr>
          <p:cNvPr id="5" name="Text 2"/>
          <p:cNvSpPr txBox="1"/>
          <p:nvPr/>
        </p:nvSpPr>
        <p:spPr>
          <a:xfrm>
            <a:off x="4572000" y="1463040"/>
            <a:ext cx="7040880" cy="1005840"/>
          </a:xfrm>
          <a:prstGeom prst="rect">
            <a:avLst/>
          </a:prstGeom>
          <a:noFill/>
          <a:ln/>
        </p:spPr>
        <p:txBody>
          <a:bodyPr wrap="square" lIns="0" tIns="0" rIns="0" bIns="0" rtlCol="0" anchor="ctr"/>
          <a:lstStyle/>
          <a:p>
            <a:pPr indent="0" marL="0">
              <a:buNone/>
            </a:pPr>
            <a:r>
              <a:rPr lang="en-US" sz="4800" b="1" dirty="0">
                <a:solidFill>
                  <a:srgbClr val="023465"/>
                </a:solidFill>
                <a:latin typeface="Arial" pitchFamily="34" charset="0"/>
                <a:ea typeface="Arial" pitchFamily="34" charset="-122"/>
                <a:cs typeface="Arial" pitchFamily="34" charset="-120"/>
              </a:rPr>
              <a:t>Your name</a:t>
            </a:r>
            <a:endParaRPr lang="en-US" sz="4800" dirty="0"/>
          </a:p>
        </p:txBody>
      </p:sp>
      <p:sp>
        <p:nvSpPr>
          <p:cNvPr id="6" name="Shape 3"/>
          <p:cNvSpPr/>
          <p:nvPr/>
        </p:nvSpPr>
        <p:spPr>
          <a:xfrm>
            <a:off x="4572000" y="2788920"/>
            <a:ext cx="548640" cy="548640"/>
          </a:xfrm>
          <a:prstGeom prst="ellipse">
            <a:avLst/>
          </a:prstGeom>
          <a:solidFill>
            <a:srgbClr val="E3EEF8"/>
          </a:solidFill>
          <a:ln w="12700">
            <a:solidFill>
              <a:srgbClr val="E3EEF8"/>
            </a:solidFill>
            <a:prstDash val="solid"/>
          </a:ln>
        </p:spPr>
      </p:sp>
      <p:pic>
        <p:nvPicPr>
          <p:cNvPr id="7" name="Image 1" descr="BACKGROUND">    </p:cNvPr>
          <p:cNvPicPr>
            <a:picLocks noChangeAspect="1"/>
          </p:cNvPicPr>
          <p:nvPr/>
        </p:nvPicPr>
        <p:blipFill>
          <a:blip r:embed="rId2"/>
          <a:stretch>
            <a:fillRect/>
          </a:stretch>
        </p:blipFill>
        <p:spPr>
          <a:xfrm>
            <a:off x="4709160" y="2926080"/>
            <a:ext cx="274320" cy="274320"/>
          </a:xfrm>
          <a:prstGeom prst="rect">
            <a:avLst/>
          </a:prstGeom>
        </p:spPr>
      </p:pic>
      <p:sp>
        <p:nvSpPr>
          <p:cNvPr id="8" name="Text 4"/>
          <p:cNvSpPr txBox="1"/>
          <p:nvPr/>
        </p:nvSpPr>
        <p:spPr>
          <a:xfrm>
            <a:off x="5349240" y="2770632"/>
            <a:ext cx="6217920" cy="274320"/>
          </a:xfrm>
          <a:prstGeom prst="rect">
            <a:avLst/>
          </a:prstGeom>
          <a:noFill/>
          <a:ln/>
        </p:spPr>
        <p:txBody>
          <a:bodyPr wrap="square" lIns="0" tIns="0" rIns="0" bIns="0" rtlCol="0" anchor="ctr"/>
          <a:lstStyle/>
          <a:p>
            <a:pPr indent="0" marL="0">
              <a:buNone/>
            </a:pPr>
            <a:r>
              <a:rPr lang="en-US" sz="1200" b="1" spc="150" kern="0" dirty="0">
                <a:solidFill>
                  <a:srgbClr val="D20C0C"/>
                </a:solidFill>
              </a:rPr>
              <a:t>BACKGROUND</a:t>
            </a:r>
            <a:endParaRPr lang="en-US" sz="1200" dirty="0"/>
          </a:p>
        </p:txBody>
      </p:sp>
      <p:sp>
        <p:nvSpPr>
          <p:cNvPr id="9" name="Text 5"/>
          <p:cNvSpPr txBox="1"/>
          <p:nvPr/>
        </p:nvSpPr>
        <p:spPr>
          <a:xfrm>
            <a:off x="5349240" y="3063240"/>
            <a:ext cx="6217920" cy="411480"/>
          </a:xfrm>
          <a:prstGeom prst="rect">
            <a:avLst/>
          </a:prstGeom>
          <a:noFill/>
          <a:ln/>
        </p:spPr>
        <p:txBody>
          <a:bodyPr wrap="square" lIns="0" tIns="0" rIns="0" bIns="0" rtlCol="0" anchor="ctr"/>
          <a:lstStyle/>
          <a:p>
            <a:pPr indent="0" marL="0">
              <a:buNone/>
            </a:pPr>
            <a:r>
              <a:rPr lang="en-US" sz="2000" dirty="0">
                <a:solidFill>
                  <a:srgbClr val="023465"/>
                </a:solidFill>
              </a:rPr>
              <a:t>Data Analytics student · Ironhack</a:t>
            </a:r>
            <a:endParaRPr lang="en-US" sz="2000" dirty="0"/>
          </a:p>
        </p:txBody>
      </p:sp>
      <p:sp>
        <p:nvSpPr>
          <p:cNvPr id="10" name="Shape 6"/>
          <p:cNvSpPr/>
          <p:nvPr/>
        </p:nvSpPr>
        <p:spPr>
          <a:xfrm>
            <a:off x="4572000" y="3886200"/>
            <a:ext cx="548640" cy="548640"/>
          </a:xfrm>
          <a:prstGeom prst="ellipse">
            <a:avLst/>
          </a:prstGeom>
          <a:solidFill>
            <a:srgbClr val="E3EEF8"/>
          </a:solidFill>
          <a:ln w="12700">
            <a:solidFill>
              <a:srgbClr val="E3EEF8"/>
            </a:solidFill>
            <a:prstDash val="solid"/>
          </a:ln>
        </p:spPr>
      </p:sp>
      <p:pic>
        <p:nvPicPr>
          <p:cNvPr id="11" name="Image 2" descr="WHY THIS PROJECT">    </p:cNvPr>
          <p:cNvPicPr>
            <a:picLocks noChangeAspect="1"/>
          </p:cNvPicPr>
          <p:nvPr/>
        </p:nvPicPr>
        <p:blipFill>
          <a:blip r:embed="rId3"/>
          <a:stretch>
            <a:fillRect/>
          </a:stretch>
        </p:blipFill>
        <p:spPr>
          <a:xfrm>
            <a:off x="4709160" y="4023360"/>
            <a:ext cx="274320" cy="274320"/>
          </a:xfrm>
          <a:prstGeom prst="rect">
            <a:avLst/>
          </a:prstGeom>
        </p:spPr>
      </p:pic>
      <p:sp>
        <p:nvSpPr>
          <p:cNvPr id="12" name="Text 7"/>
          <p:cNvSpPr txBox="1"/>
          <p:nvPr/>
        </p:nvSpPr>
        <p:spPr>
          <a:xfrm>
            <a:off x="5349240" y="3867912"/>
            <a:ext cx="6217920" cy="274320"/>
          </a:xfrm>
          <a:prstGeom prst="rect">
            <a:avLst/>
          </a:prstGeom>
          <a:noFill/>
          <a:ln/>
        </p:spPr>
        <p:txBody>
          <a:bodyPr wrap="square" lIns="0" tIns="0" rIns="0" bIns="0" rtlCol="0" anchor="ctr"/>
          <a:lstStyle/>
          <a:p>
            <a:pPr indent="0" marL="0">
              <a:buNone/>
            </a:pPr>
            <a:r>
              <a:rPr lang="en-US" sz="1200" b="1" spc="150" kern="0" dirty="0">
                <a:solidFill>
                  <a:srgbClr val="D20C0C"/>
                </a:solidFill>
              </a:rPr>
              <a:t>WHY THIS PROJECT</a:t>
            </a:r>
            <a:endParaRPr lang="en-US" sz="1200" dirty="0"/>
          </a:p>
        </p:txBody>
      </p:sp>
      <p:sp>
        <p:nvSpPr>
          <p:cNvPr id="13" name="Text 8"/>
          <p:cNvSpPr txBox="1"/>
          <p:nvPr/>
        </p:nvSpPr>
        <p:spPr>
          <a:xfrm>
            <a:off x="5349240" y="4160520"/>
            <a:ext cx="6217920" cy="411480"/>
          </a:xfrm>
          <a:prstGeom prst="rect">
            <a:avLst/>
          </a:prstGeom>
          <a:noFill/>
          <a:ln/>
        </p:spPr>
        <p:txBody>
          <a:bodyPr wrap="square" lIns="0" tIns="0" rIns="0" bIns="0" rtlCol="0" anchor="ctr"/>
          <a:lstStyle/>
          <a:p>
            <a:pPr indent="0" marL="0">
              <a:buNone/>
            </a:pPr>
            <a:r>
              <a:rPr lang="en-US" sz="2000" dirty="0">
                <a:solidFill>
                  <a:srgbClr val="023465"/>
                </a:solidFill>
              </a:rPr>
              <a:t>Write one line on why you chose elections.</a:t>
            </a:r>
            <a:endParaRPr lang="en-US" sz="2000" dirty="0"/>
          </a:p>
        </p:txBody>
      </p:sp>
      <p:sp>
        <p:nvSpPr>
          <p:cNvPr id="14" name="Shape 9"/>
          <p:cNvSpPr/>
          <p:nvPr/>
        </p:nvSpPr>
        <p:spPr>
          <a:xfrm>
            <a:off x="4572000" y="4983480"/>
            <a:ext cx="548640" cy="548640"/>
          </a:xfrm>
          <a:prstGeom prst="ellipse">
            <a:avLst/>
          </a:prstGeom>
          <a:solidFill>
            <a:srgbClr val="E3EEF8"/>
          </a:solidFill>
          <a:ln w="12700">
            <a:solidFill>
              <a:srgbClr val="E3EEF8"/>
            </a:solidFill>
            <a:prstDash val="solid"/>
          </a:ln>
        </p:spPr>
      </p:sp>
      <p:pic>
        <p:nvPicPr>
          <p:cNvPr id="15" name="Image 3" descr="TOOLS">    </p:cNvPr>
          <p:cNvPicPr>
            <a:picLocks noChangeAspect="1"/>
          </p:cNvPicPr>
          <p:nvPr/>
        </p:nvPicPr>
        <p:blipFill>
          <a:blip r:embed="rId4"/>
          <a:stretch>
            <a:fillRect/>
          </a:stretch>
        </p:blipFill>
        <p:spPr>
          <a:xfrm>
            <a:off x="4709160" y="5120640"/>
            <a:ext cx="274320" cy="274320"/>
          </a:xfrm>
          <a:prstGeom prst="rect">
            <a:avLst/>
          </a:prstGeom>
        </p:spPr>
      </p:pic>
      <p:sp>
        <p:nvSpPr>
          <p:cNvPr id="16" name="Text 10"/>
          <p:cNvSpPr txBox="1"/>
          <p:nvPr/>
        </p:nvSpPr>
        <p:spPr>
          <a:xfrm>
            <a:off x="5349240" y="4965192"/>
            <a:ext cx="6217920" cy="274320"/>
          </a:xfrm>
          <a:prstGeom prst="rect">
            <a:avLst/>
          </a:prstGeom>
          <a:noFill/>
          <a:ln/>
        </p:spPr>
        <p:txBody>
          <a:bodyPr wrap="square" lIns="0" tIns="0" rIns="0" bIns="0" rtlCol="0" anchor="ctr"/>
          <a:lstStyle/>
          <a:p>
            <a:pPr indent="0" marL="0">
              <a:buNone/>
            </a:pPr>
            <a:r>
              <a:rPr lang="en-US" sz="1200" b="1" spc="150" kern="0" dirty="0">
                <a:solidFill>
                  <a:srgbClr val="D20C0C"/>
                </a:solidFill>
              </a:rPr>
              <a:t>TOOLS</a:t>
            </a:r>
            <a:endParaRPr lang="en-US" sz="1200" dirty="0"/>
          </a:p>
        </p:txBody>
      </p:sp>
      <p:sp>
        <p:nvSpPr>
          <p:cNvPr id="17" name="Text 11"/>
          <p:cNvSpPr txBox="1"/>
          <p:nvPr/>
        </p:nvSpPr>
        <p:spPr>
          <a:xfrm>
            <a:off x="5349240" y="5257800"/>
            <a:ext cx="6217920" cy="411480"/>
          </a:xfrm>
          <a:prstGeom prst="rect">
            <a:avLst/>
          </a:prstGeom>
          <a:noFill/>
          <a:ln/>
        </p:spPr>
        <p:txBody>
          <a:bodyPr wrap="square" lIns="0" tIns="0" rIns="0" bIns="0" rtlCol="0" anchor="ctr"/>
          <a:lstStyle/>
          <a:p>
            <a:pPr indent="0" marL="0">
              <a:buNone/>
            </a:pPr>
            <a:r>
              <a:rPr lang="en-US" sz="2000" dirty="0">
                <a:solidFill>
                  <a:srgbClr val="023465"/>
                </a:solidFill>
              </a:rPr>
              <a:t>Python · pandas · scikit-learn · Jupyter</a:t>
            </a:r>
            <a:endParaRPr lang="en-US" sz="2000" dirty="0"/>
          </a:p>
        </p:txBody>
      </p:sp>
      <p:sp>
        <p:nvSpPr>
          <p:cNvPr id="18"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endParaRPr lang="en-US" sz="3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688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320040"/>
          </a:xfrm>
          <a:prstGeom prst="rect">
            <a:avLst/>
          </a:prstGeom>
          <a:noFill/>
          <a:ln/>
        </p:spPr>
        <p:txBody>
          <a:bodyPr wrap="square" lIns="0" tIns="0" rIns="0" bIns="0" rtlCol="0" anchor="t"/>
          <a:lstStyle/>
          <a:p>
            <a:pPr indent="0" marL="0">
              <a:buNone/>
            </a:pPr>
            <a:r>
              <a:rPr lang="en-US" sz="1200" b="1" spc="200" kern="0" dirty="0">
                <a:solidFill>
                  <a:srgbClr val="D20C0C"/>
                </a:solidFill>
              </a:rPr>
              <a:t>THE DATA</a:t>
            </a:r>
            <a:endParaRPr lang="en-US" sz="12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400" b="1" dirty="0">
                <a:solidFill>
                  <a:srgbClr val="023465"/>
                </a:solidFill>
                <a:latin typeface="Arial" pitchFamily="34" charset="0"/>
                <a:ea typeface="Arial" pitchFamily="34" charset="-122"/>
                <a:cs typeface="Arial" pitchFamily="34" charset="-120"/>
              </a:rPr>
              <a:t>Three sources, one clean table</a:t>
            </a:r>
            <a:endParaRPr lang="en-US" sz="3400" dirty="0"/>
          </a:p>
        </p:txBody>
      </p:sp>
      <p:pic>
        <p:nvPicPr>
          <p:cNvPr id="4" name="Image 0" descr="European flag">    </p:cNvPr>
          <p:cNvPicPr>
            <a:picLocks noChangeAspect="1"/>
          </p:cNvPicPr>
          <p:nvPr/>
        </p:nvPicPr>
        <p:blipFill>
          <a:blip r:embed="rId1"/>
          <a:stretch>
            <a:fillRect/>
          </a:stretch>
        </p:blipFill>
        <p:spPr>
          <a:xfrm>
            <a:off x="11091672" y="384048"/>
            <a:ext cx="548640" cy="365760"/>
          </a:xfrm>
          <a:prstGeom prst="rect">
            <a:avLst/>
          </a:prstGeom>
        </p:spPr>
      </p:pic>
      <p:pic>
        <p:nvPicPr>
          <p:cNvPr id="5" name="Image 1" descr="party results (rows)">    </p:cNvPr>
          <p:cNvPicPr>
            <a:picLocks noChangeAspect="1"/>
          </p:cNvPicPr>
          <p:nvPr/>
        </p:nvPicPr>
        <p:blipFill>
          <a:blip r:embed="rId2"/>
          <a:stretch>
            <a:fillRect/>
          </a:stretch>
        </p:blipFill>
        <p:spPr>
          <a:xfrm>
            <a:off x="548640" y="1783080"/>
            <a:ext cx="384048" cy="384048"/>
          </a:xfrm>
          <a:prstGeom prst="rect">
            <a:avLst/>
          </a:prstGeom>
        </p:spPr>
      </p:pic>
      <p:sp>
        <p:nvSpPr>
          <p:cNvPr id="6" name="Text 2"/>
          <p:cNvSpPr txBox="1"/>
          <p:nvPr/>
        </p:nvSpPr>
        <p:spPr>
          <a:xfrm>
            <a:off x="1051560" y="1645920"/>
            <a:ext cx="2286000" cy="640080"/>
          </a:xfrm>
          <a:prstGeom prst="rect">
            <a:avLst/>
          </a:prstGeom>
          <a:noFill/>
          <a:ln/>
        </p:spPr>
        <p:txBody>
          <a:bodyPr wrap="square" lIns="0" tIns="0" rIns="0" bIns="0" rtlCol="0" anchor="ctr"/>
          <a:lstStyle/>
          <a:p>
            <a:pPr indent="0" marL="0">
              <a:buNone/>
            </a:pPr>
            <a:r>
              <a:rPr lang="en-US" sz="3600" b="1" dirty="0">
                <a:solidFill>
                  <a:srgbClr val="023465"/>
                </a:solidFill>
                <a:latin typeface="Arial" pitchFamily="34" charset="0"/>
                <a:ea typeface="Arial" pitchFamily="34" charset="-122"/>
                <a:cs typeface="Arial" pitchFamily="34" charset="-120"/>
              </a:rPr>
              <a:t>2,575</a:t>
            </a:r>
            <a:endParaRPr lang="en-US" sz="3600" dirty="0"/>
          </a:p>
        </p:txBody>
      </p:sp>
      <p:sp>
        <p:nvSpPr>
          <p:cNvPr id="7" name="Text 3"/>
          <p:cNvSpPr txBox="1"/>
          <p:nvPr/>
        </p:nvSpPr>
        <p:spPr>
          <a:xfrm>
            <a:off x="1051560" y="2286000"/>
            <a:ext cx="2194560" cy="274320"/>
          </a:xfrm>
          <a:prstGeom prst="rect">
            <a:avLst/>
          </a:prstGeom>
          <a:noFill/>
          <a:ln/>
        </p:spPr>
        <p:txBody>
          <a:bodyPr wrap="square" lIns="0" tIns="0" rIns="0" bIns="0" rtlCol="0" anchor="ctr"/>
          <a:lstStyle/>
          <a:p>
            <a:pPr indent="0" marL="0">
              <a:buNone/>
            </a:pPr>
            <a:r>
              <a:rPr lang="en-US" sz="1400" dirty="0">
                <a:solidFill>
                  <a:srgbClr val="4F6886"/>
                </a:solidFill>
              </a:rPr>
              <a:t>party results (rows)</a:t>
            </a:r>
            <a:endParaRPr lang="en-US" sz="1400" dirty="0"/>
          </a:p>
        </p:txBody>
      </p:sp>
      <p:pic>
        <p:nvPicPr>
          <p:cNvPr id="8" name="Image 2" descr="national elections">    </p:cNvPr>
          <p:cNvPicPr>
            <a:picLocks noChangeAspect="1"/>
          </p:cNvPicPr>
          <p:nvPr/>
        </p:nvPicPr>
        <p:blipFill>
          <a:blip r:embed="rId3"/>
          <a:stretch>
            <a:fillRect/>
          </a:stretch>
        </p:blipFill>
        <p:spPr>
          <a:xfrm>
            <a:off x="3364992" y="1783080"/>
            <a:ext cx="384048" cy="384048"/>
          </a:xfrm>
          <a:prstGeom prst="rect">
            <a:avLst/>
          </a:prstGeom>
        </p:spPr>
      </p:pic>
      <p:sp>
        <p:nvSpPr>
          <p:cNvPr id="9" name="Text 4"/>
          <p:cNvSpPr txBox="1"/>
          <p:nvPr/>
        </p:nvSpPr>
        <p:spPr>
          <a:xfrm>
            <a:off x="3867912" y="1645920"/>
            <a:ext cx="2286000" cy="640080"/>
          </a:xfrm>
          <a:prstGeom prst="rect">
            <a:avLst/>
          </a:prstGeom>
          <a:noFill/>
          <a:ln/>
        </p:spPr>
        <p:txBody>
          <a:bodyPr wrap="square" lIns="0" tIns="0" rIns="0" bIns="0" rtlCol="0" anchor="ctr"/>
          <a:lstStyle/>
          <a:p>
            <a:pPr indent="0" marL="0">
              <a:buNone/>
            </a:pPr>
            <a:r>
              <a:rPr lang="en-US" sz="3600" b="1" dirty="0">
                <a:solidFill>
                  <a:srgbClr val="023465"/>
                </a:solidFill>
                <a:latin typeface="Arial" pitchFamily="34" charset="0"/>
                <a:ea typeface="Arial" pitchFamily="34" charset="-122"/>
                <a:cs typeface="Arial" pitchFamily="34" charset="-120"/>
              </a:rPr>
              <a:t>271</a:t>
            </a:r>
            <a:endParaRPr lang="en-US" sz="3600" dirty="0"/>
          </a:p>
        </p:txBody>
      </p:sp>
      <p:sp>
        <p:nvSpPr>
          <p:cNvPr id="10" name="Text 5"/>
          <p:cNvSpPr txBox="1"/>
          <p:nvPr/>
        </p:nvSpPr>
        <p:spPr>
          <a:xfrm>
            <a:off x="3867912" y="2286000"/>
            <a:ext cx="2194560" cy="274320"/>
          </a:xfrm>
          <a:prstGeom prst="rect">
            <a:avLst/>
          </a:prstGeom>
          <a:noFill/>
          <a:ln/>
        </p:spPr>
        <p:txBody>
          <a:bodyPr wrap="square" lIns="0" tIns="0" rIns="0" bIns="0" rtlCol="0" anchor="ctr"/>
          <a:lstStyle/>
          <a:p>
            <a:pPr indent="0" marL="0">
              <a:buNone/>
            </a:pPr>
            <a:r>
              <a:rPr lang="en-US" sz="1400" dirty="0">
                <a:solidFill>
                  <a:srgbClr val="4F6886"/>
                </a:solidFill>
              </a:rPr>
              <a:t>national elections</a:t>
            </a:r>
            <a:endParaRPr lang="en-US" sz="1400" dirty="0"/>
          </a:p>
        </p:txBody>
      </p:sp>
      <p:pic>
        <p:nvPicPr>
          <p:cNvPr id="11" name="Image 3" descr="European countries">    </p:cNvPr>
          <p:cNvPicPr>
            <a:picLocks noChangeAspect="1"/>
          </p:cNvPicPr>
          <p:nvPr/>
        </p:nvPicPr>
        <p:blipFill>
          <a:blip r:embed="rId4"/>
          <a:stretch>
            <a:fillRect/>
          </a:stretch>
        </p:blipFill>
        <p:spPr>
          <a:xfrm>
            <a:off x="6181344" y="1783080"/>
            <a:ext cx="384048" cy="384048"/>
          </a:xfrm>
          <a:prstGeom prst="rect">
            <a:avLst/>
          </a:prstGeom>
        </p:spPr>
      </p:pic>
      <p:sp>
        <p:nvSpPr>
          <p:cNvPr id="12" name="Text 6"/>
          <p:cNvSpPr txBox="1"/>
          <p:nvPr/>
        </p:nvSpPr>
        <p:spPr>
          <a:xfrm>
            <a:off x="6684264" y="1645920"/>
            <a:ext cx="2286000" cy="640080"/>
          </a:xfrm>
          <a:prstGeom prst="rect">
            <a:avLst/>
          </a:prstGeom>
          <a:noFill/>
          <a:ln/>
        </p:spPr>
        <p:txBody>
          <a:bodyPr wrap="square" lIns="0" tIns="0" rIns="0" bIns="0" rtlCol="0" anchor="ctr"/>
          <a:lstStyle/>
          <a:p>
            <a:pPr indent="0" marL="0">
              <a:buNone/>
            </a:pPr>
            <a:r>
              <a:rPr lang="en-US" sz="3600" b="1" dirty="0">
                <a:solidFill>
                  <a:srgbClr val="023465"/>
                </a:solidFill>
                <a:latin typeface="Arial" pitchFamily="34" charset="0"/>
                <a:ea typeface="Arial" pitchFamily="34" charset="-122"/>
                <a:cs typeface="Arial" pitchFamily="34" charset="-120"/>
              </a:rPr>
              <a:t>31</a:t>
            </a:r>
            <a:endParaRPr lang="en-US" sz="3600" dirty="0"/>
          </a:p>
        </p:txBody>
      </p:sp>
      <p:sp>
        <p:nvSpPr>
          <p:cNvPr id="13" name="Text 7"/>
          <p:cNvSpPr txBox="1"/>
          <p:nvPr/>
        </p:nvSpPr>
        <p:spPr>
          <a:xfrm>
            <a:off x="6684264" y="2286000"/>
            <a:ext cx="2194560" cy="274320"/>
          </a:xfrm>
          <a:prstGeom prst="rect">
            <a:avLst/>
          </a:prstGeom>
          <a:noFill/>
          <a:ln/>
        </p:spPr>
        <p:txBody>
          <a:bodyPr wrap="square" lIns="0" tIns="0" rIns="0" bIns="0" rtlCol="0" anchor="ctr"/>
          <a:lstStyle/>
          <a:p>
            <a:pPr indent="0" marL="0">
              <a:buNone/>
            </a:pPr>
            <a:r>
              <a:rPr lang="en-US" sz="1400" dirty="0">
                <a:solidFill>
                  <a:srgbClr val="4F6886"/>
                </a:solidFill>
              </a:rPr>
              <a:t>European countries</a:t>
            </a:r>
            <a:endParaRPr lang="en-US" sz="1400" dirty="0"/>
          </a:p>
        </p:txBody>
      </p:sp>
      <p:pic>
        <p:nvPicPr>
          <p:cNvPr id="14" name="Image 4" descr="training + test years">    </p:cNvPr>
          <p:cNvPicPr>
            <a:picLocks noChangeAspect="1"/>
          </p:cNvPicPr>
          <p:nvPr/>
        </p:nvPicPr>
        <p:blipFill>
          <a:blip r:embed="rId5"/>
          <a:stretch>
            <a:fillRect/>
          </a:stretch>
        </p:blipFill>
        <p:spPr>
          <a:xfrm>
            <a:off x="8997696" y="1783080"/>
            <a:ext cx="384048" cy="384048"/>
          </a:xfrm>
          <a:prstGeom prst="rect">
            <a:avLst/>
          </a:prstGeom>
        </p:spPr>
      </p:pic>
      <p:sp>
        <p:nvSpPr>
          <p:cNvPr id="15" name="Text 8"/>
          <p:cNvSpPr txBox="1"/>
          <p:nvPr/>
        </p:nvSpPr>
        <p:spPr>
          <a:xfrm>
            <a:off x="9500616" y="1645920"/>
            <a:ext cx="2286000" cy="640080"/>
          </a:xfrm>
          <a:prstGeom prst="rect">
            <a:avLst/>
          </a:prstGeom>
          <a:noFill/>
          <a:ln/>
        </p:spPr>
        <p:txBody>
          <a:bodyPr wrap="square" lIns="0" tIns="0" rIns="0" bIns="0" rtlCol="0" anchor="ctr"/>
          <a:lstStyle/>
          <a:p>
            <a:pPr indent="0" marL="0">
              <a:buNone/>
            </a:pPr>
            <a:r>
              <a:rPr lang="en-US" sz="3000" b="1" dirty="0">
                <a:solidFill>
                  <a:srgbClr val="023465"/>
                </a:solidFill>
                <a:latin typeface="Arial" pitchFamily="34" charset="0"/>
                <a:ea typeface="Arial" pitchFamily="34" charset="-122"/>
                <a:cs typeface="Arial" pitchFamily="34" charset="-120"/>
              </a:rPr>
              <a:t>1991–2023</a:t>
            </a:r>
            <a:endParaRPr lang="en-US" sz="3000" dirty="0"/>
          </a:p>
        </p:txBody>
      </p:sp>
      <p:sp>
        <p:nvSpPr>
          <p:cNvPr id="16" name="Text 9"/>
          <p:cNvSpPr txBox="1"/>
          <p:nvPr/>
        </p:nvSpPr>
        <p:spPr>
          <a:xfrm>
            <a:off x="9500616" y="2286000"/>
            <a:ext cx="2194560" cy="274320"/>
          </a:xfrm>
          <a:prstGeom prst="rect">
            <a:avLst/>
          </a:prstGeom>
          <a:noFill/>
          <a:ln/>
        </p:spPr>
        <p:txBody>
          <a:bodyPr wrap="square" lIns="0" tIns="0" rIns="0" bIns="0" rtlCol="0" anchor="ctr"/>
          <a:lstStyle/>
          <a:p>
            <a:pPr indent="0" marL="0">
              <a:buNone/>
            </a:pPr>
            <a:r>
              <a:rPr lang="en-US" sz="1400" dirty="0">
                <a:solidFill>
                  <a:srgbClr val="4F6886"/>
                </a:solidFill>
              </a:rPr>
              <a:t>training + test years</a:t>
            </a:r>
            <a:endParaRPr lang="en-US" sz="1400" dirty="0"/>
          </a:p>
        </p:txBody>
      </p:sp>
      <p:sp>
        <p:nvSpPr>
          <p:cNvPr id="17" name="card ParlGov"/>
          <p:cNvSpPr/>
          <p:nvPr/>
        </p:nvSpPr>
        <p:spPr>
          <a:xfrm>
            <a:off x="548640" y="2834640"/>
            <a:ext cx="3593592" cy="1600200"/>
          </a:xfrm>
          <a:prstGeom prst="roundRect">
            <a:avLst>
              <a:gd name="adj" fmla="val 4571"/>
            </a:avLst>
          </a:prstGeom>
          <a:solidFill>
            <a:srgbClr val="F1F4F8"/>
          </a:solidFill>
          <a:ln w="9525">
            <a:solidFill>
              <a:srgbClr val="F1F4F8"/>
            </a:solidFill>
            <a:prstDash val="solid"/>
          </a:ln>
        </p:spPr>
      </p:sp>
      <p:sp>
        <p:nvSpPr>
          <p:cNvPr id="18" name="Shape 11"/>
          <p:cNvSpPr/>
          <p:nvPr/>
        </p:nvSpPr>
        <p:spPr>
          <a:xfrm>
            <a:off x="731520" y="3017520"/>
            <a:ext cx="457200" cy="457200"/>
          </a:xfrm>
          <a:prstGeom prst="ellipse">
            <a:avLst/>
          </a:prstGeom>
          <a:solidFill>
            <a:srgbClr val="E3EEF8"/>
          </a:solidFill>
          <a:ln w="12700">
            <a:solidFill>
              <a:srgbClr val="E3EEF8"/>
            </a:solidFill>
            <a:prstDash val="solid"/>
          </a:ln>
        </p:spPr>
      </p:sp>
      <p:pic>
        <p:nvPicPr>
          <p:cNvPr id="19" name="Image 5" descr="ParlGov">    </p:cNvPr>
          <p:cNvPicPr>
            <a:picLocks noChangeAspect="1"/>
          </p:cNvPicPr>
          <p:nvPr/>
        </p:nvPicPr>
        <p:blipFill>
          <a:blip r:embed="rId6"/>
          <a:stretch>
            <a:fillRect/>
          </a:stretch>
        </p:blipFill>
        <p:spPr>
          <a:xfrm>
            <a:off x="841248" y="3127248"/>
            <a:ext cx="237744" cy="237744"/>
          </a:xfrm>
          <a:prstGeom prst="rect">
            <a:avLst/>
          </a:prstGeom>
        </p:spPr>
      </p:pic>
      <p:sp>
        <p:nvSpPr>
          <p:cNvPr id="20" name="Text 12"/>
          <p:cNvSpPr txBox="1"/>
          <p:nvPr/>
        </p:nvSpPr>
        <p:spPr>
          <a:xfrm>
            <a:off x="1325880" y="2999232"/>
            <a:ext cx="2633472" cy="228600"/>
          </a:xfrm>
          <a:prstGeom prst="rect">
            <a:avLst/>
          </a:prstGeom>
          <a:noFill/>
          <a:ln/>
        </p:spPr>
        <p:txBody>
          <a:bodyPr wrap="square" lIns="0" tIns="0" rIns="0" bIns="0" rtlCol="0" anchor="ctr"/>
          <a:lstStyle/>
          <a:p>
            <a:pPr indent="0" marL="0">
              <a:buNone/>
            </a:pPr>
            <a:r>
              <a:rPr lang="en-US" sz="1100" b="1" spc="150" kern="0" dirty="0">
                <a:solidFill>
                  <a:srgbClr val="D20C0C"/>
                </a:solidFill>
              </a:rPr>
              <a:t>PARLGOV</a:t>
            </a:r>
            <a:endParaRPr lang="en-US" sz="1100" dirty="0"/>
          </a:p>
        </p:txBody>
      </p:sp>
      <p:sp>
        <p:nvSpPr>
          <p:cNvPr id="21" name="Text 13"/>
          <p:cNvSpPr txBox="1"/>
          <p:nvPr/>
        </p:nvSpPr>
        <p:spPr>
          <a:xfrm>
            <a:off x="749808" y="3566160"/>
            <a:ext cx="3191256" cy="758952"/>
          </a:xfrm>
          <a:prstGeom prst="rect">
            <a:avLst/>
          </a:prstGeom>
          <a:noFill/>
          <a:ln/>
        </p:spPr>
        <p:txBody>
          <a:bodyPr wrap="square" lIns="0" tIns="0" rIns="0" bIns="0" rtlCol="0" anchor="t"/>
          <a:lstStyle/>
          <a:p>
            <a:pPr indent="0" marL="0">
              <a:buNone/>
            </a:pPr>
            <a:r>
              <a:rPr lang="en-US" sz="1600" dirty="0">
                <a:solidFill>
                  <a:srgbClr val="4F6886"/>
                </a:solidFill>
              </a:rPr>
              <a:t>Vote shares, party family, left–right position, who was in government</a:t>
            </a:r>
            <a:endParaRPr lang="en-US" sz="1600" dirty="0"/>
          </a:p>
        </p:txBody>
      </p:sp>
      <p:sp>
        <p:nvSpPr>
          <p:cNvPr id="22" name="card World Bank"/>
          <p:cNvSpPr/>
          <p:nvPr/>
        </p:nvSpPr>
        <p:spPr>
          <a:xfrm>
            <a:off x="4288536" y="2834640"/>
            <a:ext cx="3593592" cy="1600200"/>
          </a:xfrm>
          <a:prstGeom prst="roundRect">
            <a:avLst>
              <a:gd name="adj" fmla="val 4571"/>
            </a:avLst>
          </a:prstGeom>
          <a:solidFill>
            <a:srgbClr val="F1F4F8"/>
          </a:solidFill>
          <a:ln w="9525">
            <a:solidFill>
              <a:srgbClr val="F1F4F8"/>
            </a:solidFill>
            <a:prstDash val="solid"/>
          </a:ln>
        </p:spPr>
      </p:sp>
      <p:sp>
        <p:nvSpPr>
          <p:cNvPr id="23" name="Shape 15"/>
          <p:cNvSpPr/>
          <p:nvPr/>
        </p:nvSpPr>
        <p:spPr>
          <a:xfrm>
            <a:off x="4471416" y="3017520"/>
            <a:ext cx="457200" cy="457200"/>
          </a:xfrm>
          <a:prstGeom prst="ellipse">
            <a:avLst/>
          </a:prstGeom>
          <a:solidFill>
            <a:srgbClr val="E3EEF8"/>
          </a:solidFill>
          <a:ln w="12700">
            <a:solidFill>
              <a:srgbClr val="E3EEF8"/>
            </a:solidFill>
            <a:prstDash val="solid"/>
          </a:ln>
        </p:spPr>
      </p:sp>
      <p:pic>
        <p:nvPicPr>
          <p:cNvPr id="24" name="Image 6" descr="World Bank">    </p:cNvPr>
          <p:cNvPicPr>
            <a:picLocks noChangeAspect="1"/>
          </p:cNvPicPr>
          <p:nvPr/>
        </p:nvPicPr>
        <p:blipFill>
          <a:blip r:embed="rId7"/>
          <a:stretch>
            <a:fillRect/>
          </a:stretch>
        </p:blipFill>
        <p:spPr>
          <a:xfrm>
            <a:off x="4581144" y="3127248"/>
            <a:ext cx="237744" cy="237744"/>
          </a:xfrm>
          <a:prstGeom prst="rect">
            <a:avLst/>
          </a:prstGeom>
        </p:spPr>
      </p:pic>
      <p:sp>
        <p:nvSpPr>
          <p:cNvPr id="25" name="Text 16"/>
          <p:cNvSpPr txBox="1"/>
          <p:nvPr/>
        </p:nvSpPr>
        <p:spPr>
          <a:xfrm>
            <a:off x="5065776" y="2999232"/>
            <a:ext cx="2633472" cy="228600"/>
          </a:xfrm>
          <a:prstGeom prst="rect">
            <a:avLst/>
          </a:prstGeom>
          <a:noFill/>
          <a:ln/>
        </p:spPr>
        <p:txBody>
          <a:bodyPr wrap="square" lIns="0" tIns="0" rIns="0" bIns="0" rtlCol="0" anchor="ctr"/>
          <a:lstStyle/>
          <a:p>
            <a:pPr indent="0" marL="0">
              <a:buNone/>
            </a:pPr>
            <a:r>
              <a:rPr lang="en-US" sz="1100" b="1" spc="150" kern="0" dirty="0">
                <a:solidFill>
                  <a:srgbClr val="D20C0C"/>
                </a:solidFill>
              </a:rPr>
              <a:t>WORLD BANK</a:t>
            </a:r>
            <a:endParaRPr lang="en-US" sz="1100" dirty="0"/>
          </a:p>
        </p:txBody>
      </p:sp>
      <p:sp>
        <p:nvSpPr>
          <p:cNvPr id="26" name="Text 17"/>
          <p:cNvSpPr txBox="1"/>
          <p:nvPr/>
        </p:nvSpPr>
        <p:spPr>
          <a:xfrm>
            <a:off x="4489704" y="3566160"/>
            <a:ext cx="3191256" cy="758952"/>
          </a:xfrm>
          <a:prstGeom prst="rect">
            <a:avLst/>
          </a:prstGeom>
          <a:noFill/>
          <a:ln/>
        </p:spPr>
        <p:txBody>
          <a:bodyPr wrap="square" lIns="0" tIns="0" rIns="0" bIns="0" rtlCol="0" anchor="t"/>
          <a:lstStyle/>
          <a:p>
            <a:pPr indent="0" marL="0">
              <a:buNone/>
            </a:pPr>
            <a:r>
              <a:rPr lang="en-US" sz="1600" dirty="0">
                <a:solidFill>
                  <a:srgbClr val="4F6886"/>
                </a:solidFill>
              </a:rPr>
              <a:t>GDP growth, unemployment and inflation the year before each election</a:t>
            </a:r>
            <a:endParaRPr lang="en-US" sz="1600" dirty="0"/>
          </a:p>
        </p:txBody>
      </p:sp>
      <p:sp>
        <p:nvSpPr>
          <p:cNvPr id="27" name="card Kaggle · Sondax polls"/>
          <p:cNvSpPr/>
          <p:nvPr/>
        </p:nvSpPr>
        <p:spPr>
          <a:xfrm>
            <a:off x="8028432" y="2834640"/>
            <a:ext cx="3611880" cy="1600200"/>
          </a:xfrm>
          <a:prstGeom prst="roundRect">
            <a:avLst>
              <a:gd name="adj" fmla="val 4571"/>
            </a:avLst>
          </a:prstGeom>
          <a:solidFill>
            <a:srgbClr val="F1F4F8"/>
          </a:solidFill>
          <a:ln w="9525">
            <a:solidFill>
              <a:srgbClr val="F1F4F8"/>
            </a:solidFill>
            <a:prstDash val="solid"/>
          </a:ln>
        </p:spPr>
      </p:sp>
      <p:sp>
        <p:nvSpPr>
          <p:cNvPr id="28" name="Shape 19"/>
          <p:cNvSpPr/>
          <p:nvPr/>
        </p:nvSpPr>
        <p:spPr>
          <a:xfrm>
            <a:off x="8211312" y="3017520"/>
            <a:ext cx="457200" cy="457200"/>
          </a:xfrm>
          <a:prstGeom prst="ellipse">
            <a:avLst/>
          </a:prstGeom>
          <a:solidFill>
            <a:srgbClr val="E3EEF8"/>
          </a:solidFill>
          <a:ln w="12700">
            <a:solidFill>
              <a:srgbClr val="E3EEF8"/>
            </a:solidFill>
            <a:prstDash val="solid"/>
          </a:ln>
        </p:spPr>
      </p:sp>
      <p:pic>
        <p:nvPicPr>
          <p:cNvPr id="29" name="Image 7" descr="Kaggle · Sondax polls">    </p:cNvPr>
          <p:cNvPicPr>
            <a:picLocks noChangeAspect="1"/>
          </p:cNvPicPr>
          <p:nvPr/>
        </p:nvPicPr>
        <p:blipFill>
          <a:blip r:embed="rId8"/>
          <a:stretch>
            <a:fillRect/>
          </a:stretch>
        </p:blipFill>
        <p:spPr>
          <a:xfrm>
            <a:off x="8321040" y="3127248"/>
            <a:ext cx="237744" cy="237744"/>
          </a:xfrm>
          <a:prstGeom prst="rect">
            <a:avLst/>
          </a:prstGeom>
        </p:spPr>
      </p:pic>
      <p:sp>
        <p:nvSpPr>
          <p:cNvPr id="30" name="Text 20"/>
          <p:cNvSpPr txBox="1"/>
          <p:nvPr/>
        </p:nvSpPr>
        <p:spPr>
          <a:xfrm>
            <a:off x="8805672" y="2999232"/>
            <a:ext cx="2651760" cy="228600"/>
          </a:xfrm>
          <a:prstGeom prst="rect">
            <a:avLst/>
          </a:prstGeom>
          <a:noFill/>
          <a:ln/>
        </p:spPr>
        <p:txBody>
          <a:bodyPr wrap="square" lIns="0" tIns="0" rIns="0" bIns="0" rtlCol="0" anchor="ctr"/>
          <a:lstStyle/>
          <a:p>
            <a:pPr indent="0" marL="0">
              <a:buNone/>
            </a:pPr>
            <a:r>
              <a:rPr lang="en-US" sz="1100" b="1" spc="150" kern="0" dirty="0">
                <a:solidFill>
                  <a:srgbClr val="D20C0C"/>
                </a:solidFill>
              </a:rPr>
              <a:t>KAGGLE · SONDAX POLLS</a:t>
            </a:r>
            <a:endParaRPr lang="en-US" sz="1100" dirty="0"/>
          </a:p>
        </p:txBody>
      </p:sp>
      <p:sp>
        <p:nvSpPr>
          <p:cNvPr id="31" name="Text 21"/>
          <p:cNvSpPr txBox="1"/>
          <p:nvPr/>
        </p:nvSpPr>
        <p:spPr>
          <a:xfrm>
            <a:off x="8229600" y="3566160"/>
            <a:ext cx="3209544" cy="758952"/>
          </a:xfrm>
          <a:prstGeom prst="rect">
            <a:avLst/>
          </a:prstGeom>
          <a:noFill/>
          <a:ln/>
        </p:spPr>
        <p:txBody>
          <a:bodyPr wrap="square" lIns="0" tIns="0" rIns="0" bIns="0" rtlCol="0" anchor="t"/>
          <a:lstStyle/>
          <a:p>
            <a:pPr indent="0" marL="0">
              <a:buNone/>
            </a:pPr>
            <a:r>
              <a:rPr lang="en-US" sz="1600" dirty="0">
                <a:solidFill>
                  <a:srgbClr val="4F6886"/>
                </a:solidFill>
              </a:rPr>
              <a:t>2027 French polls, used only at the end for comparison</a:t>
            </a:r>
            <a:endParaRPr lang="en-US" sz="1600" dirty="0"/>
          </a:p>
        </p:txBody>
      </p:sp>
      <p:sp>
        <p:nvSpPr>
          <p:cNvPr id="32" name="Text 22"/>
          <p:cNvSpPr txBox="1"/>
          <p:nvPr/>
        </p:nvSpPr>
        <p:spPr>
          <a:xfrm>
            <a:off x="548640" y="4663440"/>
            <a:ext cx="5486400" cy="320040"/>
          </a:xfrm>
          <a:prstGeom prst="rect">
            <a:avLst/>
          </a:prstGeom>
          <a:noFill/>
          <a:ln/>
        </p:spPr>
        <p:txBody>
          <a:bodyPr wrap="square" lIns="0" tIns="0" rIns="0" bIns="0" rtlCol="0" anchor="ctr"/>
          <a:lstStyle/>
          <a:p>
            <a:pPr indent="0" marL="0">
              <a:buNone/>
            </a:pPr>
            <a:r>
              <a:rPr lang="en-US" sz="1600" b="1" dirty="0">
                <a:solidFill>
                  <a:srgbClr val="023465"/>
                </a:solidFill>
              </a:rPr>
              <a:t>Cleaning and preparation</a:t>
            </a:r>
            <a:endParaRPr lang="en-US" sz="1600" dirty="0"/>
          </a:p>
        </p:txBody>
      </p:sp>
      <p:sp>
        <p:nvSpPr>
          <p:cNvPr id="33" name="Shape 23"/>
          <p:cNvSpPr/>
          <p:nvPr/>
        </p:nvSpPr>
        <p:spPr>
          <a:xfrm>
            <a:off x="548640" y="5074920"/>
            <a:ext cx="1737360" cy="1234440"/>
          </a:xfrm>
          <a:prstGeom prst="roundRect">
            <a:avLst>
              <a:gd name="adj" fmla="val 4444"/>
            </a:avLst>
          </a:prstGeom>
          <a:solidFill>
            <a:srgbClr val="FFFFFF"/>
          </a:solidFill>
          <a:ln w="12700">
            <a:solidFill>
              <a:srgbClr val="E1E1E1"/>
            </a:solidFill>
            <a:prstDash val="solid"/>
          </a:ln>
        </p:spPr>
      </p:sp>
      <p:sp>
        <p:nvSpPr>
          <p:cNvPr id="34" name="Text 24"/>
          <p:cNvSpPr txBox="1"/>
          <p:nvPr/>
        </p:nvSpPr>
        <p:spPr>
          <a:xfrm>
            <a:off x="685800" y="5184648"/>
            <a:ext cx="365760" cy="320040"/>
          </a:xfrm>
          <a:prstGeom prst="rect">
            <a:avLst/>
          </a:prstGeom>
          <a:noFill/>
          <a:ln/>
        </p:spPr>
        <p:txBody>
          <a:bodyPr wrap="square" lIns="0" tIns="0" rIns="0" bIns="0" rtlCol="0" anchor="ctr"/>
          <a:lstStyle/>
          <a:p>
            <a:pPr indent="0" marL="0">
              <a:buNone/>
            </a:pPr>
            <a:r>
              <a:rPr lang="en-US" sz="1800" b="1" dirty="0">
                <a:solidFill>
                  <a:srgbClr val="D20C0C"/>
                </a:solidFill>
                <a:latin typeface="Arial" pitchFamily="34" charset="0"/>
                <a:ea typeface="Arial" pitchFamily="34" charset="-122"/>
                <a:cs typeface="Arial" pitchFamily="34" charset="-120"/>
              </a:rPr>
              <a:t>1</a:t>
            </a:r>
            <a:endParaRPr lang="en-US" sz="1800" dirty="0"/>
          </a:p>
        </p:txBody>
      </p:sp>
      <p:sp>
        <p:nvSpPr>
          <p:cNvPr id="35" name="Text 25"/>
          <p:cNvSpPr txBox="1"/>
          <p:nvPr/>
        </p:nvSpPr>
        <p:spPr>
          <a:xfrm>
            <a:off x="685800" y="5532120"/>
            <a:ext cx="1481328" cy="713232"/>
          </a:xfrm>
          <a:prstGeom prst="rect">
            <a:avLst/>
          </a:prstGeom>
          <a:noFill/>
          <a:ln/>
        </p:spPr>
        <p:txBody>
          <a:bodyPr wrap="square" lIns="0" tIns="0" rIns="0" bIns="0" rtlCol="0" anchor="t"/>
          <a:lstStyle/>
          <a:p>
            <a:pPr indent="0" marL="0">
              <a:buNone/>
            </a:pPr>
            <a:r>
              <a:rPr lang="en-US" sz="1300" dirty="0">
                <a:solidFill>
                  <a:srgbClr val="023465"/>
                </a:solidFill>
              </a:rPr>
              <a:t>Join the sources by country and year</a:t>
            </a:r>
            <a:endParaRPr lang="en-US" sz="1300" dirty="0"/>
          </a:p>
        </p:txBody>
      </p:sp>
      <p:sp>
        <p:nvSpPr>
          <p:cNvPr id="36" name="Shape 26"/>
          <p:cNvSpPr/>
          <p:nvPr/>
        </p:nvSpPr>
        <p:spPr>
          <a:xfrm>
            <a:off x="2414016" y="5074920"/>
            <a:ext cx="1737360" cy="1234440"/>
          </a:xfrm>
          <a:prstGeom prst="roundRect">
            <a:avLst>
              <a:gd name="adj" fmla="val 4444"/>
            </a:avLst>
          </a:prstGeom>
          <a:solidFill>
            <a:srgbClr val="FFFFFF"/>
          </a:solidFill>
          <a:ln w="12700">
            <a:solidFill>
              <a:srgbClr val="E1E1E1"/>
            </a:solidFill>
            <a:prstDash val="solid"/>
          </a:ln>
        </p:spPr>
      </p:sp>
      <p:sp>
        <p:nvSpPr>
          <p:cNvPr id="37" name="Text 27"/>
          <p:cNvSpPr txBox="1"/>
          <p:nvPr/>
        </p:nvSpPr>
        <p:spPr>
          <a:xfrm>
            <a:off x="2551176" y="5184648"/>
            <a:ext cx="365760" cy="320040"/>
          </a:xfrm>
          <a:prstGeom prst="rect">
            <a:avLst/>
          </a:prstGeom>
          <a:noFill/>
          <a:ln/>
        </p:spPr>
        <p:txBody>
          <a:bodyPr wrap="square" lIns="0" tIns="0" rIns="0" bIns="0" rtlCol="0" anchor="ctr"/>
          <a:lstStyle/>
          <a:p>
            <a:pPr indent="0" marL="0">
              <a:buNone/>
            </a:pPr>
            <a:r>
              <a:rPr lang="en-US" sz="1800" b="1" dirty="0">
                <a:solidFill>
                  <a:srgbClr val="D20C0C"/>
                </a:solidFill>
                <a:latin typeface="Arial" pitchFamily="34" charset="0"/>
                <a:ea typeface="Arial" pitchFamily="34" charset="-122"/>
                <a:cs typeface="Arial" pitchFamily="34" charset="-120"/>
              </a:rPr>
              <a:t>2</a:t>
            </a:r>
            <a:endParaRPr lang="en-US" sz="1800" dirty="0"/>
          </a:p>
        </p:txBody>
      </p:sp>
      <p:sp>
        <p:nvSpPr>
          <p:cNvPr id="38" name="Text 28"/>
          <p:cNvSpPr txBox="1"/>
          <p:nvPr/>
        </p:nvSpPr>
        <p:spPr>
          <a:xfrm>
            <a:off x="2551176" y="5532120"/>
            <a:ext cx="1481328" cy="713232"/>
          </a:xfrm>
          <a:prstGeom prst="rect">
            <a:avLst/>
          </a:prstGeom>
          <a:noFill/>
          <a:ln/>
        </p:spPr>
        <p:txBody>
          <a:bodyPr wrap="square" lIns="0" tIns="0" rIns="0" bIns="0" rtlCol="0" anchor="t"/>
          <a:lstStyle/>
          <a:p>
            <a:pPr indent="0" marL="0">
              <a:buNone/>
            </a:pPr>
            <a:r>
              <a:rPr lang="en-US" sz="1300" dirty="0">
                <a:solidFill>
                  <a:srgbClr val="023465"/>
                </a:solidFill>
              </a:rPr>
              <a:t>Add each party's last two scores</a:t>
            </a:r>
            <a:endParaRPr lang="en-US" sz="1300" dirty="0"/>
          </a:p>
        </p:txBody>
      </p:sp>
      <p:sp>
        <p:nvSpPr>
          <p:cNvPr id="39" name="Shape 29"/>
          <p:cNvSpPr/>
          <p:nvPr/>
        </p:nvSpPr>
        <p:spPr>
          <a:xfrm>
            <a:off x="4279392" y="5074920"/>
            <a:ext cx="1737360" cy="1234440"/>
          </a:xfrm>
          <a:prstGeom prst="roundRect">
            <a:avLst>
              <a:gd name="adj" fmla="val 4444"/>
            </a:avLst>
          </a:prstGeom>
          <a:solidFill>
            <a:srgbClr val="FFFFFF"/>
          </a:solidFill>
          <a:ln w="12700">
            <a:solidFill>
              <a:srgbClr val="E1E1E1"/>
            </a:solidFill>
            <a:prstDash val="solid"/>
          </a:ln>
        </p:spPr>
      </p:sp>
      <p:sp>
        <p:nvSpPr>
          <p:cNvPr id="40" name="Text 30"/>
          <p:cNvSpPr txBox="1"/>
          <p:nvPr/>
        </p:nvSpPr>
        <p:spPr>
          <a:xfrm>
            <a:off x="4416552" y="5184648"/>
            <a:ext cx="365760" cy="320040"/>
          </a:xfrm>
          <a:prstGeom prst="rect">
            <a:avLst/>
          </a:prstGeom>
          <a:noFill/>
          <a:ln/>
        </p:spPr>
        <p:txBody>
          <a:bodyPr wrap="square" lIns="0" tIns="0" rIns="0" bIns="0" rtlCol="0" anchor="ctr"/>
          <a:lstStyle/>
          <a:p>
            <a:pPr indent="0" marL="0">
              <a:buNone/>
            </a:pPr>
            <a:r>
              <a:rPr lang="en-US" sz="1800" b="1" dirty="0">
                <a:solidFill>
                  <a:srgbClr val="D20C0C"/>
                </a:solidFill>
                <a:latin typeface="Arial" pitchFamily="34" charset="0"/>
                <a:ea typeface="Arial" pitchFamily="34" charset="-122"/>
                <a:cs typeface="Arial" pitchFamily="34" charset="-120"/>
              </a:rPr>
              <a:t>3</a:t>
            </a:r>
            <a:endParaRPr lang="en-US" sz="1800" dirty="0"/>
          </a:p>
        </p:txBody>
      </p:sp>
      <p:sp>
        <p:nvSpPr>
          <p:cNvPr id="41" name="Text 31"/>
          <p:cNvSpPr txBox="1"/>
          <p:nvPr/>
        </p:nvSpPr>
        <p:spPr>
          <a:xfrm>
            <a:off x="4416552" y="5532120"/>
            <a:ext cx="1481328" cy="713232"/>
          </a:xfrm>
          <a:prstGeom prst="rect">
            <a:avLst/>
          </a:prstGeom>
          <a:noFill/>
          <a:ln/>
        </p:spPr>
        <p:txBody>
          <a:bodyPr wrap="square" lIns="0" tIns="0" rIns="0" bIns="0" rtlCol="0" anchor="t"/>
          <a:lstStyle/>
          <a:p>
            <a:pPr indent="0" marL="0">
              <a:buNone/>
            </a:pPr>
            <a:r>
              <a:rPr lang="en-US" sz="1300" dirty="0">
                <a:solidFill>
                  <a:srgbClr val="023465"/>
                </a:solidFill>
              </a:rPr>
              <a:t>Keep only pre-election information</a:t>
            </a:r>
            <a:endParaRPr lang="en-US" sz="1300" dirty="0"/>
          </a:p>
        </p:txBody>
      </p:sp>
      <p:sp>
        <p:nvSpPr>
          <p:cNvPr id="42" name="Shape 32"/>
          <p:cNvSpPr/>
          <p:nvPr/>
        </p:nvSpPr>
        <p:spPr>
          <a:xfrm>
            <a:off x="6144768" y="5074920"/>
            <a:ext cx="1737360" cy="1234440"/>
          </a:xfrm>
          <a:prstGeom prst="roundRect">
            <a:avLst>
              <a:gd name="adj" fmla="val 4444"/>
            </a:avLst>
          </a:prstGeom>
          <a:solidFill>
            <a:srgbClr val="FFFFFF"/>
          </a:solidFill>
          <a:ln w="12700">
            <a:solidFill>
              <a:srgbClr val="E1E1E1"/>
            </a:solidFill>
            <a:prstDash val="solid"/>
          </a:ln>
        </p:spPr>
      </p:sp>
      <p:sp>
        <p:nvSpPr>
          <p:cNvPr id="43" name="Text 33"/>
          <p:cNvSpPr txBox="1"/>
          <p:nvPr/>
        </p:nvSpPr>
        <p:spPr>
          <a:xfrm>
            <a:off x="6281928" y="5184648"/>
            <a:ext cx="365760" cy="320040"/>
          </a:xfrm>
          <a:prstGeom prst="rect">
            <a:avLst/>
          </a:prstGeom>
          <a:noFill/>
          <a:ln/>
        </p:spPr>
        <p:txBody>
          <a:bodyPr wrap="square" lIns="0" tIns="0" rIns="0" bIns="0" rtlCol="0" anchor="ctr"/>
          <a:lstStyle/>
          <a:p>
            <a:pPr indent="0" marL="0">
              <a:buNone/>
            </a:pPr>
            <a:r>
              <a:rPr lang="en-US" sz="1800" b="1" dirty="0">
                <a:solidFill>
                  <a:srgbClr val="D20C0C"/>
                </a:solidFill>
                <a:latin typeface="Arial" pitchFamily="34" charset="0"/>
                <a:ea typeface="Arial" pitchFamily="34" charset="-122"/>
                <a:cs typeface="Arial" pitchFamily="34" charset="-120"/>
              </a:rPr>
              <a:t>4</a:t>
            </a:r>
            <a:endParaRPr lang="en-US" sz="1800" dirty="0"/>
          </a:p>
        </p:txBody>
      </p:sp>
      <p:sp>
        <p:nvSpPr>
          <p:cNvPr id="44" name="Text 34"/>
          <p:cNvSpPr txBox="1"/>
          <p:nvPr/>
        </p:nvSpPr>
        <p:spPr>
          <a:xfrm>
            <a:off x="6281928" y="5532120"/>
            <a:ext cx="1481328" cy="713232"/>
          </a:xfrm>
          <a:prstGeom prst="rect">
            <a:avLst/>
          </a:prstGeom>
          <a:noFill/>
          <a:ln/>
        </p:spPr>
        <p:txBody>
          <a:bodyPr wrap="square" lIns="0" tIns="0" rIns="0" bIns="0" rtlCol="0" anchor="t"/>
          <a:lstStyle/>
          <a:p>
            <a:pPr indent="0" marL="0">
              <a:buNone/>
            </a:pPr>
            <a:r>
              <a:rPr lang="en-US" sz="1300" dirty="0">
                <a:solidFill>
                  <a:srgbClr val="023465"/>
                </a:solidFill>
              </a:rPr>
              <a:t>Fill missing values with the median</a:t>
            </a:r>
            <a:endParaRPr lang="en-US" sz="1300" dirty="0"/>
          </a:p>
        </p:txBody>
      </p:sp>
      <p:sp>
        <p:nvSpPr>
          <p:cNvPr id="45" name="Shape 35"/>
          <p:cNvSpPr/>
          <p:nvPr/>
        </p:nvSpPr>
        <p:spPr>
          <a:xfrm>
            <a:off x="8010144" y="5074920"/>
            <a:ext cx="1737360" cy="1234440"/>
          </a:xfrm>
          <a:prstGeom prst="roundRect">
            <a:avLst>
              <a:gd name="adj" fmla="val 4444"/>
            </a:avLst>
          </a:prstGeom>
          <a:solidFill>
            <a:srgbClr val="FFFFFF"/>
          </a:solidFill>
          <a:ln w="12700">
            <a:solidFill>
              <a:srgbClr val="E1E1E1"/>
            </a:solidFill>
            <a:prstDash val="solid"/>
          </a:ln>
        </p:spPr>
      </p:sp>
      <p:sp>
        <p:nvSpPr>
          <p:cNvPr id="46" name="Text 36"/>
          <p:cNvSpPr txBox="1"/>
          <p:nvPr/>
        </p:nvSpPr>
        <p:spPr>
          <a:xfrm>
            <a:off x="8147304" y="5184648"/>
            <a:ext cx="365760" cy="320040"/>
          </a:xfrm>
          <a:prstGeom prst="rect">
            <a:avLst/>
          </a:prstGeom>
          <a:noFill/>
          <a:ln/>
        </p:spPr>
        <p:txBody>
          <a:bodyPr wrap="square" lIns="0" tIns="0" rIns="0" bIns="0" rtlCol="0" anchor="ctr"/>
          <a:lstStyle/>
          <a:p>
            <a:pPr indent="0" marL="0">
              <a:buNone/>
            </a:pPr>
            <a:r>
              <a:rPr lang="en-US" sz="1800" b="1" dirty="0">
                <a:solidFill>
                  <a:srgbClr val="D20C0C"/>
                </a:solidFill>
                <a:latin typeface="Arial" pitchFamily="34" charset="0"/>
                <a:ea typeface="Arial" pitchFamily="34" charset="-122"/>
                <a:cs typeface="Arial" pitchFamily="34" charset="-120"/>
              </a:rPr>
              <a:t>5</a:t>
            </a:r>
            <a:endParaRPr lang="en-US" sz="1800" dirty="0"/>
          </a:p>
        </p:txBody>
      </p:sp>
      <p:sp>
        <p:nvSpPr>
          <p:cNvPr id="47" name="Text 37"/>
          <p:cNvSpPr txBox="1"/>
          <p:nvPr/>
        </p:nvSpPr>
        <p:spPr>
          <a:xfrm>
            <a:off x="8147304" y="5532120"/>
            <a:ext cx="1481328" cy="713232"/>
          </a:xfrm>
          <a:prstGeom prst="rect">
            <a:avLst/>
          </a:prstGeom>
          <a:noFill/>
          <a:ln/>
        </p:spPr>
        <p:txBody>
          <a:bodyPr wrap="square" lIns="0" tIns="0" rIns="0" bIns="0" rtlCol="0" anchor="t"/>
          <a:lstStyle/>
          <a:p>
            <a:pPr indent="0" marL="0">
              <a:buNone/>
            </a:pPr>
            <a:r>
              <a:rPr lang="en-US" sz="1300" dirty="0">
                <a:solidFill>
                  <a:srgbClr val="023465"/>
                </a:solidFill>
              </a:rPr>
              <a:t>Scale numbers, one-hot encode party family</a:t>
            </a:r>
            <a:endParaRPr lang="en-US" sz="1300" dirty="0"/>
          </a:p>
        </p:txBody>
      </p:sp>
      <p:sp>
        <p:nvSpPr>
          <p:cNvPr id="48" name="Shape 38"/>
          <p:cNvSpPr/>
          <p:nvPr/>
        </p:nvSpPr>
        <p:spPr>
          <a:xfrm>
            <a:off x="9875520" y="5074920"/>
            <a:ext cx="1737360" cy="1234440"/>
          </a:xfrm>
          <a:prstGeom prst="roundRect">
            <a:avLst>
              <a:gd name="adj" fmla="val 4444"/>
            </a:avLst>
          </a:prstGeom>
          <a:solidFill>
            <a:srgbClr val="FFFFFF"/>
          </a:solidFill>
          <a:ln w="12700">
            <a:solidFill>
              <a:srgbClr val="E1E1E1"/>
            </a:solidFill>
            <a:prstDash val="solid"/>
          </a:ln>
        </p:spPr>
      </p:sp>
      <p:sp>
        <p:nvSpPr>
          <p:cNvPr id="49" name="Text 39"/>
          <p:cNvSpPr txBox="1"/>
          <p:nvPr/>
        </p:nvSpPr>
        <p:spPr>
          <a:xfrm>
            <a:off x="10012680" y="5184648"/>
            <a:ext cx="365760" cy="320040"/>
          </a:xfrm>
          <a:prstGeom prst="rect">
            <a:avLst/>
          </a:prstGeom>
          <a:noFill/>
          <a:ln/>
        </p:spPr>
        <p:txBody>
          <a:bodyPr wrap="square" lIns="0" tIns="0" rIns="0" bIns="0" rtlCol="0" anchor="ctr"/>
          <a:lstStyle/>
          <a:p>
            <a:pPr indent="0" marL="0">
              <a:buNone/>
            </a:pPr>
            <a:r>
              <a:rPr lang="en-US" sz="1800" b="1" dirty="0">
                <a:solidFill>
                  <a:srgbClr val="D20C0C"/>
                </a:solidFill>
                <a:latin typeface="Arial" pitchFamily="34" charset="0"/>
                <a:ea typeface="Arial" pitchFamily="34" charset="-122"/>
                <a:cs typeface="Arial" pitchFamily="34" charset="-120"/>
              </a:rPr>
              <a:t>6</a:t>
            </a:r>
            <a:endParaRPr lang="en-US" sz="1800" dirty="0"/>
          </a:p>
        </p:txBody>
      </p:sp>
      <p:sp>
        <p:nvSpPr>
          <p:cNvPr id="50" name="Text 40"/>
          <p:cNvSpPr txBox="1"/>
          <p:nvPr/>
        </p:nvSpPr>
        <p:spPr>
          <a:xfrm>
            <a:off x="10012680" y="5532120"/>
            <a:ext cx="1481328" cy="713232"/>
          </a:xfrm>
          <a:prstGeom prst="rect">
            <a:avLst/>
          </a:prstGeom>
          <a:noFill/>
          <a:ln/>
        </p:spPr>
        <p:txBody>
          <a:bodyPr wrap="square" lIns="0" tIns="0" rIns="0" bIns="0" rtlCol="0" anchor="t"/>
          <a:lstStyle/>
          <a:p>
            <a:pPr indent="0" marL="0">
              <a:buNone/>
            </a:pPr>
            <a:r>
              <a:rPr lang="en-US" sz="1300" dirty="0">
                <a:solidFill>
                  <a:srgbClr val="023465"/>
                </a:solidFill>
              </a:rPr>
              <a:t>France 2024 by hand, only for 2027</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688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320040"/>
          </a:xfrm>
          <a:prstGeom prst="rect">
            <a:avLst/>
          </a:prstGeom>
          <a:noFill/>
          <a:ln/>
        </p:spPr>
        <p:txBody>
          <a:bodyPr wrap="square" lIns="0" tIns="0" rIns="0" bIns="0" rtlCol="0" anchor="t"/>
          <a:lstStyle/>
          <a:p>
            <a:pPr indent="0" marL="0">
              <a:buNone/>
            </a:pPr>
            <a:r>
              <a:rPr lang="en-US" sz="1200" b="1" spc="200" kern="0" dirty="0">
                <a:solidFill>
                  <a:srgbClr val="D20C0C"/>
                </a:solidFill>
              </a:rPr>
              <a:t>HOW I TEST THE MODELS</a:t>
            </a:r>
            <a:endParaRPr lang="en-US" sz="12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400" b="1" dirty="0">
                <a:solidFill>
                  <a:srgbClr val="023465"/>
                </a:solidFill>
                <a:latin typeface="Arial" pitchFamily="34" charset="0"/>
                <a:ea typeface="Arial" pitchFamily="34" charset="-122"/>
                <a:cs typeface="Arial" pitchFamily="34" charset="-120"/>
              </a:rPr>
              <a:t>Learn from the past, test on the future</a:t>
            </a:r>
            <a:endParaRPr lang="en-US" sz="3400" dirty="0"/>
          </a:p>
        </p:txBody>
      </p:sp>
      <p:sp>
        <p:nvSpPr>
          <p:cNvPr id="4" name="Text 2"/>
          <p:cNvSpPr txBox="1"/>
          <p:nvPr/>
        </p:nvSpPr>
        <p:spPr>
          <a:xfrm>
            <a:off x="548640" y="1737360"/>
            <a:ext cx="3657600" cy="320040"/>
          </a:xfrm>
          <a:prstGeom prst="rect">
            <a:avLst/>
          </a:prstGeom>
          <a:noFill/>
          <a:ln/>
        </p:spPr>
        <p:txBody>
          <a:bodyPr wrap="square" lIns="0" tIns="0" rIns="0" bIns="0" rtlCol="0" anchor="ctr"/>
          <a:lstStyle/>
          <a:p>
            <a:pPr indent="0" marL="0">
              <a:buNone/>
            </a:pPr>
            <a:r>
              <a:rPr lang="en-US" sz="1600" b="1" dirty="0">
                <a:solidFill>
                  <a:srgbClr val="023465"/>
                </a:solidFill>
              </a:rPr>
              <a:t>Time-based split</a:t>
            </a:r>
            <a:endParaRPr lang="en-US" sz="1600" dirty="0"/>
          </a:p>
        </p:txBody>
      </p:sp>
      <p:sp>
        <p:nvSpPr>
          <p:cNvPr id="5" name="Shape 3"/>
          <p:cNvSpPr/>
          <p:nvPr/>
        </p:nvSpPr>
        <p:spPr>
          <a:xfrm>
            <a:off x="7223760" y="1819656"/>
            <a:ext cx="164592" cy="164592"/>
          </a:xfrm>
          <a:prstGeom prst="roundRect">
            <a:avLst>
              <a:gd name="adj" fmla="val 16667"/>
            </a:avLst>
          </a:prstGeom>
          <a:solidFill>
            <a:srgbClr val="CACACA"/>
          </a:solidFill>
          <a:ln w="12700">
            <a:solidFill>
              <a:srgbClr val="CACACA"/>
            </a:solidFill>
            <a:prstDash val="solid"/>
          </a:ln>
        </p:spPr>
      </p:sp>
      <p:sp>
        <p:nvSpPr>
          <p:cNvPr id="6" name="Text 4"/>
          <p:cNvSpPr txBox="1"/>
          <p:nvPr/>
        </p:nvSpPr>
        <p:spPr>
          <a:xfrm>
            <a:off x="7452360" y="1755648"/>
            <a:ext cx="2377440" cy="292608"/>
          </a:xfrm>
          <a:prstGeom prst="rect">
            <a:avLst/>
          </a:prstGeom>
          <a:noFill/>
          <a:ln/>
        </p:spPr>
        <p:txBody>
          <a:bodyPr wrap="square" lIns="0" tIns="0" rIns="0" bIns="0" rtlCol="0" anchor="ctr"/>
          <a:lstStyle/>
          <a:p>
            <a:pPr indent="0" marL="0">
              <a:buNone/>
            </a:pPr>
            <a:r>
              <a:rPr lang="en-US" sz="1300" dirty="0">
                <a:solidFill>
                  <a:srgbClr val="4F6886"/>
                </a:solidFill>
              </a:rPr>
              <a:t>Train: 1991–2014</a:t>
            </a:r>
            <a:endParaRPr lang="en-US" sz="1300" dirty="0"/>
          </a:p>
        </p:txBody>
      </p:sp>
      <p:sp>
        <p:nvSpPr>
          <p:cNvPr id="7" name="Shape 5"/>
          <p:cNvSpPr/>
          <p:nvPr/>
        </p:nvSpPr>
        <p:spPr>
          <a:xfrm>
            <a:off x="9061704" y="1819656"/>
            <a:ext cx="164592" cy="164592"/>
          </a:xfrm>
          <a:prstGeom prst="roundRect">
            <a:avLst>
              <a:gd name="adj" fmla="val 16667"/>
            </a:avLst>
          </a:prstGeom>
          <a:solidFill>
            <a:srgbClr val="D20C0C"/>
          </a:solidFill>
          <a:ln w="12700">
            <a:solidFill>
              <a:srgbClr val="D20C0C"/>
            </a:solidFill>
            <a:prstDash val="solid"/>
          </a:ln>
        </p:spPr>
      </p:sp>
      <p:sp>
        <p:nvSpPr>
          <p:cNvPr id="8" name="Text 6"/>
          <p:cNvSpPr txBox="1"/>
          <p:nvPr/>
        </p:nvSpPr>
        <p:spPr>
          <a:xfrm>
            <a:off x="9290304" y="1755648"/>
            <a:ext cx="2377440" cy="292608"/>
          </a:xfrm>
          <a:prstGeom prst="rect">
            <a:avLst/>
          </a:prstGeom>
          <a:noFill/>
          <a:ln/>
        </p:spPr>
        <p:txBody>
          <a:bodyPr wrap="square" lIns="0" tIns="0" rIns="0" bIns="0" rtlCol="0" anchor="ctr"/>
          <a:lstStyle/>
          <a:p>
            <a:pPr indent="0" marL="0">
              <a:buNone/>
            </a:pPr>
            <a:r>
              <a:rPr lang="en-US" sz="1300" dirty="0">
                <a:solidFill>
                  <a:srgbClr val="4F6886"/>
                </a:solidFill>
              </a:rPr>
              <a:t>Test: 2015–2023</a:t>
            </a:r>
            <a:endParaRPr lang="en-US" sz="1300" dirty="0"/>
          </a:p>
        </p:txBody>
      </p:sp>
      <p:sp>
        <p:nvSpPr>
          <p:cNvPr id="9" name="Shape 7"/>
          <p:cNvSpPr/>
          <p:nvPr/>
        </p:nvSpPr>
        <p:spPr>
          <a:xfrm>
            <a:off x="548640" y="2194560"/>
            <a:ext cx="299535" cy="502920"/>
          </a:xfrm>
          <a:prstGeom prst="rect">
            <a:avLst/>
          </a:prstGeom>
          <a:solidFill>
            <a:srgbClr val="CACACA"/>
          </a:solidFill>
          <a:ln w="12700">
            <a:solidFill>
              <a:srgbClr val="CACACA"/>
            </a:solidFill>
            <a:prstDash val="solid"/>
          </a:ln>
        </p:spPr>
      </p:sp>
      <p:sp>
        <p:nvSpPr>
          <p:cNvPr id="10" name="Shape 8"/>
          <p:cNvSpPr/>
          <p:nvPr/>
        </p:nvSpPr>
        <p:spPr>
          <a:xfrm>
            <a:off x="884751" y="2194560"/>
            <a:ext cx="299535" cy="502920"/>
          </a:xfrm>
          <a:prstGeom prst="rect">
            <a:avLst/>
          </a:prstGeom>
          <a:solidFill>
            <a:srgbClr val="CACACA"/>
          </a:solidFill>
          <a:ln w="12700">
            <a:solidFill>
              <a:srgbClr val="CACACA"/>
            </a:solidFill>
            <a:prstDash val="solid"/>
          </a:ln>
        </p:spPr>
      </p:sp>
      <p:sp>
        <p:nvSpPr>
          <p:cNvPr id="11" name="Shape 9"/>
          <p:cNvSpPr/>
          <p:nvPr/>
        </p:nvSpPr>
        <p:spPr>
          <a:xfrm>
            <a:off x="1220863" y="2194560"/>
            <a:ext cx="299535" cy="502920"/>
          </a:xfrm>
          <a:prstGeom prst="rect">
            <a:avLst/>
          </a:prstGeom>
          <a:solidFill>
            <a:srgbClr val="CACACA"/>
          </a:solidFill>
          <a:ln w="12700">
            <a:solidFill>
              <a:srgbClr val="CACACA"/>
            </a:solidFill>
            <a:prstDash val="solid"/>
          </a:ln>
        </p:spPr>
      </p:sp>
      <p:sp>
        <p:nvSpPr>
          <p:cNvPr id="12" name="Shape 10"/>
          <p:cNvSpPr/>
          <p:nvPr/>
        </p:nvSpPr>
        <p:spPr>
          <a:xfrm>
            <a:off x="1556974" y="2194560"/>
            <a:ext cx="299535" cy="502920"/>
          </a:xfrm>
          <a:prstGeom prst="rect">
            <a:avLst/>
          </a:prstGeom>
          <a:solidFill>
            <a:srgbClr val="CACACA"/>
          </a:solidFill>
          <a:ln w="12700">
            <a:solidFill>
              <a:srgbClr val="CACACA"/>
            </a:solidFill>
            <a:prstDash val="solid"/>
          </a:ln>
        </p:spPr>
      </p:sp>
      <p:sp>
        <p:nvSpPr>
          <p:cNvPr id="13" name="Shape 11"/>
          <p:cNvSpPr/>
          <p:nvPr/>
        </p:nvSpPr>
        <p:spPr>
          <a:xfrm>
            <a:off x="1893085" y="2194560"/>
            <a:ext cx="299535" cy="502920"/>
          </a:xfrm>
          <a:prstGeom prst="rect">
            <a:avLst/>
          </a:prstGeom>
          <a:solidFill>
            <a:srgbClr val="CACACA"/>
          </a:solidFill>
          <a:ln w="12700">
            <a:solidFill>
              <a:srgbClr val="CACACA"/>
            </a:solidFill>
            <a:prstDash val="solid"/>
          </a:ln>
        </p:spPr>
      </p:sp>
      <p:sp>
        <p:nvSpPr>
          <p:cNvPr id="14" name="Shape 12"/>
          <p:cNvSpPr/>
          <p:nvPr/>
        </p:nvSpPr>
        <p:spPr>
          <a:xfrm>
            <a:off x="2229196" y="2194560"/>
            <a:ext cx="299535" cy="502920"/>
          </a:xfrm>
          <a:prstGeom prst="rect">
            <a:avLst/>
          </a:prstGeom>
          <a:solidFill>
            <a:srgbClr val="CACACA"/>
          </a:solidFill>
          <a:ln w="12700">
            <a:solidFill>
              <a:srgbClr val="CACACA"/>
            </a:solidFill>
            <a:prstDash val="solid"/>
          </a:ln>
        </p:spPr>
      </p:sp>
      <p:sp>
        <p:nvSpPr>
          <p:cNvPr id="15" name="Shape 13"/>
          <p:cNvSpPr/>
          <p:nvPr/>
        </p:nvSpPr>
        <p:spPr>
          <a:xfrm>
            <a:off x="2565308" y="2194560"/>
            <a:ext cx="299535" cy="502920"/>
          </a:xfrm>
          <a:prstGeom prst="rect">
            <a:avLst/>
          </a:prstGeom>
          <a:solidFill>
            <a:srgbClr val="CACACA"/>
          </a:solidFill>
          <a:ln w="12700">
            <a:solidFill>
              <a:srgbClr val="CACACA"/>
            </a:solidFill>
            <a:prstDash val="solid"/>
          </a:ln>
        </p:spPr>
      </p:sp>
      <p:sp>
        <p:nvSpPr>
          <p:cNvPr id="16" name="Shape 14"/>
          <p:cNvSpPr/>
          <p:nvPr/>
        </p:nvSpPr>
        <p:spPr>
          <a:xfrm>
            <a:off x="2901419" y="2194560"/>
            <a:ext cx="299535" cy="502920"/>
          </a:xfrm>
          <a:prstGeom prst="rect">
            <a:avLst/>
          </a:prstGeom>
          <a:solidFill>
            <a:srgbClr val="CACACA"/>
          </a:solidFill>
          <a:ln w="12700">
            <a:solidFill>
              <a:srgbClr val="CACACA"/>
            </a:solidFill>
            <a:prstDash val="solid"/>
          </a:ln>
        </p:spPr>
      </p:sp>
      <p:sp>
        <p:nvSpPr>
          <p:cNvPr id="17" name="Shape 15"/>
          <p:cNvSpPr/>
          <p:nvPr/>
        </p:nvSpPr>
        <p:spPr>
          <a:xfrm>
            <a:off x="3237530" y="2194560"/>
            <a:ext cx="299535" cy="502920"/>
          </a:xfrm>
          <a:prstGeom prst="rect">
            <a:avLst/>
          </a:prstGeom>
          <a:solidFill>
            <a:srgbClr val="CACACA"/>
          </a:solidFill>
          <a:ln w="12700">
            <a:solidFill>
              <a:srgbClr val="CACACA"/>
            </a:solidFill>
            <a:prstDash val="solid"/>
          </a:ln>
        </p:spPr>
      </p:sp>
      <p:sp>
        <p:nvSpPr>
          <p:cNvPr id="18" name="Shape 16"/>
          <p:cNvSpPr/>
          <p:nvPr/>
        </p:nvSpPr>
        <p:spPr>
          <a:xfrm>
            <a:off x="3573641" y="2194560"/>
            <a:ext cx="299535" cy="502920"/>
          </a:xfrm>
          <a:prstGeom prst="rect">
            <a:avLst/>
          </a:prstGeom>
          <a:solidFill>
            <a:srgbClr val="CACACA"/>
          </a:solidFill>
          <a:ln w="12700">
            <a:solidFill>
              <a:srgbClr val="CACACA"/>
            </a:solidFill>
            <a:prstDash val="solid"/>
          </a:ln>
        </p:spPr>
      </p:sp>
      <p:sp>
        <p:nvSpPr>
          <p:cNvPr id="19" name="Shape 17"/>
          <p:cNvSpPr/>
          <p:nvPr/>
        </p:nvSpPr>
        <p:spPr>
          <a:xfrm>
            <a:off x="3909753" y="2194560"/>
            <a:ext cx="299535" cy="502920"/>
          </a:xfrm>
          <a:prstGeom prst="rect">
            <a:avLst/>
          </a:prstGeom>
          <a:solidFill>
            <a:srgbClr val="CACACA"/>
          </a:solidFill>
          <a:ln w="12700">
            <a:solidFill>
              <a:srgbClr val="CACACA"/>
            </a:solidFill>
            <a:prstDash val="solid"/>
          </a:ln>
        </p:spPr>
      </p:sp>
      <p:sp>
        <p:nvSpPr>
          <p:cNvPr id="20" name="Shape 18"/>
          <p:cNvSpPr/>
          <p:nvPr/>
        </p:nvSpPr>
        <p:spPr>
          <a:xfrm>
            <a:off x="4245864" y="2194560"/>
            <a:ext cx="299535" cy="502920"/>
          </a:xfrm>
          <a:prstGeom prst="rect">
            <a:avLst/>
          </a:prstGeom>
          <a:solidFill>
            <a:srgbClr val="CACACA"/>
          </a:solidFill>
          <a:ln w="12700">
            <a:solidFill>
              <a:srgbClr val="CACACA"/>
            </a:solidFill>
            <a:prstDash val="solid"/>
          </a:ln>
        </p:spPr>
      </p:sp>
      <p:sp>
        <p:nvSpPr>
          <p:cNvPr id="21" name="Shape 19"/>
          <p:cNvSpPr/>
          <p:nvPr/>
        </p:nvSpPr>
        <p:spPr>
          <a:xfrm>
            <a:off x="4581975" y="2194560"/>
            <a:ext cx="299535" cy="502920"/>
          </a:xfrm>
          <a:prstGeom prst="rect">
            <a:avLst/>
          </a:prstGeom>
          <a:solidFill>
            <a:srgbClr val="CACACA"/>
          </a:solidFill>
          <a:ln w="12700">
            <a:solidFill>
              <a:srgbClr val="CACACA"/>
            </a:solidFill>
            <a:prstDash val="solid"/>
          </a:ln>
        </p:spPr>
      </p:sp>
      <p:sp>
        <p:nvSpPr>
          <p:cNvPr id="22" name="Shape 20"/>
          <p:cNvSpPr/>
          <p:nvPr/>
        </p:nvSpPr>
        <p:spPr>
          <a:xfrm>
            <a:off x="4918087" y="2194560"/>
            <a:ext cx="299535" cy="502920"/>
          </a:xfrm>
          <a:prstGeom prst="rect">
            <a:avLst/>
          </a:prstGeom>
          <a:solidFill>
            <a:srgbClr val="CACACA"/>
          </a:solidFill>
          <a:ln w="12700">
            <a:solidFill>
              <a:srgbClr val="CACACA"/>
            </a:solidFill>
            <a:prstDash val="solid"/>
          </a:ln>
        </p:spPr>
      </p:sp>
      <p:sp>
        <p:nvSpPr>
          <p:cNvPr id="23" name="Shape 21"/>
          <p:cNvSpPr/>
          <p:nvPr/>
        </p:nvSpPr>
        <p:spPr>
          <a:xfrm>
            <a:off x="5254198" y="2194560"/>
            <a:ext cx="299535" cy="502920"/>
          </a:xfrm>
          <a:prstGeom prst="rect">
            <a:avLst/>
          </a:prstGeom>
          <a:solidFill>
            <a:srgbClr val="CACACA"/>
          </a:solidFill>
          <a:ln w="12700">
            <a:solidFill>
              <a:srgbClr val="CACACA"/>
            </a:solidFill>
            <a:prstDash val="solid"/>
          </a:ln>
        </p:spPr>
      </p:sp>
      <p:sp>
        <p:nvSpPr>
          <p:cNvPr id="24" name="Shape 22"/>
          <p:cNvSpPr/>
          <p:nvPr/>
        </p:nvSpPr>
        <p:spPr>
          <a:xfrm>
            <a:off x="5590309" y="2194560"/>
            <a:ext cx="299535" cy="502920"/>
          </a:xfrm>
          <a:prstGeom prst="rect">
            <a:avLst/>
          </a:prstGeom>
          <a:solidFill>
            <a:srgbClr val="CACACA"/>
          </a:solidFill>
          <a:ln w="12700">
            <a:solidFill>
              <a:srgbClr val="CACACA"/>
            </a:solidFill>
            <a:prstDash val="solid"/>
          </a:ln>
        </p:spPr>
      </p:sp>
      <p:sp>
        <p:nvSpPr>
          <p:cNvPr id="25" name="Shape 23"/>
          <p:cNvSpPr/>
          <p:nvPr/>
        </p:nvSpPr>
        <p:spPr>
          <a:xfrm>
            <a:off x="5926420" y="2194560"/>
            <a:ext cx="299535" cy="502920"/>
          </a:xfrm>
          <a:prstGeom prst="rect">
            <a:avLst/>
          </a:prstGeom>
          <a:solidFill>
            <a:srgbClr val="CACACA"/>
          </a:solidFill>
          <a:ln w="12700">
            <a:solidFill>
              <a:srgbClr val="CACACA"/>
            </a:solidFill>
            <a:prstDash val="solid"/>
          </a:ln>
        </p:spPr>
      </p:sp>
      <p:sp>
        <p:nvSpPr>
          <p:cNvPr id="26" name="Shape 24"/>
          <p:cNvSpPr/>
          <p:nvPr/>
        </p:nvSpPr>
        <p:spPr>
          <a:xfrm>
            <a:off x="6262532" y="2194560"/>
            <a:ext cx="299535" cy="502920"/>
          </a:xfrm>
          <a:prstGeom prst="rect">
            <a:avLst/>
          </a:prstGeom>
          <a:solidFill>
            <a:srgbClr val="CACACA"/>
          </a:solidFill>
          <a:ln w="12700">
            <a:solidFill>
              <a:srgbClr val="CACACA"/>
            </a:solidFill>
            <a:prstDash val="solid"/>
          </a:ln>
        </p:spPr>
      </p:sp>
      <p:sp>
        <p:nvSpPr>
          <p:cNvPr id="27" name="Shape 25"/>
          <p:cNvSpPr/>
          <p:nvPr/>
        </p:nvSpPr>
        <p:spPr>
          <a:xfrm>
            <a:off x="6598643" y="2194560"/>
            <a:ext cx="299535" cy="502920"/>
          </a:xfrm>
          <a:prstGeom prst="rect">
            <a:avLst/>
          </a:prstGeom>
          <a:solidFill>
            <a:srgbClr val="CACACA"/>
          </a:solidFill>
          <a:ln w="12700">
            <a:solidFill>
              <a:srgbClr val="CACACA"/>
            </a:solidFill>
            <a:prstDash val="solid"/>
          </a:ln>
        </p:spPr>
      </p:sp>
      <p:sp>
        <p:nvSpPr>
          <p:cNvPr id="28" name="Shape 26"/>
          <p:cNvSpPr/>
          <p:nvPr/>
        </p:nvSpPr>
        <p:spPr>
          <a:xfrm>
            <a:off x="6934754" y="2194560"/>
            <a:ext cx="299535" cy="502920"/>
          </a:xfrm>
          <a:prstGeom prst="rect">
            <a:avLst/>
          </a:prstGeom>
          <a:solidFill>
            <a:srgbClr val="CACACA"/>
          </a:solidFill>
          <a:ln w="12700">
            <a:solidFill>
              <a:srgbClr val="CACACA"/>
            </a:solidFill>
            <a:prstDash val="solid"/>
          </a:ln>
        </p:spPr>
      </p:sp>
      <p:sp>
        <p:nvSpPr>
          <p:cNvPr id="29" name="Shape 27"/>
          <p:cNvSpPr/>
          <p:nvPr/>
        </p:nvSpPr>
        <p:spPr>
          <a:xfrm>
            <a:off x="7270865" y="2194560"/>
            <a:ext cx="299535" cy="502920"/>
          </a:xfrm>
          <a:prstGeom prst="rect">
            <a:avLst/>
          </a:prstGeom>
          <a:solidFill>
            <a:srgbClr val="CACACA"/>
          </a:solidFill>
          <a:ln w="12700">
            <a:solidFill>
              <a:srgbClr val="CACACA"/>
            </a:solidFill>
            <a:prstDash val="solid"/>
          </a:ln>
        </p:spPr>
      </p:sp>
      <p:sp>
        <p:nvSpPr>
          <p:cNvPr id="30" name="Shape 28"/>
          <p:cNvSpPr/>
          <p:nvPr/>
        </p:nvSpPr>
        <p:spPr>
          <a:xfrm>
            <a:off x="7606977" y="2194560"/>
            <a:ext cx="299535" cy="502920"/>
          </a:xfrm>
          <a:prstGeom prst="rect">
            <a:avLst/>
          </a:prstGeom>
          <a:solidFill>
            <a:srgbClr val="CACACA"/>
          </a:solidFill>
          <a:ln w="12700">
            <a:solidFill>
              <a:srgbClr val="CACACA"/>
            </a:solidFill>
            <a:prstDash val="solid"/>
          </a:ln>
        </p:spPr>
      </p:sp>
      <p:sp>
        <p:nvSpPr>
          <p:cNvPr id="31" name="Shape 29"/>
          <p:cNvSpPr/>
          <p:nvPr/>
        </p:nvSpPr>
        <p:spPr>
          <a:xfrm>
            <a:off x="7943088" y="2194560"/>
            <a:ext cx="299535" cy="502920"/>
          </a:xfrm>
          <a:prstGeom prst="rect">
            <a:avLst/>
          </a:prstGeom>
          <a:solidFill>
            <a:srgbClr val="CACACA"/>
          </a:solidFill>
          <a:ln w="12700">
            <a:solidFill>
              <a:srgbClr val="CACACA"/>
            </a:solidFill>
            <a:prstDash val="solid"/>
          </a:ln>
        </p:spPr>
      </p:sp>
      <p:sp>
        <p:nvSpPr>
          <p:cNvPr id="32" name="Shape 30"/>
          <p:cNvSpPr/>
          <p:nvPr/>
        </p:nvSpPr>
        <p:spPr>
          <a:xfrm>
            <a:off x="8279199" y="2194560"/>
            <a:ext cx="299535" cy="502920"/>
          </a:xfrm>
          <a:prstGeom prst="rect">
            <a:avLst/>
          </a:prstGeom>
          <a:solidFill>
            <a:srgbClr val="CACACA"/>
          </a:solidFill>
          <a:ln w="12700">
            <a:solidFill>
              <a:srgbClr val="CACACA"/>
            </a:solidFill>
            <a:prstDash val="solid"/>
          </a:ln>
        </p:spPr>
      </p:sp>
      <p:sp>
        <p:nvSpPr>
          <p:cNvPr id="33" name="Shape 31"/>
          <p:cNvSpPr/>
          <p:nvPr/>
        </p:nvSpPr>
        <p:spPr>
          <a:xfrm>
            <a:off x="8615311" y="2194560"/>
            <a:ext cx="299535" cy="502920"/>
          </a:xfrm>
          <a:prstGeom prst="rect">
            <a:avLst/>
          </a:prstGeom>
          <a:solidFill>
            <a:srgbClr val="D20C0C"/>
          </a:solidFill>
          <a:ln w="12700">
            <a:solidFill>
              <a:srgbClr val="D20C0C"/>
            </a:solidFill>
            <a:prstDash val="solid"/>
          </a:ln>
        </p:spPr>
      </p:sp>
      <p:sp>
        <p:nvSpPr>
          <p:cNvPr id="34" name="Shape 32"/>
          <p:cNvSpPr/>
          <p:nvPr/>
        </p:nvSpPr>
        <p:spPr>
          <a:xfrm>
            <a:off x="8951422" y="2194560"/>
            <a:ext cx="299535" cy="502920"/>
          </a:xfrm>
          <a:prstGeom prst="rect">
            <a:avLst/>
          </a:prstGeom>
          <a:solidFill>
            <a:srgbClr val="D20C0C"/>
          </a:solidFill>
          <a:ln w="12700">
            <a:solidFill>
              <a:srgbClr val="D20C0C"/>
            </a:solidFill>
            <a:prstDash val="solid"/>
          </a:ln>
        </p:spPr>
      </p:sp>
      <p:sp>
        <p:nvSpPr>
          <p:cNvPr id="35" name="Shape 33"/>
          <p:cNvSpPr/>
          <p:nvPr/>
        </p:nvSpPr>
        <p:spPr>
          <a:xfrm>
            <a:off x="9287533" y="2194560"/>
            <a:ext cx="299535" cy="502920"/>
          </a:xfrm>
          <a:prstGeom prst="rect">
            <a:avLst/>
          </a:prstGeom>
          <a:solidFill>
            <a:srgbClr val="D20C0C"/>
          </a:solidFill>
          <a:ln w="12700">
            <a:solidFill>
              <a:srgbClr val="D20C0C"/>
            </a:solidFill>
            <a:prstDash val="solid"/>
          </a:ln>
        </p:spPr>
      </p:sp>
      <p:sp>
        <p:nvSpPr>
          <p:cNvPr id="36" name="Shape 34"/>
          <p:cNvSpPr/>
          <p:nvPr/>
        </p:nvSpPr>
        <p:spPr>
          <a:xfrm>
            <a:off x="9623644" y="2194560"/>
            <a:ext cx="299535" cy="502920"/>
          </a:xfrm>
          <a:prstGeom prst="rect">
            <a:avLst/>
          </a:prstGeom>
          <a:solidFill>
            <a:srgbClr val="D20C0C"/>
          </a:solidFill>
          <a:ln w="12700">
            <a:solidFill>
              <a:srgbClr val="D20C0C"/>
            </a:solidFill>
            <a:prstDash val="solid"/>
          </a:ln>
        </p:spPr>
      </p:sp>
      <p:sp>
        <p:nvSpPr>
          <p:cNvPr id="37" name="Shape 35"/>
          <p:cNvSpPr/>
          <p:nvPr/>
        </p:nvSpPr>
        <p:spPr>
          <a:xfrm>
            <a:off x="9959756" y="2194560"/>
            <a:ext cx="299535" cy="502920"/>
          </a:xfrm>
          <a:prstGeom prst="rect">
            <a:avLst/>
          </a:prstGeom>
          <a:solidFill>
            <a:srgbClr val="D20C0C"/>
          </a:solidFill>
          <a:ln w="12700">
            <a:solidFill>
              <a:srgbClr val="D20C0C"/>
            </a:solidFill>
            <a:prstDash val="solid"/>
          </a:ln>
        </p:spPr>
      </p:sp>
      <p:sp>
        <p:nvSpPr>
          <p:cNvPr id="38" name="Shape 36"/>
          <p:cNvSpPr/>
          <p:nvPr/>
        </p:nvSpPr>
        <p:spPr>
          <a:xfrm>
            <a:off x="10295867" y="2194560"/>
            <a:ext cx="299535" cy="502920"/>
          </a:xfrm>
          <a:prstGeom prst="rect">
            <a:avLst/>
          </a:prstGeom>
          <a:solidFill>
            <a:srgbClr val="D20C0C"/>
          </a:solidFill>
          <a:ln w="12700">
            <a:solidFill>
              <a:srgbClr val="D20C0C"/>
            </a:solidFill>
            <a:prstDash val="solid"/>
          </a:ln>
        </p:spPr>
      </p:sp>
      <p:sp>
        <p:nvSpPr>
          <p:cNvPr id="39" name="Shape 37"/>
          <p:cNvSpPr/>
          <p:nvPr/>
        </p:nvSpPr>
        <p:spPr>
          <a:xfrm>
            <a:off x="10631978" y="2194560"/>
            <a:ext cx="299535" cy="502920"/>
          </a:xfrm>
          <a:prstGeom prst="rect">
            <a:avLst/>
          </a:prstGeom>
          <a:solidFill>
            <a:srgbClr val="D20C0C"/>
          </a:solidFill>
          <a:ln w="12700">
            <a:solidFill>
              <a:srgbClr val="D20C0C"/>
            </a:solidFill>
            <a:prstDash val="solid"/>
          </a:ln>
        </p:spPr>
      </p:sp>
      <p:sp>
        <p:nvSpPr>
          <p:cNvPr id="40" name="Shape 38"/>
          <p:cNvSpPr/>
          <p:nvPr/>
        </p:nvSpPr>
        <p:spPr>
          <a:xfrm>
            <a:off x="10968089" y="2194560"/>
            <a:ext cx="299535" cy="502920"/>
          </a:xfrm>
          <a:prstGeom prst="rect">
            <a:avLst/>
          </a:prstGeom>
          <a:solidFill>
            <a:srgbClr val="D20C0C"/>
          </a:solidFill>
          <a:ln w="12700">
            <a:solidFill>
              <a:srgbClr val="D20C0C"/>
            </a:solidFill>
            <a:prstDash val="solid"/>
          </a:ln>
        </p:spPr>
      </p:sp>
      <p:sp>
        <p:nvSpPr>
          <p:cNvPr id="41" name="Shape 39"/>
          <p:cNvSpPr/>
          <p:nvPr/>
        </p:nvSpPr>
        <p:spPr>
          <a:xfrm>
            <a:off x="11304201" y="2194560"/>
            <a:ext cx="299535" cy="502920"/>
          </a:xfrm>
          <a:prstGeom prst="rect">
            <a:avLst/>
          </a:prstGeom>
          <a:solidFill>
            <a:srgbClr val="D20C0C"/>
          </a:solidFill>
          <a:ln w="12700">
            <a:solidFill>
              <a:srgbClr val="D20C0C"/>
            </a:solidFill>
            <a:prstDash val="solid"/>
          </a:ln>
        </p:spPr>
      </p:sp>
      <p:sp>
        <p:nvSpPr>
          <p:cNvPr id="42" name="Text 40"/>
          <p:cNvSpPr txBox="1"/>
          <p:nvPr/>
        </p:nvSpPr>
        <p:spPr>
          <a:xfrm>
            <a:off x="548640" y="2743200"/>
            <a:ext cx="914400" cy="274320"/>
          </a:xfrm>
          <a:prstGeom prst="rect">
            <a:avLst/>
          </a:prstGeom>
          <a:noFill/>
          <a:ln/>
        </p:spPr>
        <p:txBody>
          <a:bodyPr wrap="square" lIns="0" tIns="0" rIns="0" bIns="0" rtlCol="0" anchor="ctr"/>
          <a:lstStyle/>
          <a:p>
            <a:pPr indent="0" marL="0">
              <a:buNone/>
            </a:pPr>
            <a:r>
              <a:rPr lang="en-US" sz="1200" dirty="0">
                <a:solidFill>
                  <a:srgbClr val="4F6886"/>
                </a:solidFill>
              </a:rPr>
              <a:t>1991</a:t>
            </a:r>
            <a:endParaRPr lang="en-US" sz="1200" dirty="0"/>
          </a:p>
        </p:txBody>
      </p:sp>
      <p:sp>
        <p:nvSpPr>
          <p:cNvPr id="43" name="Text 41"/>
          <p:cNvSpPr txBox="1"/>
          <p:nvPr/>
        </p:nvSpPr>
        <p:spPr>
          <a:xfrm>
            <a:off x="8158111" y="2743200"/>
            <a:ext cx="914400" cy="274320"/>
          </a:xfrm>
          <a:prstGeom prst="rect">
            <a:avLst/>
          </a:prstGeom>
          <a:noFill/>
          <a:ln/>
        </p:spPr>
        <p:txBody>
          <a:bodyPr wrap="square" lIns="0" tIns="0" rIns="0" bIns="0" rtlCol="0" anchor="ctr"/>
          <a:lstStyle/>
          <a:p>
            <a:pPr algn="ctr" indent="0" marL="0">
              <a:buNone/>
            </a:pPr>
            <a:r>
              <a:rPr lang="en-US" sz="1200" dirty="0">
                <a:solidFill>
                  <a:srgbClr val="4F6886"/>
                </a:solidFill>
              </a:rPr>
              <a:t>2015</a:t>
            </a:r>
            <a:endParaRPr lang="en-US" sz="1200" dirty="0"/>
          </a:p>
        </p:txBody>
      </p:sp>
      <p:sp>
        <p:nvSpPr>
          <p:cNvPr id="44" name="Text 42"/>
          <p:cNvSpPr txBox="1"/>
          <p:nvPr/>
        </p:nvSpPr>
        <p:spPr>
          <a:xfrm>
            <a:off x="10725912" y="2743200"/>
            <a:ext cx="914400" cy="274320"/>
          </a:xfrm>
          <a:prstGeom prst="rect">
            <a:avLst/>
          </a:prstGeom>
          <a:noFill/>
          <a:ln/>
        </p:spPr>
        <p:txBody>
          <a:bodyPr wrap="square" lIns="0" tIns="0" rIns="0" bIns="0" rtlCol="0" anchor="ctr"/>
          <a:lstStyle/>
          <a:p>
            <a:pPr algn="r" indent="0" marL="0">
              <a:buNone/>
            </a:pPr>
            <a:r>
              <a:rPr lang="en-US" sz="1200" dirty="0">
                <a:solidFill>
                  <a:srgbClr val="4F6886"/>
                </a:solidFill>
              </a:rPr>
              <a:t>2023</a:t>
            </a:r>
            <a:endParaRPr lang="en-US" sz="1200" dirty="0"/>
          </a:p>
        </p:txBody>
      </p:sp>
      <p:sp>
        <p:nvSpPr>
          <p:cNvPr id="45" name="Text 43"/>
          <p:cNvSpPr txBox="1"/>
          <p:nvPr/>
        </p:nvSpPr>
        <p:spPr>
          <a:xfrm>
            <a:off x="548640" y="3090672"/>
            <a:ext cx="11064240" cy="640080"/>
          </a:xfrm>
          <a:prstGeom prst="rect">
            <a:avLst/>
          </a:prstGeom>
          <a:noFill/>
          <a:ln/>
        </p:spPr>
        <p:txBody>
          <a:bodyPr wrap="square" lIns="0" tIns="0" rIns="0" bIns="0" rtlCol="0" anchor="t"/>
          <a:lstStyle/>
          <a:p>
            <a:pPr indent="0" marL="0">
              <a:buNone/>
            </a:pPr>
            <a:r>
              <a:rPr lang="en-US" sz="1500" b="1" dirty="0">
                <a:solidFill>
                  <a:srgbClr val="023465"/>
                </a:solidFill>
              </a:rPr>
              <a:t>Why split by time, not at random? </a:t>
            </a:r>
            <a:pPr indent="0" marL="0">
              <a:buNone/>
            </a:pPr>
            <a:r>
              <a:rPr lang="en-US" sz="1500" dirty="0">
                <a:solidFill>
                  <a:srgbClr val="4F6886"/>
                </a:solidFill>
              </a:rPr>
              <a:t>In real life we always predict the next election from past ones, so we train on 1991–2014 and test on 2015–2023, as if we were in 2015. A random split would mix the years, letting the model peek at the future, and its score would look better than it really is.</a:t>
            </a:r>
            <a:endParaRPr lang="en-US" sz="1500" dirty="0"/>
          </a:p>
        </p:txBody>
      </p:sp>
      <p:sp>
        <p:nvSpPr>
          <p:cNvPr id="46" name="card Models tried"/>
          <p:cNvSpPr/>
          <p:nvPr/>
        </p:nvSpPr>
        <p:spPr>
          <a:xfrm>
            <a:off x="548640" y="3840480"/>
            <a:ext cx="3593592" cy="2377440"/>
          </a:xfrm>
          <a:prstGeom prst="roundRect">
            <a:avLst>
              <a:gd name="adj" fmla="val 3077"/>
            </a:avLst>
          </a:prstGeom>
          <a:solidFill>
            <a:srgbClr val="F1F4F8"/>
          </a:solidFill>
          <a:ln w="9525">
            <a:solidFill>
              <a:srgbClr val="F1F4F8"/>
            </a:solidFill>
            <a:prstDash val="solid"/>
          </a:ln>
        </p:spPr>
      </p:sp>
      <p:sp>
        <p:nvSpPr>
          <p:cNvPr id="47" name="Shape 45"/>
          <p:cNvSpPr/>
          <p:nvPr/>
        </p:nvSpPr>
        <p:spPr>
          <a:xfrm>
            <a:off x="731520" y="4023360"/>
            <a:ext cx="457200" cy="457200"/>
          </a:xfrm>
          <a:prstGeom prst="ellipse">
            <a:avLst/>
          </a:prstGeom>
          <a:solidFill>
            <a:srgbClr val="E3EEF8"/>
          </a:solidFill>
          <a:ln w="12700">
            <a:solidFill>
              <a:srgbClr val="E3EEF8"/>
            </a:solidFill>
            <a:prstDash val="solid"/>
          </a:ln>
        </p:spPr>
      </p:sp>
      <p:pic>
        <p:nvPicPr>
          <p:cNvPr id="48" name="Image 0" descr="Models tried">    </p:cNvPr>
          <p:cNvPicPr>
            <a:picLocks noChangeAspect="1"/>
          </p:cNvPicPr>
          <p:nvPr/>
        </p:nvPicPr>
        <p:blipFill>
          <a:blip r:embed="rId1"/>
          <a:stretch>
            <a:fillRect/>
          </a:stretch>
        </p:blipFill>
        <p:spPr>
          <a:xfrm>
            <a:off x="841248" y="4133088"/>
            <a:ext cx="237744" cy="237744"/>
          </a:xfrm>
          <a:prstGeom prst="rect">
            <a:avLst/>
          </a:prstGeom>
        </p:spPr>
      </p:pic>
      <p:sp>
        <p:nvSpPr>
          <p:cNvPr id="49" name="Text 46"/>
          <p:cNvSpPr txBox="1"/>
          <p:nvPr/>
        </p:nvSpPr>
        <p:spPr>
          <a:xfrm>
            <a:off x="1325880" y="4005072"/>
            <a:ext cx="2633472" cy="228600"/>
          </a:xfrm>
          <a:prstGeom prst="rect">
            <a:avLst/>
          </a:prstGeom>
          <a:noFill/>
          <a:ln/>
        </p:spPr>
        <p:txBody>
          <a:bodyPr wrap="square" lIns="0" tIns="0" rIns="0" bIns="0" rtlCol="0" anchor="ctr"/>
          <a:lstStyle/>
          <a:p>
            <a:pPr indent="0" marL="0">
              <a:buNone/>
            </a:pPr>
            <a:r>
              <a:rPr lang="en-US" sz="1100" b="1" spc="150" kern="0" dirty="0">
                <a:solidFill>
                  <a:srgbClr val="D20C0C"/>
                </a:solidFill>
              </a:rPr>
              <a:t>MODELS TRIED</a:t>
            </a:r>
            <a:endParaRPr lang="en-US" sz="1100" dirty="0"/>
          </a:p>
        </p:txBody>
      </p:sp>
      <p:sp>
        <p:nvSpPr>
          <p:cNvPr id="50" name="Text 47"/>
          <p:cNvSpPr txBox="1"/>
          <p:nvPr/>
        </p:nvSpPr>
        <p:spPr>
          <a:xfrm>
            <a:off x="749808" y="4572000"/>
            <a:ext cx="3191256" cy="1536192"/>
          </a:xfrm>
          <a:prstGeom prst="rect">
            <a:avLst/>
          </a:prstGeom>
          <a:noFill/>
          <a:ln/>
        </p:spPr>
        <p:txBody>
          <a:bodyPr wrap="square" lIns="0" tIns="0" rIns="0" bIns="0" rtlCol="0" anchor="t"/>
          <a:lstStyle/>
          <a:p>
            <a:pPr indent="0" marL="0">
              <a:buNone/>
            </a:pPr>
            <a:r>
              <a:rPr lang="en-US" sz="1400" dirty="0">
                <a:solidFill>
                  <a:srgbClr val="4F6886"/>
                </a:solidFill>
              </a:rPr>
              <a:t>Linear Regression, Decision Tree, Bagging, Random Forest, AdaBoost and Gradient Boosting: from simple and readable to strong ensembles.</a:t>
            </a:r>
            <a:endParaRPr lang="en-US" sz="1400" dirty="0"/>
          </a:p>
        </p:txBody>
      </p:sp>
      <p:sp>
        <p:nvSpPr>
          <p:cNvPr id="51" name="card Metric · MAE"/>
          <p:cNvSpPr/>
          <p:nvPr/>
        </p:nvSpPr>
        <p:spPr>
          <a:xfrm>
            <a:off x="4288536" y="3840480"/>
            <a:ext cx="3593592" cy="2377440"/>
          </a:xfrm>
          <a:prstGeom prst="roundRect">
            <a:avLst>
              <a:gd name="adj" fmla="val 3077"/>
            </a:avLst>
          </a:prstGeom>
          <a:solidFill>
            <a:srgbClr val="F1F4F8"/>
          </a:solidFill>
          <a:ln w="9525">
            <a:solidFill>
              <a:srgbClr val="F1F4F8"/>
            </a:solidFill>
            <a:prstDash val="solid"/>
          </a:ln>
        </p:spPr>
      </p:sp>
      <p:sp>
        <p:nvSpPr>
          <p:cNvPr id="52" name="Shape 49"/>
          <p:cNvSpPr/>
          <p:nvPr/>
        </p:nvSpPr>
        <p:spPr>
          <a:xfrm>
            <a:off x="4471416" y="4023360"/>
            <a:ext cx="457200" cy="457200"/>
          </a:xfrm>
          <a:prstGeom prst="ellipse">
            <a:avLst/>
          </a:prstGeom>
          <a:solidFill>
            <a:srgbClr val="E3EEF8"/>
          </a:solidFill>
          <a:ln w="12700">
            <a:solidFill>
              <a:srgbClr val="E3EEF8"/>
            </a:solidFill>
            <a:prstDash val="solid"/>
          </a:ln>
        </p:spPr>
      </p:sp>
      <p:pic>
        <p:nvPicPr>
          <p:cNvPr id="53" name="Image 1" descr="Metric · MAE">    </p:cNvPr>
          <p:cNvPicPr>
            <a:picLocks noChangeAspect="1"/>
          </p:cNvPicPr>
          <p:nvPr/>
        </p:nvPicPr>
        <p:blipFill>
          <a:blip r:embed="rId2"/>
          <a:stretch>
            <a:fillRect/>
          </a:stretch>
        </p:blipFill>
        <p:spPr>
          <a:xfrm>
            <a:off x="4581144" y="4133088"/>
            <a:ext cx="237744" cy="237744"/>
          </a:xfrm>
          <a:prstGeom prst="rect">
            <a:avLst/>
          </a:prstGeom>
        </p:spPr>
      </p:pic>
      <p:sp>
        <p:nvSpPr>
          <p:cNvPr id="54" name="Text 50"/>
          <p:cNvSpPr txBox="1"/>
          <p:nvPr/>
        </p:nvSpPr>
        <p:spPr>
          <a:xfrm>
            <a:off x="5065776" y="4005072"/>
            <a:ext cx="2633472" cy="228600"/>
          </a:xfrm>
          <a:prstGeom prst="rect">
            <a:avLst/>
          </a:prstGeom>
          <a:noFill/>
          <a:ln/>
        </p:spPr>
        <p:txBody>
          <a:bodyPr wrap="square" lIns="0" tIns="0" rIns="0" bIns="0" rtlCol="0" anchor="ctr"/>
          <a:lstStyle/>
          <a:p>
            <a:pPr indent="0" marL="0">
              <a:buNone/>
            </a:pPr>
            <a:r>
              <a:rPr lang="en-US" sz="1100" b="1" spc="150" kern="0" dirty="0">
                <a:solidFill>
                  <a:srgbClr val="D20C0C"/>
                </a:solidFill>
              </a:rPr>
              <a:t>METRIC · MAE</a:t>
            </a:r>
            <a:endParaRPr lang="en-US" sz="1100" dirty="0"/>
          </a:p>
        </p:txBody>
      </p:sp>
      <p:sp>
        <p:nvSpPr>
          <p:cNvPr id="55" name="Text 51"/>
          <p:cNvSpPr txBox="1"/>
          <p:nvPr/>
        </p:nvSpPr>
        <p:spPr>
          <a:xfrm>
            <a:off x="4489704" y="4572000"/>
            <a:ext cx="3191256" cy="1536192"/>
          </a:xfrm>
          <a:prstGeom prst="rect">
            <a:avLst/>
          </a:prstGeom>
          <a:noFill/>
          <a:ln/>
        </p:spPr>
        <p:txBody>
          <a:bodyPr wrap="square" lIns="0" tIns="0" rIns="0" bIns="0" rtlCol="0" anchor="t"/>
          <a:lstStyle/>
          <a:p>
            <a:pPr indent="0" marL="0">
              <a:buNone/>
            </a:pPr>
            <a:r>
              <a:rPr lang="en-US" sz="1400" dirty="0">
                <a:solidFill>
                  <a:srgbClr val="4F6886"/>
                </a:solidFill>
              </a:rPr>
              <a:t>Average distance from the real score. Predict 20%, real 23% → 3 points of error. Lower is better.</a:t>
            </a:r>
            <a:endParaRPr lang="en-US" sz="1400" dirty="0"/>
          </a:p>
        </p:txBody>
      </p:sp>
      <p:sp>
        <p:nvSpPr>
          <p:cNvPr id="56" name="card Validation · GroupKFold"/>
          <p:cNvSpPr/>
          <p:nvPr/>
        </p:nvSpPr>
        <p:spPr>
          <a:xfrm>
            <a:off x="8028432" y="3840480"/>
            <a:ext cx="3611880" cy="2377440"/>
          </a:xfrm>
          <a:prstGeom prst="roundRect">
            <a:avLst>
              <a:gd name="adj" fmla="val 3077"/>
            </a:avLst>
          </a:prstGeom>
          <a:solidFill>
            <a:srgbClr val="F1F4F8"/>
          </a:solidFill>
          <a:ln w="9525">
            <a:solidFill>
              <a:srgbClr val="F1F4F8"/>
            </a:solidFill>
            <a:prstDash val="solid"/>
          </a:ln>
        </p:spPr>
      </p:sp>
      <p:sp>
        <p:nvSpPr>
          <p:cNvPr id="57" name="Shape 53"/>
          <p:cNvSpPr/>
          <p:nvPr/>
        </p:nvSpPr>
        <p:spPr>
          <a:xfrm>
            <a:off x="8211312" y="4023360"/>
            <a:ext cx="457200" cy="457200"/>
          </a:xfrm>
          <a:prstGeom prst="ellipse">
            <a:avLst/>
          </a:prstGeom>
          <a:solidFill>
            <a:srgbClr val="E3EEF8"/>
          </a:solidFill>
          <a:ln w="12700">
            <a:solidFill>
              <a:srgbClr val="E3EEF8"/>
            </a:solidFill>
            <a:prstDash val="solid"/>
          </a:ln>
        </p:spPr>
      </p:sp>
      <p:pic>
        <p:nvPicPr>
          <p:cNvPr id="58" name="Image 2" descr="Validation · GroupKFold">    </p:cNvPr>
          <p:cNvPicPr>
            <a:picLocks noChangeAspect="1"/>
          </p:cNvPicPr>
          <p:nvPr/>
        </p:nvPicPr>
        <p:blipFill>
          <a:blip r:embed="rId3"/>
          <a:stretch>
            <a:fillRect/>
          </a:stretch>
        </p:blipFill>
        <p:spPr>
          <a:xfrm>
            <a:off x="8321040" y="4133088"/>
            <a:ext cx="237744" cy="237744"/>
          </a:xfrm>
          <a:prstGeom prst="rect">
            <a:avLst/>
          </a:prstGeom>
        </p:spPr>
      </p:pic>
      <p:sp>
        <p:nvSpPr>
          <p:cNvPr id="59" name="Text 54"/>
          <p:cNvSpPr txBox="1"/>
          <p:nvPr/>
        </p:nvSpPr>
        <p:spPr>
          <a:xfrm>
            <a:off x="8805672" y="4005072"/>
            <a:ext cx="2651760" cy="228600"/>
          </a:xfrm>
          <a:prstGeom prst="rect">
            <a:avLst/>
          </a:prstGeom>
          <a:noFill/>
          <a:ln/>
        </p:spPr>
        <p:txBody>
          <a:bodyPr wrap="square" lIns="0" tIns="0" rIns="0" bIns="0" rtlCol="0" anchor="ctr"/>
          <a:lstStyle/>
          <a:p>
            <a:pPr indent="0" marL="0">
              <a:buNone/>
            </a:pPr>
            <a:r>
              <a:rPr lang="en-US" sz="1100" b="1" spc="150" kern="0" dirty="0">
                <a:solidFill>
                  <a:srgbClr val="D20C0C"/>
                </a:solidFill>
              </a:rPr>
              <a:t>VALIDATION · GROUPKFOLD</a:t>
            </a:r>
            <a:endParaRPr lang="en-US" sz="1100" dirty="0"/>
          </a:p>
        </p:txBody>
      </p:sp>
      <p:sp>
        <p:nvSpPr>
          <p:cNvPr id="60" name="Text 55"/>
          <p:cNvSpPr txBox="1"/>
          <p:nvPr/>
        </p:nvSpPr>
        <p:spPr>
          <a:xfrm>
            <a:off x="8229600" y="4572000"/>
            <a:ext cx="3209544" cy="1536192"/>
          </a:xfrm>
          <a:prstGeom prst="rect">
            <a:avLst/>
          </a:prstGeom>
          <a:noFill/>
          <a:ln/>
        </p:spPr>
        <p:txBody>
          <a:bodyPr wrap="square" lIns="0" tIns="0" rIns="0" bIns="0" rtlCol="0" anchor="t"/>
          <a:lstStyle/>
          <a:p>
            <a:pPr indent="0" marL="0">
              <a:buNone/>
            </a:pPr>
            <a:r>
              <a:rPr lang="en-US" sz="1400" dirty="0">
                <a:solidFill>
                  <a:srgbClr val="4F6886"/>
                </a:solidFill>
              </a:rPr>
              <a:t>Cross-validation: split the training years into 5 parts, train on 4, check on the 5th, 5 times. All parties of one election stay in the same part.</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688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320040"/>
          </a:xfrm>
          <a:prstGeom prst="rect">
            <a:avLst/>
          </a:prstGeom>
          <a:noFill/>
          <a:ln/>
        </p:spPr>
        <p:txBody>
          <a:bodyPr wrap="square" lIns="0" tIns="0" rIns="0" bIns="0" rtlCol="0" anchor="t"/>
          <a:lstStyle/>
          <a:p>
            <a:pPr indent="0" marL="0">
              <a:buNone/>
            </a:pPr>
            <a:r>
              <a:rPr lang="en-US" sz="1200" b="1" spc="200" kern="0" dirty="0">
                <a:solidFill>
                  <a:srgbClr val="D20C0C"/>
                </a:solidFill>
              </a:rPr>
              <a:t>THE MODELS</a:t>
            </a:r>
            <a:endParaRPr lang="en-US" sz="12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400" b="1" dirty="0">
                <a:solidFill>
                  <a:srgbClr val="023465"/>
                </a:solidFill>
                <a:latin typeface="Arial" pitchFamily="34" charset="0"/>
                <a:ea typeface="Arial" pitchFamily="34" charset="-122"/>
                <a:cs typeface="Arial" pitchFamily="34" charset="-120"/>
              </a:rPr>
              <a:t>Gradient Boosting is the most accurate</a:t>
            </a:r>
            <a:endParaRPr lang="en-US" sz="3400" dirty="0"/>
          </a:p>
        </p:txBody>
      </p:sp>
      <p:sp>
        <p:nvSpPr>
          <p:cNvPr id="4" name="Text 2"/>
          <p:cNvSpPr txBox="1"/>
          <p:nvPr/>
        </p:nvSpPr>
        <p:spPr>
          <a:xfrm>
            <a:off x="548640" y="1691640"/>
            <a:ext cx="7223760" cy="320040"/>
          </a:xfrm>
          <a:prstGeom prst="rect">
            <a:avLst/>
          </a:prstGeom>
          <a:noFill/>
          <a:ln/>
        </p:spPr>
        <p:txBody>
          <a:bodyPr wrap="square" lIns="0" tIns="0" rIns="0" bIns="0" rtlCol="0" anchor="ctr"/>
          <a:lstStyle/>
          <a:p>
            <a:pPr indent="0" marL="0">
              <a:buNone/>
            </a:pPr>
            <a:r>
              <a:rPr lang="en-US" sz="1600" b="1" dirty="0">
                <a:solidFill>
                  <a:srgbClr val="023465"/>
                </a:solidFill>
              </a:rPr>
              <a:t>Average error on 2015–2023 elections, every model tuned (points, lower is better)</a:t>
            </a:r>
            <a:endParaRPr lang="en-US" sz="1600" dirty="0"/>
          </a:p>
        </p:txBody>
      </p:sp>
      <p:graphicFrame>
        <p:nvGraphicFramePr>
          <p:cNvPr id="5" name="Chart 0" descr=""/>
          <p:cNvGraphicFramePr/>
          <p:nvPr/>
        </p:nvGraphicFramePr>
        <p:xfrm>
          <a:off x="365760" y="2057400"/>
          <a:ext cx="7498080" cy="43434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183880" y="1691640"/>
            <a:ext cx="3456432" cy="2743200"/>
          </a:xfrm>
          <a:prstGeom prst="roundRect">
            <a:avLst>
              <a:gd name="adj" fmla="val 2667"/>
            </a:avLst>
          </a:prstGeom>
          <a:solidFill>
            <a:srgbClr val="F1F4F8"/>
          </a:solidFill>
          <a:ln w="12700">
            <a:solidFill>
              <a:srgbClr val="F1F4F8"/>
            </a:solidFill>
            <a:prstDash val="solid"/>
          </a:ln>
        </p:spPr>
      </p:sp>
      <p:sp>
        <p:nvSpPr>
          <p:cNvPr id="7" name="Text 4"/>
          <p:cNvSpPr txBox="1"/>
          <p:nvPr/>
        </p:nvSpPr>
        <p:spPr>
          <a:xfrm>
            <a:off x="8412480" y="1828800"/>
            <a:ext cx="3017520" cy="640080"/>
          </a:xfrm>
          <a:prstGeom prst="rect">
            <a:avLst/>
          </a:prstGeom>
          <a:noFill/>
          <a:ln/>
        </p:spPr>
        <p:txBody>
          <a:bodyPr wrap="square" lIns="0" tIns="0" rIns="0" bIns="0" rtlCol="0" anchor="ctr"/>
          <a:lstStyle/>
          <a:p>
            <a:pPr indent="0" marL="0">
              <a:buNone/>
            </a:pPr>
            <a:r>
              <a:rPr lang="en-US" sz="3600" b="1" dirty="0">
                <a:solidFill>
                  <a:srgbClr val="D20C0C"/>
                </a:solidFill>
                <a:latin typeface="Arial" pitchFamily="34" charset="0"/>
                <a:ea typeface="Arial" pitchFamily="34" charset="-122"/>
                <a:cs typeface="Arial" pitchFamily="34" charset="-120"/>
              </a:rPr>
              <a:t>8 in 10</a:t>
            </a:r>
            <a:endParaRPr lang="en-US" sz="3600" dirty="0"/>
          </a:p>
        </p:txBody>
      </p:sp>
      <p:sp>
        <p:nvSpPr>
          <p:cNvPr id="8" name="Text 5"/>
          <p:cNvSpPr txBox="1"/>
          <p:nvPr/>
        </p:nvSpPr>
        <p:spPr>
          <a:xfrm>
            <a:off x="8412480" y="2468880"/>
            <a:ext cx="3017520" cy="502920"/>
          </a:xfrm>
          <a:prstGeom prst="rect">
            <a:avLst/>
          </a:prstGeom>
          <a:noFill/>
          <a:ln/>
        </p:spPr>
        <p:txBody>
          <a:bodyPr wrap="square" lIns="0" tIns="0" rIns="0" bIns="0" rtlCol="0" anchor="t"/>
          <a:lstStyle/>
          <a:p>
            <a:pPr indent="0" marL="0">
              <a:buNone/>
            </a:pPr>
            <a:r>
              <a:rPr lang="en-US" sz="1300" dirty="0">
                <a:solidFill>
                  <a:srgbClr val="4F6886"/>
                </a:solidFill>
              </a:rPr>
              <a:t>parties predicted within 5 points of the real result</a:t>
            </a:r>
            <a:endParaRPr lang="en-US" sz="1300" dirty="0"/>
          </a:p>
        </p:txBody>
      </p:sp>
      <p:pic>
        <p:nvPicPr>
          <p:cNvPr id="9" name="Image 0" descr="within 5 points">    </p:cNvPr>
          <p:cNvPicPr>
            <a:picLocks noChangeAspect="1"/>
          </p:cNvPicPr>
          <p:nvPr/>
        </p:nvPicPr>
        <p:blipFill>
          <a:blip r:embed="rId2"/>
          <a:stretch>
            <a:fillRect/>
          </a:stretch>
        </p:blipFill>
        <p:spPr>
          <a:xfrm>
            <a:off x="8458200" y="3108960"/>
            <a:ext cx="438912" cy="457200"/>
          </a:xfrm>
          <a:prstGeom prst="rect">
            <a:avLst/>
          </a:prstGeom>
        </p:spPr>
      </p:pic>
      <p:pic>
        <p:nvPicPr>
          <p:cNvPr id="10" name="Image 1" descr="within 5 points">    </p:cNvPr>
          <p:cNvPicPr>
            <a:picLocks noChangeAspect="1"/>
          </p:cNvPicPr>
          <p:nvPr/>
        </p:nvPicPr>
        <p:blipFill>
          <a:blip r:embed="rId3"/>
          <a:stretch>
            <a:fillRect/>
          </a:stretch>
        </p:blipFill>
        <p:spPr>
          <a:xfrm>
            <a:off x="9043416" y="3108960"/>
            <a:ext cx="438912" cy="457200"/>
          </a:xfrm>
          <a:prstGeom prst="rect">
            <a:avLst/>
          </a:prstGeom>
        </p:spPr>
      </p:pic>
      <p:pic>
        <p:nvPicPr>
          <p:cNvPr id="11" name="Image 2" descr="within 5 points">    </p:cNvPr>
          <p:cNvPicPr>
            <a:picLocks noChangeAspect="1"/>
          </p:cNvPicPr>
          <p:nvPr/>
        </p:nvPicPr>
        <p:blipFill>
          <a:blip r:embed="rId4"/>
          <a:stretch>
            <a:fillRect/>
          </a:stretch>
        </p:blipFill>
        <p:spPr>
          <a:xfrm>
            <a:off x="9628632" y="3108960"/>
            <a:ext cx="438912" cy="457200"/>
          </a:xfrm>
          <a:prstGeom prst="rect">
            <a:avLst/>
          </a:prstGeom>
        </p:spPr>
      </p:pic>
      <p:pic>
        <p:nvPicPr>
          <p:cNvPr id="12" name="Image 3" descr="within 5 points">    </p:cNvPr>
          <p:cNvPicPr>
            <a:picLocks noChangeAspect="1"/>
          </p:cNvPicPr>
          <p:nvPr/>
        </p:nvPicPr>
        <p:blipFill>
          <a:blip r:embed="rId5"/>
          <a:stretch>
            <a:fillRect/>
          </a:stretch>
        </p:blipFill>
        <p:spPr>
          <a:xfrm>
            <a:off x="10213848" y="3108960"/>
            <a:ext cx="438912" cy="457200"/>
          </a:xfrm>
          <a:prstGeom prst="rect">
            <a:avLst/>
          </a:prstGeom>
        </p:spPr>
      </p:pic>
      <p:pic>
        <p:nvPicPr>
          <p:cNvPr id="13" name="Image 4" descr="within 5 points">    </p:cNvPr>
          <p:cNvPicPr>
            <a:picLocks noChangeAspect="1"/>
          </p:cNvPicPr>
          <p:nvPr/>
        </p:nvPicPr>
        <p:blipFill>
          <a:blip r:embed="rId6"/>
          <a:stretch>
            <a:fillRect/>
          </a:stretch>
        </p:blipFill>
        <p:spPr>
          <a:xfrm>
            <a:off x="10799064" y="3108960"/>
            <a:ext cx="438912" cy="457200"/>
          </a:xfrm>
          <a:prstGeom prst="rect">
            <a:avLst/>
          </a:prstGeom>
        </p:spPr>
      </p:pic>
      <p:pic>
        <p:nvPicPr>
          <p:cNvPr id="14" name="Image 5" descr="within 5 points">    </p:cNvPr>
          <p:cNvPicPr>
            <a:picLocks noChangeAspect="1"/>
          </p:cNvPicPr>
          <p:nvPr/>
        </p:nvPicPr>
        <p:blipFill>
          <a:blip r:embed="rId7"/>
          <a:stretch>
            <a:fillRect/>
          </a:stretch>
        </p:blipFill>
        <p:spPr>
          <a:xfrm>
            <a:off x="8458200" y="3730752"/>
            <a:ext cx="438912" cy="457200"/>
          </a:xfrm>
          <a:prstGeom prst="rect">
            <a:avLst/>
          </a:prstGeom>
        </p:spPr>
      </p:pic>
      <p:pic>
        <p:nvPicPr>
          <p:cNvPr id="15" name="Image 6" descr="within 5 points">    </p:cNvPr>
          <p:cNvPicPr>
            <a:picLocks noChangeAspect="1"/>
          </p:cNvPicPr>
          <p:nvPr/>
        </p:nvPicPr>
        <p:blipFill>
          <a:blip r:embed="rId8"/>
          <a:stretch>
            <a:fillRect/>
          </a:stretch>
        </p:blipFill>
        <p:spPr>
          <a:xfrm>
            <a:off x="9043416" y="3730752"/>
            <a:ext cx="438912" cy="457200"/>
          </a:xfrm>
          <a:prstGeom prst="rect">
            <a:avLst/>
          </a:prstGeom>
        </p:spPr>
      </p:pic>
      <p:pic>
        <p:nvPicPr>
          <p:cNvPr id="16" name="Image 7" descr="within 5 points">    </p:cNvPr>
          <p:cNvPicPr>
            <a:picLocks noChangeAspect="1"/>
          </p:cNvPicPr>
          <p:nvPr/>
        </p:nvPicPr>
        <p:blipFill>
          <a:blip r:embed="rId9"/>
          <a:stretch>
            <a:fillRect/>
          </a:stretch>
        </p:blipFill>
        <p:spPr>
          <a:xfrm>
            <a:off x="9628632" y="3730752"/>
            <a:ext cx="438912" cy="457200"/>
          </a:xfrm>
          <a:prstGeom prst="rect">
            <a:avLst/>
          </a:prstGeom>
        </p:spPr>
      </p:pic>
      <p:pic>
        <p:nvPicPr>
          <p:cNvPr id="17" name="Image 8" descr="more than 5 points off">    </p:cNvPr>
          <p:cNvPicPr>
            <a:picLocks noChangeAspect="1"/>
          </p:cNvPicPr>
          <p:nvPr/>
        </p:nvPicPr>
        <p:blipFill>
          <a:blip r:embed="rId10"/>
          <a:stretch>
            <a:fillRect/>
          </a:stretch>
        </p:blipFill>
        <p:spPr>
          <a:xfrm>
            <a:off x="10213848" y="3730752"/>
            <a:ext cx="438912" cy="457200"/>
          </a:xfrm>
          <a:prstGeom prst="rect">
            <a:avLst/>
          </a:prstGeom>
        </p:spPr>
      </p:pic>
      <p:pic>
        <p:nvPicPr>
          <p:cNvPr id="18" name="Image 9" descr="more than 5 points off">    </p:cNvPr>
          <p:cNvPicPr>
            <a:picLocks noChangeAspect="1"/>
          </p:cNvPicPr>
          <p:nvPr/>
        </p:nvPicPr>
        <p:blipFill>
          <a:blip r:embed="rId11"/>
          <a:stretch>
            <a:fillRect/>
          </a:stretch>
        </p:blipFill>
        <p:spPr>
          <a:xfrm>
            <a:off x="10799064" y="3730752"/>
            <a:ext cx="438912" cy="457200"/>
          </a:xfrm>
          <a:prstGeom prst="rect">
            <a:avLst/>
          </a:prstGeom>
        </p:spPr>
      </p:pic>
      <p:sp>
        <p:nvSpPr>
          <p:cNvPr id="19" name="card R²"/>
          <p:cNvSpPr/>
          <p:nvPr/>
        </p:nvSpPr>
        <p:spPr>
          <a:xfrm>
            <a:off x="8183880" y="4572000"/>
            <a:ext cx="1664208" cy="1783080"/>
          </a:xfrm>
          <a:prstGeom prst="roundRect">
            <a:avLst>
              <a:gd name="adj" fmla="val 4396"/>
            </a:avLst>
          </a:prstGeom>
          <a:solidFill>
            <a:srgbClr val="F1F4F8"/>
          </a:solidFill>
          <a:ln w="9525">
            <a:solidFill>
              <a:srgbClr val="F1F4F8"/>
            </a:solidFill>
            <a:prstDash val="solid"/>
          </a:ln>
        </p:spPr>
      </p:sp>
      <p:sp>
        <p:nvSpPr>
          <p:cNvPr id="20" name="Text 7"/>
          <p:cNvSpPr txBox="1"/>
          <p:nvPr/>
        </p:nvSpPr>
        <p:spPr>
          <a:xfrm>
            <a:off x="8385048" y="4736592"/>
            <a:ext cx="1280160" cy="228600"/>
          </a:xfrm>
          <a:prstGeom prst="rect">
            <a:avLst/>
          </a:prstGeom>
          <a:noFill/>
          <a:ln/>
        </p:spPr>
        <p:txBody>
          <a:bodyPr wrap="square" lIns="0" tIns="0" rIns="0" bIns="0" rtlCol="0" anchor="ctr"/>
          <a:lstStyle/>
          <a:p>
            <a:pPr indent="0" marL="0">
              <a:buNone/>
            </a:pPr>
            <a:r>
              <a:rPr lang="en-US" sz="1100" b="1" spc="150" kern="0" dirty="0">
                <a:solidFill>
                  <a:srgbClr val="D20C0C"/>
                </a:solidFill>
              </a:rPr>
              <a:t>R²</a:t>
            </a:r>
            <a:endParaRPr lang="en-US" sz="1100" dirty="0"/>
          </a:p>
        </p:txBody>
      </p:sp>
      <p:sp>
        <p:nvSpPr>
          <p:cNvPr id="21" name="Text 8"/>
          <p:cNvSpPr txBox="1"/>
          <p:nvPr/>
        </p:nvSpPr>
        <p:spPr>
          <a:xfrm>
            <a:off x="8385048" y="5029200"/>
            <a:ext cx="1280160" cy="1216152"/>
          </a:xfrm>
          <a:prstGeom prst="rect">
            <a:avLst/>
          </a:prstGeom>
          <a:noFill/>
          <a:ln/>
        </p:spPr>
        <p:txBody>
          <a:bodyPr wrap="square" lIns="0" tIns="0" rIns="0" bIns="0" rtlCol="0" anchor="t"/>
          <a:lstStyle/>
          <a:p>
            <a:pPr indent="0" marL="0">
              <a:buNone/>
            </a:pPr>
            <a:r>
              <a:rPr lang="en-US" sz="2600" b="1" dirty="0">
                <a:solidFill>
                  <a:srgbClr val="D20C0C"/>
                </a:solidFill>
                <a:latin typeface="Arial" pitchFamily="34" charset="0"/>
                <a:ea typeface="Arial" pitchFamily="34" charset="-122"/>
                <a:cs typeface="Arial" pitchFamily="34" charset="-120"/>
              </a:rPr>
              <a:t>0.75
</a:t>
            </a:r>
            <a:pPr indent="0" marL="0">
              <a:buNone/>
            </a:pPr>
            <a:r>
              <a:rPr lang="en-US" sz="1200" dirty="0">
                <a:solidFill>
                  <a:srgbClr val="4F6886"/>
                </a:solidFill>
              </a:rPr>
              <a:t>explains 75% of score differences (baseline 68%)</a:t>
            </a:r>
            <a:endParaRPr lang="en-US" sz="1200" dirty="0"/>
          </a:p>
        </p:txBody>
      </p:sp>
      <p:sp>
        <p:nvSpPr>
          <p:cNvPr id="22" name="card Gain"/>
          <p:cNvSpPr/>
          <p:nvPr/>
        </p:nvSpPr>
        <p:spPr>
          <a:xfrm>
            <a:off x="9976104" y="4572000"/>
            <a:ext cx="1664208" cy="1783080"/>
          </a:xfrm>
          <a:prstGeom prst="roundRect">
            <a:avLst>
              <a:gd name="adj" fmla="val 4396"/>
            </a:avLst>
          </a:prstGeom>
          <a:solidFill>
            <a:srgbClr val="F1F4F8"/>
          </a:solidFill>
          <a:ln w="9525">
            <a:solidFill>
              <a:srgbClr val="F1F4F8"/>
            </a:solidFill>
            <a:prstDash val="solid"/>
          </a:ln>
        </p:spPr>
      </p:sp>
      <p:sp>
        <p:nvSpPr>
          <p:cNvPr id="23" name="Text 10"/>
          <p:cNvSpPr txBox="1"/>
          <p:nvPr/>
        </p:nvSpPr>
        <p:spPr>
          <a:xfrm>
            <a:off x="10177272" y="4736592"/>
            <a:ext cx="1280160" cy="228600"/>
          </a:xfrm>
          <a:prstGeom prst="rect">
            <a:avLst/>
          </a:prstGeom>
          <a:noFill/>
          <a:ln/>
        </p:spPr>
        <p:txBody>
          <a:bodyPr wrap="square" lIns="0" tIns="0" rIns="0" bIns="0" rtlCol="0" anchor="ctr"/>
          <a:lstStyle/>
          <a:p>
            <a:pPr indent="0" marL="0">
              <a:buNone/>
            </a:pPr>
            <a:r>
              <a:rPr lang="en-US" sz="1100" b="1" spc="150" kern="0" dirty="0">
                <a:solidFill>
                  <a:srgbClr val="D20C0C"/>
                </a:solidFill>
              </a:rPr>
              <a:t>GAIN</a:t>
            </a:r>
            <a:endParaRPr lang="en-US" sz="1100" dirty="0"/>
          </a:p>
        </p:txBody>
      </p:sp>
      <p:sp>
        <p:nvSpPr>
          <p:cNvPr id="24" name="Text 11"/>
          <p:cNvSpPr txBox="1"/>
          <p:nvPr/>
        </p:nvSpPr>
        <p:spPr>
          <a:xfrm>
            <a:off x="10177272" y="5029200"/>
            <a:ext cx="1280160" cy="1216152"/>
          </a:xfrm>
          <a:prstGeom prst="rect">
            <a:avLst/>
          </a:prstGeom>
          <a:noFill/>
          <a:ln/>
        </p:spPr>
        <p:txBody>
          <a:bodyPr wrap="square" lIns="0" tIns="0" rIns="0" bIns="0" rtlCol="0" anchor="t"/>
          <a:lstStyle/>
          <a:p>
            <a:pPr indent="0" marL="0">
              <a:buNone/>
            </a:pPr>
            <a:r>
              <a:rPr lang="en-US" sz="2600" b="1" dirty="0">
                <a:solidFill>
                  <a:srgbClr val="D20C0C"/>
                </a:solidFill>
                <a:latin typeface="Arial" pitchFamily="34" charset="0"/>
                <a:ea typeface="Arial" pitchFamily="34" charset="-122"/>
                <a:cs typeface="Arial" pitchFamily="34" charset="-120"/>
              </a:rPr>
              <a:t>12%
</a:t>
            </a:r>
            <a:pPr indent="0" marL="0">
              <a:buNone/>
            </a:pPr>
            <a:r>
              <a:rPr lang="en-US" sz="1400" dirty="0">
                <a:solidFill>
                  <a:srgbClr val="4F6886"/>
                </a:solidFill>
              </a:rPr>
              <a:t>better than same as last time</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688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320040"/>
          </a:xfrm>
          <a:prstGeom prst="rect">
            <a:avLst/>
          </a:prstGeom>
          <a:noFill/>
          <a:ln/>
        </p:spPr>
        <p:txBody>
          <a:bodyPr wrap="square" lIns="0" tIns="0" rIns="0" bIns="0" rtlCol="0" anchor="t"/>
          <a:lstStyle/>
          <a:p>
            <a:pPr indent="0" marL="0">
              <a:buNone/>
            </a:pPr>
            <a:r>
              <a:rPr lang="en-US" sz="1200" b="1" spc="200" kern="0" dirty="0">
                <a:solidFill>
                  <a:srgbClr val="D20C0C"/>
                </a:solidFill>
              </a:rPr>
              <a:t>TUNING THE MODEL</a:t>
            </a:r>
            <a:endParaRPr lang="en-US" sz="12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400" b="1" dirty="0">
                <a:solidFill>
                  <a:srgbClr val="023465"/>
                </a:solidFill>
                <a:latin typeface="Arial" pitchFamily="34" charset="0"/>
                <a:ea typeface="Arial" pitchFamily="34" charset="-122"/>
                <a:cs typeface="Arial" pitchFamily="34" charset="-120"/>
              </a:rPr>
              <a:t>From memorising to generalising</a:t>
            </a:r>
            <a:endParaRPr lang="en-US" sz="3400" dirty="0"/>
          </a:p>
        </p:txBody>
      </p:sp>
      <p:sp>
        <p:nvSpPr>
          <p:cNvPr id="4" name="Text 2"/>
          <p:cNvSpPr txBox="1"/>
          <p:nvPr/>
        </p:nvSpPr>
        <p:spPr>
          <a:xfrm>
            <a:off x="548640" y="1691640"/>
            <a:ext cx="6766560" cy="320040"/>
          </a:xfrm>
          <a:prstGeom prst="rect">
            <a:avLst/>
          </a:prstGeom>
          <a:noFill/>
          <a:ln/>
        </p:spPr>
        <p:txBody>
          <a:bodyPr wrap="square" lIns="0" tIns="0" rIns="0" bIns="0" rtlCol="0" anchor="ctr"/>
          <a:lstStyle/>
          <a:p>
            <a:pPr indent="0" marL="0">
              <a:buNone/>
            </a:pPr>
            <a:r>
              <a:rPr lang="en-US" sz="1600" b="1" dirty="0">
                <a:solidFill>
                  <a:srgbClr val="023465"/>
                </a:solidFill>
              </a:rPr>
              <a:t>Error on the years it learned from vs on new elections</a:t>
            </a:r>
            <a:endParaRPr lang="en-US" sz="1600" dirty="0"/>
          </a:p>
        </p:txBody>
      </p:sp>
      <p:sp>
        <p:nvSpPr>
          <p:cNvPr id="5" name="Shape 3"/>
          <p:cNvSpPr/>
          <p:nvPr/>
        </p:nvSpPr>
        <p:spPr>
          <a:xfrm>
            <a:off x="548640" y="2121408"/>
            <a:ext cx="164592" cy="164592"/>
          </a:xfrm>
          <a:prstGeom prst="roundRect">
            <a:avLst>
              <a:gd name="adj" fmla="val 16667"/>
            </a:avLst>
          </a:prstGeom>
          <a:solidFill>
            <a:srgbClr val="CACACA"/>
          </a:solidFill>
          <a:ln w="12700">
            <a:solidFill>
              <a:srgbClr val="CACACA"/>
            </a:solidFill>
            <a:prstDash val="solid"/>
          </a:ln>
        </p:spPr>
      </p:sp>
      <p:sp>
        <p:nvSpPr>
          <p:cNvPr id="6" name="Text 4"/>
          <p:cNvSpPr txBox="1"/>
          <p:nvPr/>
        </p:nvSpPr>
        <p:spPr>
          <a:xfrm>
            <a:off x="777240" y="2057400"/>
            <a:ext cx="2377440" cy="292608"/>
          </a:xfrm>
          <a:prstGeom prst="rect">
            <a:avLst/>
          </a:prstGeom>
          <a:noFill/>
          <a:ln/>
        </p:spPr>
        <p:txBody>
          <a:bodyPr wrap="square" lIns="0" tIns="0" rIns="0" bIns="0" rtlCol="0" anchor="ctr"/>
          <a:lstStyle/>
          <a:p>
            <a:pPr indent="0" marL="0">
              <a:buNone/>
            </a:pPr>
            <a:r>
              <a:rPr lang="en-US" sz="1300" dirty="0">
                <a:solidFill>
                  <a:srgbClr val="4F6886"/>
                </a:solidFill>
              </a:rPr>
              <a:t>Training years 1991–2014</a:t>
            </a:r>
            <a:endParaRPr lang="en-US" sz="1300" dirty="0"/>
          </a:p>
        </p:txBody>
      </p:sp>
      <p:sp>
        <p:nvSpPr>
          <p:cNvPr id="7" name="Shape 5"/>
          <p:cNvSpPr/>
          <p:nvPr/>
        </p:nvSpPr>
        <p:spPr>
          <a:xfrm>
            <a:off x="3008376" y="2121408"/>
            <a:ext cx="164592" cy="164592"/>
          </a:xfrm>
          <a:prstGeom prst="roundRect">
            <a:avLst>
              <a:gd name="adj" fmla="val 16667"/>
            </a:avLst>
          </a:prstGeom>
          <a:solidFill>
            <a:srgbClr val="D20C0C"/>
          </a:solidFill>
          <a:ln w="12700">
            <a:solidFill>
              <a:srgbClr val="D20C0C"/>
            </a:solidFill>
            <a:prstDash val="solid"/>
          </a:ln>
        </p:spPr>
      </p:sp>
      <p:sp>
        <p:nvSpPr>
          <p:cNvPr id="8" name="Text 6"/>
          <p:cNvSpPr txBox="1"/>
          <p:nvPr/>
        </p:nvSpPr>
        <p:spPr>
          <a:xfrm>
            <a:off x="3236976" y="2057400"/>
            <a:ext cx="2377440" cy="292608"/>
          </a:xfrm>
          <a:prstGeom prst="rect">
            <a:avLst/>
          </a:prstGeom>
          <a:noFill/>
          <a:ln/>
        </p:spPr>
        <p:txBody>
          <a:bodyPr wrap="square" lIns="0" tIns="0" rIns="0" bIns="0" rtlCol="0" anchor="ctr"/>
          <a:lstStyle/>
          <a:p>
            <a:pPr indent="0" marL="0">
              <a:buNone/>
            </a:pPr>
            <a:r>
              <a:rPr lang="en-US" sz="1300" dirty="0">
                <a:solidFill>
                  <a:srgbClr val="4F6886"/>
                </a:solidFill>
              </a:rPr>
              <a:t>New elections 2015–2023</a:t>
            </a:r>
            <a:endParaRPr lang="en-US" sz="1300" dirty="0"/>
          </a:p>
        </p:txBody>
      </p:sp>
      <p:graphicFrame>
        <p:nvGraphicFramePr>
          <p:cNvPr id="9" name="Chart 0" descr=""/>
          <p:cNvGraphicFramePr/>
          <p:nvPr/>
        </p:nvGraphicFramePr>
        <p:xfrm>
          <a:off x="457200" y="2377440"/>
          <a:ext cx="6858000" cy="320040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548640" y="5623560"/>
            <a:ext cx="6766560" cy="777240"/>
          </a:xfrm>
          <a:prstGeom prst="rect">
            <a:avLst/>
          </a:prstGeom>
          <a:noFill/>
          <a:ln/>
        </p:spPr>
        <p:txBody>
          <a:bodyPr wrap="square" lIns="0" tIns="0" rIns="0" bIns="0" rtlCol="0" anchor="t"/>
          <a:lstStyle/>
          <a:p>
            <a:pPr indent="0" marL="0">
              <a:buNone/>
            </a:pPr>
            <a:r>
              <a:rPr lang="en-US" sz="1500" b="1" dirty="0">
                <a:solidFill>
                  <a:srgbClr val="D20C0C"/>
                </a:solidFill>
              </a:rPr>
              <a:t>Overfitting</a:t>
            </a:r>
            <a:pPr indent="0" marL="0">
              <a:buNone/>
            </a:pPr>
            <a:r>
              <a:rPr lang="en-US" sz="1500" dirty="0">
                <a:solidFill>
                  <a:srgbClr val="023465"/>
                </a:solidFill>
              </a:rPr>
              <a:t> = learning the training answers by heart. The deep tree is almost perfect on training (0.48) but </a:t>
            </a:r>
            <a:pPr indent="0" marL="0">
              <a:buNone/>
            </a:pPr>
            <a:r>
              <a:rPr lang="en-US" sz="1500" b="1" dirty="0">
                <a:solidFill>
                  <a:srgbClr val="D20C0C"/>
                </a:solidFill>
              </a:rPr>
              <a:t>4.59</a:t>
            </a:r>
            <a:pPr indent="0" marL="0">
              <a:buNone/>
            </a:pPr>
            <a:r>
              <a:rPr lang="en-US" sz="1500" dirty="0">
                <a:solidFill>
                  <a:srgbClr val="023465"/>
                </a:solidFill>
              </a:rPr>
              <a:t> on new elections. Tuned Gradient Boosting: 2.99 vs </a:t>
            </a:r>
            <a:pPr indent="0" marL="0">
              <a:buNone/>
            </a:pPr>
            <a:r>
              <a:rPr lang="en-US" sz="1500" b="1" dirty="0">
                <a:solidFill>
                  <a:srgbClr val="D20C0C"/>
                </a:solidFill>
              </a:rPr>
              <a:t>3.15</a:t>
            </a:r>
            <a:pPr indent="0" marL="0">
              <a:buNone/>
            </a:pPr>
            <a:r>
              <a:rPr lang="en-US" sz="1500" dirty="0">
                <a:solidFill>
                  <a:srgbClr val="023465"/>
                </a:solidFill>
              </a:rPr>
              <a:t>.</a:t>
            </a:r>
            <a:endParaRPr lang="en-US" sz="1500" dirty="0"/>
          </a:p>
        </p:txBody>
      </p:sp>
      <p:sp>
        <p:nvSpPr>
          <p:cNvPr id="11" name="card GridSearchCV + GroupKFold"/>
          <p:cNvSpPr/>
          <p:nvPr/>
        </p:nvSpPr>
        <p:spPr>
          <a:xfrm>
            <a:off x="7680960" y="1691640"/>
            <a:ext cx="3959352" cy="1463040"/>
          </a:xfrm>
          <a:prstGeom prst="roundRect">
            <a:avLst>
              <a:gd name="adj" fmla="val 5000"/>
            </a:avLst>
          </a:prstGeom>
          <a:solidFill>
            <a:srgbClr val="F1F4F8"/>
          </a:solidFill>
          <a:ln w="9525">
            <a:solidFill>
              <a:srgbClr val="F1F4F8"/>
            </a:solidFill>
            <a:prstDash val="solid"/>
          </a:ln>
        </p:spPr>
      </p:sp>
      <p:sp>
        <p:nvSpPr>
          <p:cNvPr id="12" name="Shape 9"/>
          <p:cNvSpPr/>
          <p:nvPr/>
        </p:nvSpPr>
        <p:spPr>
          <a:xfrm>
            <a:off x="7863840" y="1874520"/>
            <a:ext cx="457200" cy="457200"/>
          </a:xfrm>
          <a:prstGeom prst="ellipse">
            <a:avLst/>
          </a:prstGeom>
          <a:solidFill>
            <a:srgbClr val="E3EEF8"/>
          </a:solidFill>
          <a:ln w="12700">
            <a:solidFill>
              <a:srgbClr val="E3EEF8"/>
            </a:solidFill>
            <a:prstDash val="solid"/>
          </a:ln>
        </p:spPr>
      </p:sp>
      <p:pic>
        <p:nvPicPr>
          <p:cNvPr id="13" name="Image 0" descr="GridSearchCV + GroupKFold">    </p:cNvPr>
          <p:cNvPicPr>
            <a:picLocks noChangeAspect="1"/>
          </p:cNvPicPr>
          <p:nvPr/>
        </p:nvPicPr>
        <p:blipFill>
          <a:blip r:embed="rId2"/>
          <a:stretch>
            <a:fillRect/>
          </a:stretch>
        </p:blipFill>
        <p:spPr>
          <a:xfrm>
            <a:off x="7973568" y="1984248"/>
            <a:ext cx="237744" cy="237744"/>
          </a:xfrm>
          <a:prstGeom prst="rect">
            <a:avLst/>
          </a:prstGeom>
        </p:spPr>
      </p:pic>
      <p:sp>
        <p:nvSpPr>
          <p:cNvPr id="14" name="Text 10"/>
          <p:cNvSpPr txBox="1"/>
          <p:nvPr/>
        </p:nvSpPr>
        <p:spPr>
          <a:xfrm>
            <a:off x="8458200" y="1856232"/>
            <a:ext cx="2999232" cy="228600"/>
          </a:xfrm>
          <a:prstGeom prst="rect">
            <a:avLst/>
          </a:prstGeom>
          <a:noFill/>
          <a:ln/>
        </p:spPr>
        <p:txBody>
          <a:bodyPr wrap="square" lIns="0" tIns="0" rIns="0" bIns="0" rtlCol="0" anchor="ctr"/>
          <a:lstStyle/>
          <a:p>
            <a:pPr indent="0" marL="0">
              <a:buNone/>
            </a:pPr>
            <a:r>
              <a:rPr lang="en-US" sz="1100" b="1" spc="150" kern="0" dirty="0">
                <a:solidFill>
                  <a:srgbClr val="D20C0C"/>
                </a:solidFill>
              </a:rPr>
              <a:t>GRIDSEARCHCV + GROUPKFOLD</a:t>
            </a:r>
            <a:endParaRPr lang="en-US" sz="1100" dirty="0"/>
          </a:p>
        </p:txBody>
      </p:sp>
      <p:sp>
        <p:nvSpPr>
          <p:cNvPr id="15" name="Text 11"/>
          <p:cNvSpPr txBox="1"/>
          <p:nvPr/>
        </p:nvSpPr>
        <p:spPr>
          <a:xfrm>
            <a:off x="7882128" y="2423160"/>
            <a:ext cx="3557016" cy="621792"/>
          </a:xfrm>
          <a:prstGeom prst="rect">
            <a:avLst/>
          </a:prstGeom>
          <a:noFill/>
          <a:ln/>
        </p:spPr>
        <p:txBody>
          <a:bodyPr wrap="square" lIns="0" tIns="0" rIns="0" bIns="0" rtlCol="0" anchor="t"/>
          <a:lstStyle/>
          <a:p>
            <a:pPr indent="0" marL="0">
              <a:buNone/>
            </a:pPr>
            <a:r>
              <a:rPr lang="en-US" sz="1400" dirty="0">
                <a:solidFill>
                  <a:srgbClr val="4F6886"/>
                </a:solidFill>
              </a:rPr>
              <a:t>Every setting chosen on 1991–2014 only: depth, number of trees, learning rate, loss.</a:t>
            </a:r>
            <a:endParaRPr lang="en-US" sz="1400" dirty="0"/>
          </a:p>
        </p:txBody>
      </p:sp>
      <p:sp>
        <p:nvSpPr>
          <p:cNvPr id="16" name="card Tie rule"/>
          <p:cNvSpPr/>
          <p:nvPr/>
        </p:nvSpPr>
        <p:spPr>
          <a:xfrm>
            <a:off x="7680960" y="3291840"/>
            <a:ext cx="3959352" cy="1463040"/>
          </a:xfrm>
          <a:prstGeom prst="roundRect">
            <a:avLst>
              <a:gd name="adj" fmla="val 5000"/>
            </a:avLst>
          </a:prstGeom>
          <a:solidFill>
            <a:srgbClr val="F1F4F8"/>
          </a:solidFill>
          <a:ln w="9525">
            <a:solidFill>
              <a:srgbClr val="F1F4F8"/>
            </a:solidFill>
            <a:prstDash val="solid"/>
          </a:ln>
        </p:spPr>
      </p:sp>
      <p:sp>
        <p:nvSpPr>
          <p:cNvPr id="17" name="Shape 13"/>
          <p:cNvSpPr/>
          <p:nvPr/>
        </p:nvSpPr>
        <p:spPr>
          <a:xfrm>
            <a:off x="7863840" y="3474720"/>
            <a:ext cx="457200" cy="457200"/>
          </a:xfrm>
          <a:prstGeom prst="ellipse">
            <a:avLst/>
          </a:prstGeom>
          <a:solidFill>
            <a:srgbClr val="E3EEF8"/>
          </a:solidFill>
          <a:ln w="12700">
            <a:solidFill>
              <a:srgbClr val="E3EEF8"/>
            </a:solidFill>
            <a:prstDash val="solid"/>
          </a:ln>
        </p:spPr>
      </p:sp>
      <p:pic>
        <p:nvPicPr>
          <p:cNvPr id="18" name="Image 1" descr="Tie rule">    </p:cNvPr>
          <p:cNvPicPr>
            <a:picLocks noChangeAspect="1"/>
          </p:cNvPicPr>
          <p:nvPr/>
        </p:nvPicPr>
        <p:blipFill>
          <a:blip r:embed="rId3"/>
          <a:stretch>
            <a:fillRect/>
          </a:stretch>
        </p:blipFill>
        <p:spPr>
          <a:xfrm>
            <a:off x="7973568" y="3584448"/>
            <a:ext cx="237744" cy="237744"/>
          </a:xfrm>
          <a:prstGeom prst="rect">
            <a:avLst/>
          </a:prstGeom>
        </p:spPr>
      </p:pic>
      <p:sp>
        <p:nvSpPr>
          <p:cNvPr id="19" name="Text 14"/>
          <p:cNvSpPr txBox="1"/>
          <p:nvPr/>
        </p:nvSpPr>
        <p:spPr>
          <a:xfrm>
            <a:off x="8458200" y="3456432"/>
            <a:ext cx="2999232" cy="228600"/>
          </a:xfrm>
          <a:prstGeom prst="rect">
            <a:avLst/>
          </a:prstGeom>
          <a:noFill/>
          <a:ln/>
        </p:spPr>
        <p:txBody>
          <a:bodyPr wrap="square" lIns="0" tIns="0" rIns="0" bIns="0" rtlCol="0" anchor="ctr"/>
          <a:lstStyle/>
          <a:p>
            <a:pPr indent="0" marL="0">
              <a:buNone/>
            </a:pPr>
            <a:r>
              <a:rPr lang="en-US" sz="1100" b="1" spc="150" kern="0" dirty="0">
                <a:solidFill>
                  <a:srgbClr val="D20C0C"/>
                </a:solidFill>
              </a:rPr>
              <a:t>TIE RULE</a:t>
            </a:r>
            <a:endParaRPr lang="en-US" sz="1100" dirty="0"/>
          </a:p>
        </p:txBody>
      </p:sp>
      <p:sp>
        <p:nvSpPr>
          <p:cNvPr id="20" name="Text 15"/>
          <p:cNvSpPr txBox="1"/>
          <p:nvPr/>
        </p:nvSpPr>
        <p:spPr>
          <a:xfrm>
            <a:off x="7882128" y="4023360"/>
            <a:ext cx="3557016" cy="621792"/>
          </a:xfrm>
          <a:prstGeom prst="rect">
            <a:avLst/>
          </a:prstGeom>
          <a:noFill/>
          <a:ln/>
        </p:spPr>
        <p:txBody>
          <a:bodyPr wrap="square" lIns="0" tIns="0" rIns="0" bIns="0" rtlCol="0" anchor="t"/>
          <a:lstStyle/>
          <a:p>
            <a:pPr indent="0" marL="0">
              <a:buNone/>
            </a:pPr>
            <a:r>
              <a:rPr lang="en-US" sz="1400" dirty="0">
                <a:solidFill>
                  <a:srgbClr val="4F6886"/>
                </a:solidFill>
              </a:rPr>
              <a:t>Depths 4–6 tied, so keep the simplest within 1%: depth 4, 400 trees, learning rate 0.03.</a:t>
            </a:r>
            <a:endParaRPr lang="en-US" sz="1400" dirty="0"/>
          </a:p>
        </p:txBody>
      </p:sp>
      <p:sp>
        <p:nvSpPr>
          <p:cNvPr id="21" name="card Biggest gain"/>
          <p:cNvSpPr/>
          <p:nvPr/>
        </p:nvSpPr>
        <p:spPr>
          <a:xfrm>
            <a:off x="7680960" y="4892040"/>
            <a:ext cx="3959352" cy="1463040"/>
          </a:xfrm>
          <a:prstGeom prst="roundRect">
            <a:avLst>
              <a:gd name="adj" fmla="val 5000"/>
            </a:avLst>
          </a:prstGeom>
          <a:solidFill>
            <a:srgbClr val="F1F4F8"/>
          </a:solidFill>
          <a:ln w="9525">
            <a:solidFill>
              <a:srgbClr val="F1F4F8"/>
            </a:solidFill>
            <a:prstDash val="solid"/>
          </a:ln>
        </p:spPr>
      </p:sp>
      <p:sp>
        <p:nvSpPr>
          <p:cNvPr id="22" name="Shape 17"/>
          <p:cNvSpPr/>
          <p:nvPr/>
        </p:nvSpPr>
        <p:spPr>
          <a:xfrm>
            <a:off x="7863840" y="5074920"/>
            <a:ext cx="457200" cy="457200"/>
          </a:xfrm>
          <a:prstGeom prst="ellipse">
            <a:avLst/>
          </a:prstGeom>
          <a:solidFill>
            <a:srgbClr val="E3EEF8"/>
          </a:solidFill>
          <a:ln w="12700">
            <a:solidFill>
              <a:srgbClr val="E3EEF8"/>
            </a:solidFill>
            <a:prstDash val="solid"/>
          </a:ln>
        </p:spPr>
      </p:sp>
      <p:pic>
        <p:nvPicPr>
          <p:cNvPr id="23" name="Image 2" descr="Biggest gain">    </p:cNvPr>
          <p:cNvPicPr>
            <a:picLocks noChangeAspect="1"/>
          </p:cNvPicPr>
          <p:nvPr/>
        </p:nvPicPr>
        <p:blipFill>
          <a:blip r:embed="rId4"/>
          <a:stretch>
            <a:fillRect/>
          </a:stretch>
        </p:blipFill>
        <p:spPr>
          <a:xfrm>
            <a:off x="7973568" y="5184648"/>
            <a:ext cx="237744" cy="237744"/>
          </a:xfrm>
          <a:prstGeom prst="rect">
            <a:avLst/>
          </a:prstGeom>
        </p:spPr>
      </p:pic>
      <p:sp>
        <p:nvSpPr>
          <p:cNvPr id="24" name="Text 18"/>
          <p:cNvSpPr txBox="1"/>
          <p:nvPr/>
        </p:nvSpPr>
        <p:spPr>
          <a:xfrm>
            <a:off x="8458200" y="5056632"/>
            <a:ext cx="2999232" cy="228600"/>
          </a:xfrm>
          <a:prstGeom prst="rect">
            <a:avLst/>
          </a:prstGeom>
          <a:noFill/>
          <a:ln/>
        </p:spPr>
        <p:txBody>
          <a:bodyPr wrap="square" lIns="0" tIns="0" rIns="0" bIns="0" rtlCol="0" anchor="ctr"/>
          <a:lstStyle/>
          <a:p>
            <a:pPr indent="0" marL="0">
              <a:buNone/>
            </a:pPr>
            <a:r>
              <a:rPr lang="en-US" sz="1100" b="1" spc="150" kern="0" dirty="0">
                <a:solidFill>
                  <a:srgbClr val="D20C0C"/>
                </a:solidFill>
              </a:rPr>
              <a:t>BIGGEST GAIN</a:t>
            </a:r>
            <a:endParaRPr lang="en-US" sz="1100" dirty="0"/>
          </a:p>
        </p:txBody>
      </p:sp>
      <p:sp>
        <p:nvSpPr>
          <p:cNvPr id="25" name="Text 19"/>
          <p:cNvSpPr txBox="1"/>
          <p:nvPr/>
        </p:nvSpPr>
        <p:spPr>
          <a:xfrm>
            <a:off x="7882128" y="5623560"/>
            <a:ext cx="3557016" cy="621792"/>
          </a:xfrm>
          <a:prstGeom prst="rect">
            <a:avLst/>
          </a:prstGeom>
          <a:noFill/>
          <a:ln/>
        </p:spPr>
        <p:txBody>
          <a:bodyPr wrap="square" lIns="0" tIns="0" rIns="0" bIns="0" rtlCol="0" anchor="t"/>
          <a:lstStyle/>
          <a:p>
            <a:pPr indent="0" marL="0">
              <a:buNone/>
            </a:pPr>
            <a:r>
              <a:rPr lang="en-US" sz="1400" dirty="0">
                <a:solidFill>
                  <a:srgbClr val="4F6886"/>
                </a:solidFill>
              </a:rPr>
              <a:t>Absolute-error loss: CV error 3.84 → 3.66. The right loss mattered more than new features.</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688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320040"/>
          </a:xfrm>
          <a:prstGeom prst="rect">
            <a:avLst/>
          </a:prstGeom>
          <a:noFill/>
          <a:ln/>
        </p:spPr>
        <p:txBody>
          <a:bodyPr wrap="square" lIns="0" tIns="0" rIns="0" bIns="0" rtlCol="0" anchor="t"/>
          <a:lstStyle/>
          <a:p>
            <a:pPr indent="0" marL="0">
              <a:buNone/>
            </a:pPr>
            <a:r>
              <a:rPr lang="en-US" sz="1200" b="1" spc="200" kern="0" dirty="0">
                <a:solidFill>
                  <a:srgbClr val="D20C0C"/>
                </a:solidFill>
              </a:rPr>
              <a:t>WHERE THE MODEL BREAKS</a:t>
            </a:r>
            <a:endParaRPr lang="en-US" sz="12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400" b="1" dirty="0">
                <a:solidFill>
                  <a:srgbClr val="023465"/>
                </a:solidFill>
                <a:latin typeface="Arial" pitchFamily="34" charset="0"/>
                <a:ea typeface="Arial" pitchFamily="34" charset="-122"/>
                <a:cs typeface="Arial" pitchFamily="34" charset="-120"/>
              </a:rPr>
              <a:t>Alliances broke the party model</a:t>
            </a:r>
            <a:endParaRPr lang="en-US" sz="3400" dirty="0"/>
          </a:p>
        </p:txBody>
      </p:sp>
      <p:pic>
        <p:nvPicPr>
          <p:cNvPr id="4" name="Image 0" descr="French flag">    </p:cNvPr>
          <p:cNvPicPr>
            <a:picLocks noChangeAspect="1"/>
          </p:cNvPicPr>
          <p:nvPr/>
        </p:nvPicPr>
        <p:blipFill>
          <a:blip r:embed="rId1"/>
          <a:stretch>
            <a:fillRect/>
          </a:stretch>
        </p:blipFill>
        <p:spPr>
          <a:xfrm>
            <a:off x="11091672" y="384048"/>
            <a:ext cx="548640" cy="365760"/>
          </a:xfrm>
          <a:prstGeom prst="rect">
            <a:avLst/>
          </a:prstGeom>
        </p:spPr>
      </p:pic>
      <p:sp>
        <p:nvSpPr>
          <p:cNvPr id="5" name="Text 2"/>
          <p:cNvSpPr txBox="1"/>
          <p:nvPr/>
        </p:nvSpPr>
        <p:spPr>
          <a:xfrm>
            <a:off x="548640" y="1691640"/>
            <a:ext cx="5852160" cy="320040"/>
          </a:xfrm>
          <a:prstGeom prst="rect">
            <a:avLst/>
          </a:prstGeom>
          <a:noFill/>
          <a:ln/>
        </p:spPr>
        <p:txBody>
          <a:bodyPr wrap="square" lIns="0" tIns="0" rIns="0" bIns="0" rtlCol="0" anchor="ctr"/>
          <a:lstStyle/>
          <a:p>
            <a:pPr indent="0" marL="0">
              <a:buNone/>
            </a:pPr>
            <a:r>
              <a:rPr lang="en-US" sz="1600" b="1" dirty="0">
                <a:solidFill>
                  <a:srgbClr val="023465"/>
                </a:solidFill>
              </a:rPr>
              <a:t>A "bloc" = all the parties of one political camp, added up</a:t>
            </a:r>
            <a:endParaRPr lang="en-US" sz="1600" dirty="0"/>
          </a:p>
        </p:txBody>
      </p:sp>
      <p:sp>
        <p:nvSpPr>
          <p:cNvPr id="6" name="Shape 3"/>
          <p:cNvSpPr/>
          <p:nvPr/>
        </p:nvSpPr>
        <p:spPr>
          <a:xfrm>
            <a:off x="548640" y="2148840"/>
            <a:ext cx="2468880" cy="365760"/>
          </a:xfrm>
          <a:prstGeom prst="roundRect">
            <a:avLst>
              <a:gd name="adj" fmla="val 15000"/>
            </a:avLst>
          </a:prstGeom>
          <a:solidFill>
            <a:srgbClr val="F1F4F8"/>
          </a:solidFill>
          <a:ln w="12700">
            <a:solidFill>
              <a:srgbClr val="E1E1E1"/>
            </a:solidFill>
            <a:prstDash val="solid"/>
          </a:ln>
        </p:spPr>
      </p:sp>
      <p:sp>
        <p:nvSpPr>
          <p:cNvPr id="7" name="Text 4"/>
          <p:cNvSpPr txBox="1"/>
          <p:nvPr/>
        </p:nvSpPr>
        <p:spPr>
          <a:xfrm>
            <a:off x="685800" y="2148840"/>
            <a:ext cx="2286000" cy="365760"/>
          </a:xfrm>
          <a:prstGeom prst="rect">
            <a:avLst/>
          </a:prstGeom>
          <a:noFill/>
          <a:ln/>
        </p:spPr>
        <p:txBody>
          <a:bodyPr wrap="square" lIns="0" tIns="0" rIns="0" bIns="0" rtlCol="0" anchor="ctr"/>
          <a:lstStyle/>
          <a:p>
            <a:pPr indent="0" marL="0">
              <a:buNone/>
            </a:pPr>
            <a:r>
              <a:rPr lang="en-US" sz="1400" dirty="0">
                <a:solidFill>
                  <a:srgbClr val="023465"/>
                </a:solidFill>
              </a:rPr>
              <a:t>LFI · PCF</a:t>
            </a:r>
            <a:endParaRPr lang="en-US" sz="1400" dirty="0"/>
          </a:p>
        </p:txBody>
      </p:sp>
      <p:sp>
        <p:nvSpPr>
          <p:cNvPr id="8" name="Shape 5"/>
          <p:cNvSpPr/>
          <p:nvPr/>
        </p:nvSpPr>
        <p:spPr>
          <a:xfrm>
            <a:off x="3154680" y="2240280"/>
            <a:ext cx="457200" cy="182880"/>
          </a:xfrm>
          <a:prstGeom prst="rightArrow">
            <a:avLst/>
          </a:prstGeom>
          <a:solidFill>
            <a:srgbClr val="CACACA"/>
          </a:solidFill>
          <a:ln w="12700">
            <a:solidFill>
              <a:srgbClr val="CACACA"/>
            </a:solidFill>
            <a:prstDash val="solid"/>
          </a:ln>
        </p:spPr>
      </p:sp>
      <p:sp>
        <p:nvSpPr>
          <p:cNvPr id="9" name="Shape 6"/>
          <p:cNvSpPr/>
          <p:nvPr/>
        </p:nvSpPr>
        <p:spPr>
          <a:xfrm>
            <a:off x="3749040" y="2148840"/>
            <a:ext cx="2377440" cy="365760"/>
          </a:xfrm>
          <a:prstGeom prst="roundRect">
            <a:avLst>
              <a:gd name="adj" fmla="val 15000"/>
            </a:avLst>
          </a:prstGeom>
          <a:solidFill>
            <a:srgbClr val="418BCA"/>
          </a:solidFill>
          <a:ln w="12700">
            <a:solidFill>
              <a:srgbClr val="418BCA"/>
            </a:solidFill>
            <a:prstDash val="solid"/>
          </a:ln>
        </p:spPr>
      </p:sp>
      <p:sp>
        <p:nvSpPr>
          <p:cNvPr id="10" name="Text 7"/>
          <p:cNvSpPr txBox="1"/>
          <p:nvPr/>
        </p:nvSpPr>
        <p:spPr>
          <a:xfrm>
            <a:off x="3886200" y="2148840"/>
            <a:ext cx="2194560" cy="365760"/>
          </a:xfrm>
          <a:prstGeom prst="rect">
            <a:avLst/>
          </a:prstGeom>
          <a:noFill/>
          <a:ln/>
        </p:spPr>
        <p:txBody>
          <a:bodyPr wrap="square" lIns="0" tIns="0" rIns="0" bIns="0" rtlCol="0" anchor="ctr"/>
          <a:lstStyle/>
          <a:p>
            <a:pPr indent="0" marL="0">
              <a:buNone/>
            </a:pPr>
            <a:r>
              <a:rPr lang="en-US" sz="1400" b="1" dirty="0">
                <a:solidFill>
                  <a:srgbClr val="FFFFFF"/>
                </a:solidFill>
              </a:rPr>
              <a:t>Far left</a:t>
            </a:r>
            <a:endParaRPr lang="en-US" sz="1400" dirty="0"/>
          </a:p>
        </p:txBody>
      </p:sp>
      <p:sp>
        <p:nvSpPr>
          <p:cNvPr id="11" name="Shape 8"/>
          <p:cNvSpPr/>
          <p:nvPr/>
        </p:nvSpPr>
        <p:spPr>
          <a:xfrm>
            <a:off x="548640" y="2606040"/>
            <a:ext cx="2468880" cy="365760"/>
          </a:xfrm>
          <a:prstGeom prst="roundRect">
            <a:avLst>
              <a:gd name="adj" fmla="val 15000"/>
            </a:avLst>
          </a:prstGeom>
          <a:solidFill>
            <a:srgbClr val="F1F4F8"/>
          </a:solidFill>
          <a:ln w="12700">
            <a:solidFill>
              <a:srgbClr val="E1E1E1"/>
            </a:solidFill>
            <a:prstDash val="solid"/>
          </a:ln>
        </p:spPr>
      </p:sp>
      <p:sp>
        <p:nvSpPr>
          <p:cNvPr id="12" name="Text 9"/>
          <p:cNvSpPr txBox="1"/>
          <p:nvPr/>
        </p:nvSpPr>
        <p:spPr>
          <a:xfrm>
            <a:off x="685800" y="2606040"/>
            <a:ext cx="2286000" cy="365760"/>
          </a:xfrm>
          <a:prstGeom prst="rect">
            <a:avLst/>
          </a:prstGeom>
          <a:noFill/>
          <a:ln/>
        </p:spPr>
        <p:txBody>
          <a:bodyPr wrap="square" lIns="0" tIns="0" rIns="0" bIns="0" rtlCol="0" anchor="ctr"/>
          <a:lstStyle/>
          <a:p>
            <a:pPr indent="0" marL="0">
              <a:buNone/>
            </a:pPr>
            <a:r>
              <a:rPr lang="en-US" sz="1400" dirty="0">
                <a:solidFill>
                  <a:srgbClr val="023465"/>
                </a:solidFill>
              </a:rPr>
              <a:t>PS · Greens</a:t>
            </a:r>
            <a:endParaRPr lang="en-US" sz="1400" dirty="0"/>
          </a:p>
        </p:txBody>
      </p:sp>
      <p:sp>
        <p:nvSpPr>
          <p:cNvPr id="13" name="Shape 10"/>
          <p:cNvSpPr/>
          <p:nvPr/>
        </p:nvSpPr>
        <p:spPr>
          <a:xfrm>
            <a:off x="3154680" y="2697480"/>
            <a:ext cx="457200" cy="182880"/>
          </a:xfrm>
          <a:prstGeom prst="rightArrow">
            <a:avLst/>
          </a:prstGeom>
          <a:solidFill>
            <a:srgbClr val="CACACA"/>
          </a:solidFill>
          <a:ln w="12700">
            <a:solidFill>
              <a:srgbClr val="CACACA"/>
            </a:solidFill>
            <a:prstDash val="solid"/>
          </a:ln>
        </p:spPr>
      </p:sp>
      <p:sp>
        <p:nvSpPr>
          <p:cNvPr id="14" name="Shape 11"/>
          <p:cNvSpPr/>
          <p:nvPr/>
        </p:nvSpPr>
        <p:spPr>
          <a:xfrm>
            <a:off x="3749040" y="2606040"/>
            <a:ext cx="2377440" cy="365760"/>
          </a:xfrm>
          <a:prstGeom prst="roundRect">
            <a:avLst>
              <a:gd name="adj" fmla="val 15000"/>
            </a:avLst>
          </a:prstGeom>
          <a:solidFill>
            <a:srgbClr val="418BCA"/>
          </a:solidFill>
          <a:ln w="12700">
            <a:solidFill>
              <a:srgbClr val="418BCA"/>
            </a:solidFill>
            <a:prstDash val="solid"/>
          </a:ln>
        </p:spPr>
      </p:sp>
      <p:sp>
        <p:nvSpPr>
          <p:cNvPr id="15" name="Text 12"/>
          <p:cNvSpPr txBox="1"/>
          <p:nvPr/>
        </p:nvSpPr>
        <p:spPr>
          <a:xfrm>
            <a:off x="3886200" y="2606040"/>
            <a:ext cx="2194560" cy="365760"/>
          </a:xfrm>
          <a:prstGeom prst="rect">
            <a:avLst/>
          </a:prstGeom>
          <a:noFill/>
          <a:ln/>
        </p:spPr>
        <p:txBody>
          <a:bodyPr wrap="square" lIns="0" tIns="0" rIns="0" bIns="0" rtlCol="0" anchor="ctr"/>
          <a:lstStyle/>
          <a:p>
            <a:pPr indent="0" marL="0">
              <a:buNone/>
            </a:pPr>
            <a:r>
              <a:rPr lang="en-US" sz="1400" b="1" dirty="0">
                <a:solidFill>
                  <a:srgbClr val="FFFFFF"/>
                </a:solidFill>
              </a:rPr>
              <a:t>Left</a:t>
            </a:r>
            <a:endParaRPr lang="en-US" sz="1400" dirty="0"/>
          </a:p>
        </p:txBody>
      </p:sp>
      <p:sp>
        <p:nvSpPr>
          <p:cNvPr id="16" name="Shape 13"/>
          <p:cNvSpPr/>
          <p:nvPr/>
        </p:nvSpPr>
        <p:spPr>
          <a:xfrm>
            <a:off x="548640" y="3063240"/>
            <a:ext cx="2468880" cy="365760"/>
          </a:xfrm>
          <a:prstGeom prst="roundRect">
            <a:avLst>
              <a:gd name="adj" fmla="val 15000"/>
            </a:avLst>
          </a:prstGeom>
          <a:solidFill>
            <a:srgbClr val="F1F4F8"/>
          </a:solidFill>
          <a:ln w="12700">
            <a:solidFill>
              <a:srgbClr val="E1E1E1"/>
            </a:solidFill>
            <a:prstDash val="solid"/>
          </a:ln>
        </p:spPr>
      </p:sp>
      <p:sp>
        <p:nvSpPr>
          <p:cNvPr id="17" name="Text 14"/>
          <p:cNvSpPr txBox="1"/>
          <p:nvPr/>
        </p:nvSpPr>
        <p:spPr>
          <a:xfrm>
            <a:off x="685800" y="3063240"/>
            <a:ext cx="2286000" cy="365760"/>
          </a:xfrm>
          <a:prstGeom prst="rect">
            <a:avLst/>
          </a:prstGeom>
          <a:noFill/>
          <a:ln/>
        </p:spPr>
        <p:txBody>
          <a:bodyPr wrap="square" lIns="0" tIns="0" rIns="0" bIns="0" rtlCol="0" anchor="ctr"/>
          <a:lstStyle/>
          <a:p>
            <a:pPr indent="0" marL="0">
              <a:buNone/>
            </a:pPr>
            <a:r>
              <a:rPr lang="en-US" sz="1400" dirty="0">
                <a:solidFill>
                  <a:srgbClr val="023465"/>
                </a:solidFill>
              </a:rPr>
              <a:t>Ensemble · Horizons</a:t>
            </a:r>
            <a:endParaRPr lang="en-US" sz="1400" dirty="0"/>
          </a:p>
        </p:txBody>
      </p:sp>
      <p:sp>
        <p:nvSpPr>
          <p:cNvPr id="18" name="Shape 15"/>
          <p:cNvSpPr/>
          <p:nvPr/>
        </p:nvSpPr>
        <p:spPr>
          <a:xfrm>
            <a:off x="3154680" y="3154680"/>
            <a:ext cx="457200" cy="182880"/>
          </a:xfrm>
          <a:prstGeom prst="rightArrow">
            <a:avLst/>
          </a:prstGeom>
          <a:solidFill>
            <a:srgbClr val="CACACA"/>
          </a:solidFill>
          <a:ln w="12700">
            <a:solidFill>
              <a:srgbClr val="CACACA"/>
            </a:solidFill>
            <a:prstDash val="solid"/>
          </a:ln>
        </p:spPr>
      </p:sp>
      <p:sp>
        <p:nvSpPr>
          <p:cNvPr id="19" name="Shape 16"/>
          <p:cNvSpPr/>
          <p:nvPr/>
        </p:nvSpPr>
        <p:spPr>
          <a:xfrm>
            <a:off x="3749040" y="3063240"/>
            <a:ext cx="2377440" cy="365760"/>
          </a:xfrm>
          <a:prstGeom prst="roundRect">
            <a:avLst>
              <a:gd name="adj" fmla="val 15000"/>
            </a:avLst>
          </a:prstGeom>
          <a:solidFill>
            <a:srgbClr val="418BCA"/>
          </a:solidFill>
          <a:ln w="12700">
            <a:solidFill>
              <a:srgbClr val="418BCA"/>
            </a:solidFill>
            <a:prstDash val="solid"/>
          </a:ln>
        </p:spPr>
      </p:sp>
      <p:sp>
        <p:nvSpPr>
          <p:cNvPr id="20" name="Text 17"/>
          <p:cNvSpPr txBox="1"/>
          <p:nvPr/>
        </p:nvSpPr>
        <p:spPr>
          <a:xfrm>
            <a:off x="3886200" y="3063240"/>
            <a:ext cx="2194560" cy="365760"/>
          </a:xfrm>
          <a:prstGeom prst="rect">
            <a:avLst/>
          </a:prstGeom>
          <a:noFill/>
          <a:ln/>
        </p:spPr>
        <p:txBody>
          <a:bodyPr wrap="square" lIns="0" tIns="0" rIns="0" bIns="0" rtlCol="0" anchor="ctr"/>
          <a:lstStyle/>
          <a:p>
            <a:pPr indent="0" marL="0">
              <a:buNone/>
            </a:pPr>
            <a:r>
              <a:rPr lang="en-US" sz="1400" b="1" dirty="0">
                <a:solidFill>
                  <a:srgbClr val="FFFFFF"/>
                </a:solidFill>
              </a:rPr>
              <a:t>Centre</a:t>
            </a:r>
            <a:endParaRPr lang="en-US" sz="1400" dirty="0"/>
          </a:p>
        </p:txBody>
      </p:sp>
      <p:sp>
        <p:nvSpPr>
          <p:cNvPr id="21" name="Shape 18"/>
          <p:cNvSpPr/>
          <p:nvPr/>
        </p:nvSpPr>
        <p:spPr>
          <a:xfrm>
            <a:off x="548640" y="3520440"/>
            <a:ext cx="2468880" cy="365760"/>
          </a:xfrm>
          <a:prstGeom prst="roundRect">
            <a:avLst>
              <a:gd name="adj" fmla="val 15000"/>
            </a:avLst>
          </a:prstGeom>
          <a:solidFill>
            <a:srgbClr val="F1F4F8"/>
          </a:solidFill>
          <a:ln w="12700">
            <a:solidFill>
              <a:srgbClr val="E1E1E1"/>
            </a:solidFill>
            <a:prstDash val="solid"/>
          </a:ln>
        </p:spPr>
      </p:sp>
      <p:sp>
        <p:nvSpPr>
          <p:cNvPr id="22" name="Text 19"/>
          <p:cNvSpPr txBox="1"/>
          <p:nvPr/>
        </p:nvSpPr>
        <p:spPr>
          <a:xfrm>
            <a:off x="685800" y="3520440"/>
            <a:ext cx="2286000" cy="365760"/>
          </a:xfrm>
          <a:prstGeom prst="rect">
            <a:avLst/>
          </a:prstGeom>
          <a:noFill/>
          <a:ln/>
        </p:spPr>
        <p:txBody>
          <a:bodyPr wrap="square" lIns="0" tIns="0" rIns="0" bIns="0" rtlCol="0" anchor="ctr"/>
          <a:lstStyle/>
          <a:p>
            <a:pPr indent="0" marL="0">
              <a:buNone/>
            </a:pPr>
            <a:r>
              <a:rPr lang="en-US" sz="1400" dirty="0">
                <a:solidFill>
                  <a:srgbClr val="023465"/>
                </a:solidFill>
              </a:rPr>
              <a:t>LR · UDI</a:t>
            </a:r>
            <a:endParaRPr lang="en-US" sz="1400" dirty="0"/>
          </a:p>
        </p:txBody>
      </p:sp>
      <p:sp>
        <p:nvSpPr>
          <p:cNvPr id="23" name="Shape 20"/>
          <p:cNvSpPr/>
          <p:nvPr/>
        </p:nvSpPr>
        <p:spPr>
          <a:xfrm>
            <a:off x="3154680" y="3611880"/>
            <a:ext cx="457200" cy="182880"/>
          </a:xfrm>
          <a:prstGeom prst="rightArrow">
            <a:avLst/>
          </a:prstGeom>
          <a:solidFill>
            <a:srgbClr val="CACACA"/>
          </a:solidFill>
          <a:ln w="12700">
            <a:solidFill>
              <a:srgbClr val="CACACA"/>
            </a:solidFill>
            <a:prstDash val="solid"/>
          </a:ln>
        </p:spPr>
      </p:sp>
      <p:sp>
        <p:nvSpPr>
          <p:cNvPr id="24" name="Shape 21"/>
          <p:cNvSpPr/>
          <p:nvPr/>
        </p:nvSpPr>
        <p:spPr>
          <a:xfrm>
            <a:off x="3749040" y="3520440"/>
            <a:ext cx="2377440" cy="365760"/>
          </a:xfrm>
          <a:prstGeom prst="roundRect">
            <a:avLst>
              <a:gd name="adj" fmla="val 15000"/>
            </a:avLst>
          </a:prstGeom>
          <a:solidFill>
            <a:srgbClr val="418BCA"/>
          </a:solidFill>
          <a:ln w="12700">
            <a:solidFill>
              <a:srgbClr val="418BCA"/>
            </a:solidFill>
            <a:prstDash val="solid"/>
          </a:ln>
        </p:spPr>
      </p:sp>
      <p:sp>
        <p:nvSpPr>
          <p:cNvPr id="25" name="Text 22"/>
          <p:cNvSpPr txBox="1"/>
          <p:nvPr/>
        </p:nvSpPr>
        <p:spPr>
          <a:xfrm>
            <a:off x="3886200" y="3520440"/>
            <a:ext cx="2194560" cy="365760"/>
          </a:xfrm>
          <a:prstGeom prst="rect">
            <a:avLst/>
          </a:prstGeom>
          <a:noFill/>
          <a:ln/>
        </p:spPr>
        <p:txBody>
          <a:bodyPr wrap="square" lIns="0" tIns="0" rIns="0" bIns="0" rtlCol="0" anchor="ctr"/>
          <a:lstStyle/>
          <a:p>
            <a:pPr indent="0" marL="0">
              <a:buNone/>
            </a:pPr>
            <a:r>
              <a:rPr lang="en-US" sz="1400" b="1" dirty="0">
                <a:solidFill>
                  <a:srgbClr val="FFFFFF"/>
                </a:solidFill>
              </a:rPr>
              <a:t>Right</a:t>
            </a:r>
            <a:endParaRPr lang="en-US" sz="1400" dirty="0"/>
          </a:p>
        </p:txBody>
      </p:sp>
      <p:sp>
        <p:nvSpPr>
          <p:cNvPr id="26" name="Shape 23"/>
          <p:cNvSpPr/>
          <p:nvPr/>
        </p:nvSpPr>
        <p:spPr>
          <a:xfrm>
            <a:off x="548640" y="3977640"/>
            <a:ext cx="2468880" cy="365760"/>
          </a:xfrm>
          <a:prstGeom prst="roundRect">
            <a:avLst>
              <a:gd name="adj" fmla="val 15000"/>
            </a:avLst>
          </a:prstGeom>
          <a:solidFill>
            <a:srgbClr val="F1F4F8"/>
          </a:solidFill>
          <a:ln w="12700">
            <a:solidFill>
              <a:srgbClr val="E1E1E1"/>
            </a:solidFill>
            <a:prstDash val="solid"/>
          </a:ln>
        </p:spPr>
      </p:sp>
      <p:sp>
        <p:nvSpPr>
          <p:cNvPr id="27" name="Text 24"/>
          <p:cNvSpPr txBox="1"/>
          <p:nvPr/>
        </p:nvSpPr>
        <p:spPr>
          <a:xfrm>
            <a:off x="685800" y="3977640"/>
            <a:ext cx="2286000" cy="365760"/>
          </a:xfrm>
          <a:prstGeom prst="rect">
            <a:avLst/>
          </a:prstGeom>
          <a:noFill/>
          <a:ln/>
        </p:spPr>
        <p:txBody>
          <a:bodyPr wrap="square" lIns="0" tIns="0" rIns="0" bIns="0" rtlCol="0" anchor="ctr"/>
          <a:lstStyle/>
          <a:p>
            <a:pPr indent="0" marL="0">
              <a:buNone/>
            </a:pPr>
            <a:r>
              <a:rPr lang="en-US" sz="1400" dirty="0">
                <a:solidFill>
                  <a:srgbClr val="023465"/>
                </a:solidFill>
              </a:rPr>
              <a:t>RN · Reconquête</a:t>
            </a:r>
            <a:endParaRPr lang="en-US" sz="1400" dirty="0"/>
          </a:p>
        </p:txBody>
      </p:sp>
      <p:sp>
        <p:nvSpPr>
          <p:cNvPr id="28" name="Shape 25"/>
          <p:cNvSpPr/>
          <p:nvPr/>
        </p:nvSpPr>
        <p:spPr>
          <a:xfrm>
            <a:off x="3154680" y="4069080"/>
            <a:ext cx="457200" cy="182880"/>
          </a:xfrm>
          <a:prstGeom prst="rightArrow">
            <a:avLst/>
          </a:prstGeom>
          <a:solidFill>
            <a:srgbClr val="CACACA"/>
          </a:solidFill>
          <a:ln w="12700">
            <a:solidFill>
              <a:srgbClr val="CACACA"/>
            </a:solidFill>
            <a:prstDash val="solid"/>
          </a:ln>
        </p:spPr>
      </p:sp>
      <p:sp>
        <p:nvSpPr>
          <p:cNvPr id="29" name="Shape 26"/>
          <p:cNvSpPr/>
          <p:nvPr/>
        </p:nvSpPr>
        <p:spPr>
          <a:xfrm>
            <a:off x="3749040" y="3977640"/>
            <a:ext cx="2377440" cy="365760"/>
          </a:xfrm>
          <a:prstGeom prst="roundRect">
            <a:avLst>
              <a:gd name="adj" fmla="val 15000"/>
            </a:avLst>
          </a:prstGeom>
          <a:solidFill>
            <a:srgbClr val="418BCA"/>
          </a:solidFill>
          <a:ln w="12700">
            <a:solidFill>
              <a:srgbClr val="418BCA"/>
            </a:solidFill>
            <a:prstDash val="solid"/>
          </a:ln>
        </p:spPr>
      </p:sp>
      <p:sp>
        <p:nvSpPr>
          <p:cNvPr id="30" name="Text 27"/>
          <p:cNvSpPr txBox="1"/>
          <p:nvPr/>
        </p:nvSpPr>
        <p:spPr>
          <a:xfrm>
            <a:off x="3886200" y="3977640"/>
            <a:ext cx="2194560" cy="365760"/>
          </a:xfrm>
          <a:prstGeom prst="rect">
            <a:avLst/>
          </a:prstGeom>
          <a:noFill/>
          <a:ln/>
        </p:spPr>
        <p:txBody>
          <a:bodyPr wrap="square" lIns="0" tIns="0" rIns="0" bIns="0" rtlCol="0" anchor="ctr"/>
          <a:lstStyle/>
          <a:p>
            <a:pPr indent="0" marL="0">
              <a:buNone/>
            </a:pPr>
            <a:r>
              <a:rPr lang="en-US" sz="1400" b="1" dirty="0">
                <a:solidFill>
                  <a:srgbClr val="FFFFFF"/>
                </a:solidFill>
              </a:rPr>
              <a:t>Far right</a:t>
            </a:r>
            <a:endParaRPr lang="en-US" sz="1400" dirty="0"/>
          </a:p>
        </p:txBody>
      </p:sp>
      <p:sp>
        <p:nvSpPr>
          <p:cNvPr id="31" name="card Party model"/>
          <p:cNvSpPr/>
          <p:nvPr/>
        </p:nvSpPr>
        <p:spPr>
          <a:xfrm>
            <a:off x="548640" y="4572000"/>
            <a:ext cx="2743200" cy="1783080"/>
          </a:xfrm>
          <a:prstGeom prst="roundRect">
            <a:avLst>
              <a:gd name="adj" fmla="val 4103"/>
            </a:avLst>
          </a:prstGeom>
          <a:solidFill>
            <a:srgbClr val="FFFFFF"/>
          </a:solidFill>
          <a:ln w="19050">
            <a:solidFill>
              <a:srgbClr val="D20C0C"/>
            </a:solidFill>
            <a:prstDash val="solid"/>
          </a:ln>
        </p:spPr>
      </p:sp>
      <p:sp>
        <p:nvSpPr>
          <p:cNvPr id="32" name="Text 29"/>
          <p:cNvSpPr txBox="1"/>
          <p:nvPr/>
        </p:nvSpPr>
        <p:spPr>
          <a:xfrm>
            <a:off x="749808" y="4736592"/>
            <a:ext cx="2359152" cy="228600"/>
          </a:xfrm>
          <a:prstGeom prst="rect">
            <a:avLst/>
          </a:prstGeom>
          <a:noFill/>
          <a:ln/>
        </p:spPr>
        <p:txBody>
          <a:bodyPr wrap="square" lIns="0" tIns="0" rIns="0" bIns="0" rtlCol="0" anchor="ctr"/>
          <a:lstStyle/>
          <a:p>
            <a:pPr indent="0" marL="0">
              <a:buNone/>
            </a:pPr>
            <a:r>
              <a:rPr lang="en-US" sz="1100" b="1" spc="150" kern="0" dirty="0">
                <a:solidFill>
                  <a:srgbClr val="D20C0C"/>
                </a:solidFill>
              </a:rPr>
              <a:t>PARTY MODEL</a:t>
            </a:r>
            <a:endParaRPr lang="en-US" sz="1100" dirty="0"/>
          </a:p>
        </p:txBody>
      </p:sp>
      <p:sp>
        <p:nvSpPr>
          <p:cNvPr id="33" name="Text 30"/>
          <p:cNvSpPr txBox="1"/>
          <p:nvPr/>
        </p:nvSpPr>
        <p:spPr>
          <a:xfrm>
            <a:off x="749808" y="5029200"/>
            <a:ext cx="2359152" cy="1216152"/>
          </a:xfrm>
          <a:prstGeom prst="rect">
            <a:avLst/>
          </a:prstGeom>
          <a:noFill/>
          <a:ln/>
        </p:spPr>
        <p:txBody>
          <a:bodyPr wrap="square" lIns="0" tIns="0" rIns="0" bIns="0" rtlCol="0" anchor="t"/>
          <a:lstStyle/>
          <a:p>
            <a:pPr indent="0" marL="0">
              <a:buNone/>
            </a:pPr>
            <a:r>
              <a:rPr lang="en-US" sz="1400" dirty="0">
                <a:solidFill>
                  <a:srgbClr val="4F6886"/>
                </a:solidFill>
              </a:rPr>
              <a:t>One prediction per party, from its own past results. Best overall: 3.15.</a:t>
            </a:r>
            <a:endParaRPr lang="en-US" sz="1400" dirty="0"/>
          </a:p>
        </p:txBody>
      </p:sp>
      <p:sp>
        <p:nvSpPr>
          <p:cNvPr id="34" name="card Bloc model"/>
          <p:cNvSpPr/>
          <p:nvPr/>
        </p:nvSpPr>
        <p:spPr>
          <a:xfrm>
            <a:off x="3429000" y="4572000"/>
            <a:ext cx="2743200" cy="1783080"/>
          </a:xfrm>
          <a:prstGeom prst="roundRect">
            <a:avLst>
              <a:gd name="adj" fmla="val 4103"/>
            </a:avLst>
          </a:prstGeom>
          <a:solidFill>
            <a:srgbClr val="FFFFFF"/>
          </a:solidFill>
          <a:ln w="19050">
            <a:solidFill>
              <a:srgbClr val="418BCA"/>
            </a:solidFill>
            <a:prstDash val="solid"/>
          </a:ln>
        </p:spPr>
      </p:sp>
      <p:sp>
        <p:nvSpPr>
          <p:cNvPr id="35" name="Text 32"/>
          <p:cNvSpPr txBox="1"/>
          <p:nvPr/>
        </p:nvSpPr>
        <p:spPr>
          <a:xfrm>
            <a:off x="3630168" y="4736592"/>
            <a:ext cx="2359152" cy="228600"/>
          </a:xfrm>
          <a:prstGeom prst="rect">
            <a:avLst/>
          </a:prstGeom>
          <a:noFill/>
          <a:ln/>
        </p:spPr>
        <p:txBody>
          <a:bodyPr wrap="square" lIns="0" tIns="0" rIns="0" bIns="0" rtlCol="0" anchor="ctr"/>
          <a:lstStyle/>
          <a:p>
            <a:pPr indent="0" marL="0">
              <a:buNone/>
            </a:pPr>
            <a:r>
              <a:rPr lang="en-US" sz="1100" b="1" spc="150" kern="0" dirty="0">
                <a:solidFill>
                  <a:srgbClr val="418BCA"/>
                </a:solidFill>
              </a:rPr>
              <a:t>BLOC MODEL</a:t>
            </a:r>
            <a:endParaRPr lang="en-US" sz="1100" dirty="0"/>
          </a:p>
        </p:txBody>
      </p:sp>
      <p:sp>
        <p:nvSpPr>
          <p:cNvPr id="36" name="Text 33"/>
          <p:cNvSpPr txBox="1"/>
          <p:nvPr/>
        </p:nvSpPr>
        <p:spPr>
          <a:xfrm>
            <a:off x="3630168" y="5029200"/>
            <a:ext cx="2359152" cy="1216152"/>
          </a:xfrm>
          <a:prstGeom prst="rect">
            <a:avLst/>
          </a:prstGeom>
          <a:noFill/>
          <a:ln/>
        </p:spPr>
        <p:txBody>
          <a:bodyPr wrap="square" lIns="0" tIns="0" rIns="0" bIns="0" rtlCol="0" anchor="t"/>
          <a:lstStyle/>
          <a:p>
            <a:pPr indent="0" marL="0">
              <a:buNone/>
            </a:pPr>
            <a:r>
              <a:rPr lang="en-US" sz="1400" dirty="0">
                <a:solidFill>
                  <a:srgbClr val="4F6886"/>
                </a:solidFill>
              </a:rPr>
              <a:t>Same method, one prediction per camp. Ignores who runs with whom.</a:t>
            </a:r>
            <a:endParaRPr lang="en-US" sz="1400" dirty="0"/>
          </a:p>
        </p:txBody>
      </p:sp>
      <p:sp>
        <p:nvSpPr>
          <p:cNvPr id="37" name="Text 34"/>
          <p:cNvSpPr txBox="1"/>
          <p:nvPr/>
        </p:nvSpPr>
        <p:spPr>
          <a:xfrm>
            <a:off x="6675120" y="1691640"/>
            <a:ext cx="4937760" cy="320040"/>
          </a:xfrm>
          <a:prstGeom prst="rect">
            <a:avLst/>
          </a:prstGeom>
          <a:noFill/>
          <a:ln/>
        </p:spPr>
        <p:txBody>
          <a:bodyPr wrap="square" lIns="0" tIns="0" rIns="0" bIns="0" rtlCol="0" anchor="ctr"/>
          <a:lstStyle/>
          <a:p>
            <a:pPr indent="0" marL="0">
              <a:buNone/>
            </a:pPr>
            <a:r>
              <a:rPr lang="en-US" sz="1600" b="1" dirty="0">
                <a:solidFill>
                  <a:srgbClr val="023465"/>
                </a:solidFill>
              </a:rPr>
              <a:t>France 2022 · far left + left together</a:t>
            </a:r>
            <a:endParaRPr lang="en-US" sz="1600" dirty="0"/>
          </a:p>
        </p:txBody>
      </p:sp>
      <p:sp>
        <p:nvSpPr>
          <p:cNvPr id="38" name="Text 35"/>
          <p:cNvSpPr txBox="1"/>
          <p:nvPr/>
        </p:nvSpPr>
        <p:spPr>
          <a:xfrm>
            <a:off x="6675120" y="2011680"/>
            <a:ext cx="4937760" cy="274320"/>
          </a:xfrm>
          <a:prstGeom prst="rect">
            <a:avLst/>
          </a:prstGeom>
          <a:noFill/>
          <a:ln/>
        </p:spPr>
        <p:txBody>
          <a:bodyPr wrap="square" lIns="0" tIns="0" rIns="0" bIns="0" rtlCol="0" anchor="ctr"/>
          <a:lstStyle/>
          <a:p>
            <a:pPr indent="0" marL="0">
              <a:buNone/>
            </a:pPr>
            <a:r>
              <a:rPr lang="en-US" sz="1200" dirty="0">
                <a:solidFill>
                  <a:srgbClr val="4F6886"/>
                </a:solidFill>
              </a:rPr>
              <a:t>LFI, PCF, PS and Greens ran together as NUPES, stored under one name</a:t>
            </a:r>
            <a:endParaRPr lang="en-US" sz="1200" dirty="0"/>
          </a:p>
        </p:txBody>
      </p:sp>
      <p:graphicFrame>
        <p:nvGraphicFramePr>
          <p:cNvPr id="39" name="Chart 0" descr=""/>
          <p:cNvGraphicFramePr/>
          <p:nvPr/>
        </p:nvGraphicFramePr>
        <p:xfrm>
          <a:off x="6537960" y="2331720"/>
          <a:ext cx="5166360" cy="3337560"/>
        </p:xfrm>
        <a:graphic xmlns:a="http://schemas.openxmlformats.org/drawingml/2006/main">
          <a:graphicData uri="http://schemas.openxmlformats.org/drawingml/2006/chart">
            <c:chart xmlns:c="http://schemas.openxmlformats.org/drawingml/2006/chart" r:id="rId2"/>
          </a:graphicData>
        </a:graphic>
      </p:graphicFrame>
      <p:sp>
        <p:nvSpPr>
          <p:cNvPr id="40" name="Text 36"/>
          <p:cNvSpPr txBox="1"/>
          <p:nvPr/>
        </p:nvSpPr>
        <p:spPr>
          <a:xfrm>
            <a:off x="6675120" y="5806440"/>
            <a:ext cx="4937760" cy="502920"/>
          </a:xfrm>
          <a:prstGeom prst="rect">
            <a:avLst/>
          </a:prstGeom>
          <a:noFill/>
          <a:ln/>
        </p:spPr>
        <p:txBody>
          <a:bodyPr wrap="square" lIns="0" tIns="0" rIns="0" bIns="0" rtlCol="0" anchor="ctr"/>
          <a:lstStyle/>
          <a:p>
            <a:pPr indent="0" marL="0">
              <a:buNone/>
            </a:pPr>
            <a:r>
              <a:rPr lang="en-US" sz="1600" dirty="0">
                <a:solidFill>
                  <a:srgbClr val="023465"/>
                </a:solidFill>
              </a:rPr>
              <a:t>Party model: </a:t>
            </a:r>
            <a:pPr indent="0" marL="0">
              <a:buNone/>
            </a:pPr>
            <a:r>
              <a:rPr lang="en-US" sz="1600" b="1" dirty="0">
                <a:solidFill>
                  <a:srgbClr val="D20C0C"/>
                </a:solidFill>
              </a:rPr>
              <a:t>14.7 points off</a:t>
            </a:r>
            <a:pPr indent="0" marL="0">
              <a:buNone/>
            </a:pPr>
            <a:r>
              <a:rPr lang="en-US" sz="1600" dirty="0">
                <a:solidFill>
                  <a:srgbClr val="023465"/>
                </a:solidFill>
              </a:rPr>
              <a:t>.  Bloc model: </a:t>
            </a:r>
            <a:pPr indent="0" marL="0">
              <a:buNone/>
            </a:pPr>
            <a:r>
              <a:rPr lang="en-US" sz="1600" b="1" dirty="0">
                <a:solidFill>
                  <a:srgbClr val="418BCA"/>
                </a:solidFill>
              </a:rPr>
              <a:t>3.1 points off</a:t>
            </a:r>
            <a:pPr indent="0" marL="0">
              <a:buNone/>
            </a:pPr>
            <a:r>
              <a:rPr lang="en-US" sz="1600" dirty="0">
                <a:solidFill>
                  <a:srgbClr val="023465"/>
                </a:solidFill>
              </a:rPr>
              <a:t>.</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688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French flag">    </p:cNvPr>
          <p:cNvPicPr>
            <a:picLocks noChangeAspect="1"/>
          </p:cNvPicPr>
          <p:nvPr/>
        </p:nvPicPr>
        <p:blipFill>
          <a:blip r:embed="rId1"/>
          <a:stretch>
            <a:fillRect/>
          </a:stretch>
        </p:blipFill>
        <p:spPr>
          <a:xfrm>
            <a:off x="11091672" y="384048"/>
            <a:ext cx="548640" cy="365760"/>
          </a:xfrm>
          <a:prstGeom prst="rect">
            <a:avLst/>
          </a:prstGeom>
        </p:spPr>
      </p:pic>
      <p:sp>
        <p:nvSpPr>
          <p:cNvPr id="3" name="Text 0"/>
          <p:cNvSpPr/>
          <p:nvPr>
            <p:ph idx="100" type="body" hasCustomPrompt="1"/>
          </p:nvPr>
        </p:nvSpPr>
        <p:spPr>
          <a:xfrm>
            <a:off x="548640" y="365760"/>
            <a:ext cx="9144000" cy="320040"/>
          </a:xfrm>
          <a:prstGeom prst="rect">
            <a:avLst/>
          </a:prstGeom>
          <a:noFill/>
          <a:ln/>
        </p:spPr>
        <p:txBody>
          <a:bodyPr wrap="square" lIns="0" tIns="0" rIns="0" bIns="0" rtlCol="0" anchor="t"/>
          <a:lstStyle/>
          <a:p>
            <a:pPr indent="0" marL="0">
              <a:buNone/>
            </a:pPr>
            <a:r>
              <a:rPr lang="en-US" sz="1200" b="1" spc="200" kern="0" dirty="0">
                <a:solidFill>
                  <a:srgbClr val="D20C0C"/>
                </a:solidFill>
              </a:rPr>
              <a:t>APPLYING IT · FRANCE 2027</a:t>
            </a:r>
            <a:endParaRPr lang="en-US" sz="1200" dirty="0"/>
          </a:p>
        </p:txBody>
      </p:sp>
      <p:sp>
        <p:nvSpPr>
          <p:cNvPr id="4"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400" b="1" dirty="0">
                <a:solidFill>
                  <a:srgbClr val="023465"/>
                </a:solidFill>
                <a:latin typeface="Arial" pitchFamily="34" charset="0"/>
                <a:ea typeface="Arial" pitchFamily="34" charset="-122"/>
                <a:cs typeface="Arial" pitchFamily="34" charset="-120"/>
              </a:rPr>
              <a:t>What the bloc model says about 2027</a:t>
            </a:r>
            <a:endParaRPr lang="en-US" sz="3400" dirty="0"/>
          </a:p>
        </p:txBody>
      </p:sp>
      <p:sp>
        <p:nvSpPr>
          <p:cNvPr id="5" name="Text 2"/>
          <p:cNvSpPr txBox="1"/>
          <p:nvPr/>
        </p:nvSpPr>
        <p:spPr>
          <a:xfrm>
            <a:off x="548640" y="1691640"/>
            <a:ext cx="6949440" cy="320040"/>
          </a:xfrm>
          <a:prstGeom prst="rect">
            <a:avLst/>
          </a:prstGeom>
          <a:noFill/>
          <a:ln/>
        </p:spPr>
        <p:txBody>
          <a:bodyPr wrap="square" lIns="0" tIns="0" rIns="0" bIns="0" rtlCol="0" anchor="ctr"/>
          <a:lstStyle/>
          <a:p>
            <a:pPr indent="0" marL="0">
              <a:buNone/>
            </a:pPr>
            <a:r>
              <a:rPr lang="en-US" sz="1600" b="1" dirty="0">
                <a:solidFill>
                  <a:srgbClr val="023465"/>
                </a:solidFill>
              </a:rPr>
              <a:t>Estimated share of the vote in a parliament election (%)</a:t>
            </a:r>
            <a:endParaRPr lang="en-US" sz="1600" dirty="0"/>
          </a:p>
        </p:txBody>
      </p:sp>
      <p:sp>
        <p:nvSpPr>
          <p:cNvPr id="6" name="Text 3"/>
          <p:cNvSpPr txBox="1"/>
          <p:nvPr/>
        </p:nvSpPr>
        <p:spPr>
          <a:xfrm>
            <a:off x="548640" y="2011680"/>
            <a:ext cx="7680960" cy="274320"/>
          </a:xfrm>
          <a:prstGeom prst="rect">
            <a:avLst/>
          </a:prstGeom>
          <a:noFill/>
          <a:ln/>
        </p:spPr>
        <p:txBody>
          <a:bodyPr wrap="square" lIns="0" tIns="0" rIns="0" bIns="0" rtlCol="0" anchor="ctr"/>
          <a:lstStyle/>
          <a:p>
            <a:pPr indent="0" marL="0">
              <a:buNone/>
            </a:pPr>
            <a:r>
              <a:rPr lang="en-US" sz="1200" dirty="0">
                <a:solidFill>
                  <a:srgbClr val="4F6886"/>
                </a:solidFill>
              </a:rPr>
              <a:t>Final estimate = average of the bloc model and the polls (polls translated from presidential terms using 2022)</a:t>
            </a:r>
            <a:endParaRPr lang="en-US" sz="1200" dirty="0"/>
          </a:p>
        </p:txBody>
      </p:sp>
      <p:sp>
        <p:nvSpPr>
          <p:cNvPr id="7" name="Shape 4"/>
          <p:cNvSpPr/>
          <p:nvPr/>
        </p:nvSpPr>
        <p:spPr>
          <a:xfrm>
            <a:off x="548640" y="2395728"/>
            <a:ext cx="164592" cy="164592"/>
          </a:xfrm>
          <a:prstGeom prst="roundRect">
            <a:avLst>
              <a:gd name="adj" fmla="val 16667"/>
            </a:avLst>
          </a:prstGeom>
          <a:solidFill>
            <a:srgbClr val="418BCA"/>
          </a:solidFill>
          <a:ln w="12700">
            <a:solidFill>
              <a:srgbClr val="418BCA"/>
            </a:solidFill>
            <a:prstDash val="solid"/>
          </a:ln>
        </p:spPr>
      </p:sp>
      <p:sp>
        <p:nvSpPr>
          <p:cNvPr id="8" name="Text 5"/>
          <p:cNvSpPr txBox="1"/>
          <p:nvPr/>
        </p:nvSpPr>
        <p:spPr>
          <a:xfrm>
            <a:off x="777240" y="2331720"/>
            <a:ext cx="2377440" cy="292608"/>
          </a:xfrm>
          <a:prstGeom prst="rect">
            <a:avLst/>
          </a:prstGeom>
          <a:noFill/>
          <a:ln/>
        </p:spPr>
        <p:txBody>
          <a:bodyPr wrap="square" lIns="0" tIns="0" rIns="0" bIns="0" rtlCol="0" anchor="ctr"/>
          <a:lstStyle/>
          <a:p>
            <a:pPr indent="0" marL="0">
              <a:buNone/>
            </a:pPr>
            <a:r>
              <a:rPr lang="en-US" sz="1300" dirty="0">
                <a:solidFill>
                  <a:srgbClr val="4F6886"/>
                </a:solidFill>
              </a:rPr>
              <a:t>Bloc model</a:t>
            </a:r>
            <a:endParaRPr lang="en-US" sz="1300" dirty="0"/>
          </a:p>
        </p:txBody>
      </p:sp>
      <p:sp>
        <p:nvSpPr>
          <p:cNvPr id="9" name="Shape 6"/>
          <p:cNvSpPr/>
          <p:nvPr/>
        </p:nvSpPr>
        <p:spPr>
          <a:xfrm>
            <a:off x="1920240" y="2395728"/>
            <a:ext cx="164592" cy="164592"/>
          </a:xfrm>
          <a:prstGeom prst="roundRect">
            <a:avLst>
              <a:gd name="adj" fmla="val 16667"/>
            </a:avLst>
          </a:prstGeom>
          <a:solidFill>
            <a:srgbClr val="1F5A96"/>
          </a:solidFill>
          <a:ln w="12700">
            <a:solidFill>
              <a:srgbClr val="1F5A96"/>
            </a:solidFill>
            <a:prstDash val="solid"/>
          </a:ln>
        </p:spPr>
      </p:sp>
      <p:sp>
        <p:nvSpPr>
          <p:cNvPr id="10" name="Text 7"/>
          <p:cNvSpPr txBox="1"/>
          <p:nvPr/>
        </p:nvSpPr>
        <p:spPr>
          <a:xfrm>
            <a:off x="2148840" y="2331720"/>
            <a:ext cx="2377440" cy="292608"/>
          </a:xfrm>
          <a:prstGeom prst="rect">
            <a:avLst/>
          </a:prstGeom>
          <a:noFill/>
          <a:ln/>
        </p:spPr>
        <p:txBody>
          <a:bodyPr wrap="square" lIns="0" tIns="0" rIns="0" bIns="0" rtlCol="0" anchor="ctr"/>
          <a:lstStyle/>
          <a:p>
            <a:pPr indent="0" marL="0">
              <a:buNone/>
            </a:pPr>
            <a:r>
              <a:rPr lang="en-US" sz="1300" dirty="0">
                <a:solidFill>
                  <a:srgbClr val="4F6886"/>
                </a:solidFill>
              </a:rPr>
              <a:t>Polls</a:t>
            </a:r>
            <a:endParaRPr lang="en-US" sz="1300" dirty="0"/>
          </a:p>
        </p:txBody>
      </p:sp>
      <p:sp>
        <p:nvSpPr>
          <p:cNvPr id="11" name="Shape 8"/>
          <p:cNvSpPr/>
          <p:nvPr/>
        </p:nvSpPr>
        <p:spPr>
          <a:xfrm>
            <a:off x="2903220" y="2395728"/>
            <a:ext cx="164592" cy="164592"/>
          </a:xfrm>
          <a:prstGeom prst="roundRect">
            <a:avLst>
              <a:gd name="adj" fmla="val 16667"/>
            </a:avLst>
          </a:prstGeom>
          <a:solidFill>
            <a:srgbClr val="7B1E3A"/>
          </a:solidFill>
          <a:ln w="12700">
            <a:solidFill>
              <a:srgbClr val="7B1E3A"/>
            </a:solidFill>
            <a:prstDash val="solid"/>
          </a:ln>
        </p:spPr>
      </p:sp>
      <p:sp>
        <p:nvSpPr>
          <p:cNvPr id="12" name="Text 9"/>
          <p:cNvSpPr txBox="1"/>
          <p:nvPr/>
        </p:nvSpPr>
        <p:spPr>
          <a:xfrm>
            <a:off x="3131820" y="2331720"/>
            <a:ext cx="2377440" cy="292608"/>
          </a:xfrm>
          <a:prstGeom prst="rect">
            <a:avLst/>
          </a:prstGeom>
          <a:noFill/>
          <a:ln/>
        </p:spPr>
        <p:txBody>
          <a:bodyPr wrap="square" lIns="0" tIns="0" rIns="0" bIns="0" rtlCol="0" anchor="ctr"/>
          <a:lstStyle/>
          <a:p>
            <a:pPr indent="0" marL="0">
              <a:buNone/>
            </a:pPr>
            <a:r>
              <a:rPr lang="en-US" sz="1300" dirty="0">
                <a:solidFill>
                  <a:srgbClr val="4F6886"/>
                </a:solidFill>
              </a:rPr>
              <a:t>Final estimate</a:t>
            </a:r>
            <a:endParaRPr lang="en-US" sz="1300" dirty="0"/>
          </a:p>
        </p:txBody>
      </p:sp>
      <p:graphicFrame>
        <p:nvGraphicFramePr>
          <p:cNvPr id="13" name="Chart 0" descr=""/>
          <p:cNvGraphicFramePr/>
          <p:nvPr/>
        </p:nvGraphicFramePr>
        <p:xfrm>
          <a:off x="411480" y="2651760"/>
          <a:ext cx="7909560" cy="2926080"/>
        </p:xfrm>
        <a:graphic xmlns:a="http://schemas.openxmlformats.org/drawingml/2006/main">
          <a:graphicData uri="http://schemas.openxmlformats.org/drawingml/2006/chart">
            <c:chart xmlns:c="http://schemas.openxmlformats.org/drawingml/2006/chart" r:id="rId2"/>
          </a:graphicData>
        </a:graphic>
      </p:graphicFrame>
      <p:sp>
        <p:nvSpPr>
          <p:cNvPr id="14" name="far right pictogram"/>
          <p:cNvSpPr/>
          <p:nvPr/>
        </p:nvSpPr>
        <p:spPr>
          <a:xfrm>
            <a:off x="8549640" y="1691640"/>
            <a:ext cx="3090672" cy="3840480"/>
          </a:xfrm>
          <a:prstGeom prst="roundRect">
            <a:avLst>
              <a:gd name="adj" fmla="val 2367"/>
            </a:avLst>
          </a:prstGeom>
          <a:solidFill>
            <a:srgbClr val="F1F4F8"/>
          </a:solidFill>
          <a:ln w="12700">
            <a:solidFill>
              <a:srgbClr val="F1F4F8"/>
            </a:solidFill>
            <a:prstDash val="solid"/>
          </a:ln>
        </p:spPr>
      </p:sp>
      <p:sp>
        <p:nvSpPr>
          <p:cNvPr id="15" name="Text 11"/>
          <p:cNvSpPr txBox="1"/>
          <p:nvPr/>
        </p:nvSpPr>
        <p:spPr>
          <a:xfrm>
            <a:off x="8750808" y="1828800"/>
            <a:ext cx="2743200" cy="228600"/>
          </a:xfrm>
          <a:prstGeom prst="rect">
            <a:avLst/>
          </a:prstGeom>
          <a:noFill/>
          <a:ln/>
        </p:spPr>
        <p:txBody>
          <a:bodyPr wrap="square" lIns="0" tIns="0" rIns="0" bIns="0" rtlCol="0" anchor="ctr"/>
          <a:lstStyle/>
          <a:p>
            <a:pPr indent="0" marL="0">
              <a:buNone/>
            </a:pPr>
            <a:r>
              <a:rPr lang="en-US" sz="1100" b="1" spc="150" kern="0" dirty="0">
                <a:solidFill>
                  <a:srgbClr val="7B1E3A"/>
                </a:solidFill>
              </a:rPr>
              <a:t>FINAL ESTIMATE · FAR RIGHT</a:t>
            </a:r>
            <a:endParaRPr lang="en-US" sz="1100" dirty="0"/>
          </a:p>
        </p:txBody>
      </p:sp>
      <p:sp>
        <p:nvSpPr>
          <p:cNvPr id="16" name="Text 12"/>
          <p:cNvSpPr txBox="1"/>
          <p:nvPr/>
        </p:nvSpPr>
        <p:spPr>
          <a:xfrm>
            <a:off x="8750808" y="2057400"/>
            <a:ext cx="2743200" cy="548640"/>
          </a:xfrm>
          <a:prstGeom prst="rect">
            <a:avLst/>
          </a:prstGeom>
          <a:noFill/>
          <a:ln/>
        </p:spPr>
        <p:txBody>
          <a:bodyPr wrap="square" lIns="0" tIns="0" rIns="0" bIns="0" rtlCol="0" anchor="ctr"/>
          <a:lstStyle/>
          <a:p>
            <a:pPr indent="0" marL="0">
              <a:buNone/>
            </a:pPr>
            <a:r>
              <a:rPr lang="en-US" sz="3200" b="1" dirty="0">
                <a:solidFill>
                  <a:srgbClr val="7B1E3A"/>
                </a:solidFill>
                <a:latin typeface="Arial" pitchFamily="34" charset="0"/>
                <a:ea typeface="Arial" pitchFamily="34" charset="-122"/>
                <a:cs typeface="Arial" pitchFamily="34" charset="-120"/>
              </a:rPr>
              <a:t>1 in 3</a:t>
            </a:r>
            <a:endParaRPr lang="en-US" sz="3200" dirty="0"/>
          </a:p>
        </p:txBody>
      </p:sp>
      <p:sp>
        <p:nvSpPr>
          <p:cNvPr id="17" name="Text 13"/>
          <p:cNvSpPr txBox="1"/>
          <p:nvPr/>
        </p:nvSpPr>
        <p:spPr>
          <a:xfrm>
            <a:off x="8750808" y="2606040"/>
            <a:ext cx="2743200" cy="457200"/>
          </a:xfrm>
          <a:prstGeom prst="rect">
            <a:avLst/>
          </a:prstGeom>
          <a:noFill/>
          <a:ln/>
        </p:spPr>
        <p:txBody>
          <a:bodyPr wrap="square" lIns="0" tIns="0" rIns="0" bIns="0" rtlCol="0" anchor="t"/>
          <a:lstStyle/>
          <a:p>
            <a:pPr indent="0" marL="0">
              <a:buNone/>
            </a:pPr>
            <a:r>
              <a:rPr lang="en-US" sz="1200" dirty="0">
                <a:solidFill>
                  <a:srgbClr val="4F6886"/>
                </a:solidFill>
              </a:rPr>
              <a:t>About 32 votes in 100 would go to the far right, the largest camp.</a:t>
            </a:r>
            <a:endParaRPr lang="en-US" sz="1200" dirty="0"/>
          </a:p>
        </p:txBody>
      </p:sp>
      <p:pic>
        <p:nvPicPr>
          <p:cNvPr id="18" name="Image 1" descr="far right vote">    </p:cNvPr>
          <p:cNvPicPr>
            <a:picLocks noChangeAspect="1"/>
          </p:cNvPicPr>
          <p:nvPr/>
        </p:nvPicPr>
        <p:blipFill>
          <a:blip r:embed="rId3"/>
          <a:stretch>
            <a:fillRect/>
          </a:stretch>
        </p:blipFill>
        <p:spPr>
          <a:xfrm>
            <a:off x="8778240" y="3154680"/>
            <a:ext cx="182880" cy="201168"/>
          </a:xfrm>
          <a:prstGeom prst="rect">
            <a:avLst/>
          </a:prstGeom>
        </p:spPr>
      </p:pic>
      <p:pic>
        <p:nvPicPr>
          <p:cNvPr id="19" name="Image 2" descr="far right vote">    </p:cNvPr>
          <p:cNvPicPr>
            <a:picLocks noChangeAspect="1"/>
          </p:cNvPicPr>
          <p:nvPr/>
        </p:nvPicPr>
        <p:blipFill>
          <a:blip r:embed="rId4"/>
          <a:stretch>
            <a:fillRect/>
          </a:stretch>
        </p:blipFill>
        <p:spPr>
          <a:xfrm>
            <a:off x="9043416" y="3154680"/>
            <a:ext cx="182880" cy="201168"/>
          </a:xfrm>
          <a:prstGeom prst="rect">
            <a:avLst/>
          </a:prstGeom>
        </p:spPr>
      </p:pic>
      <p:pic>
        <p:nvPicPr>
          <p:cNvPr id="20" name="Image 3" descr="far right vote">    </p:cNvPr>
          <p:cNvPicPr>
            <a:picLocks noChangeAspect="1"/>
          </p:cNvPicPr>
          <p:nvPr/>
        </p:nvPicPr>
        <p:blipFill>
          <a:blip r:embed="rId5"/>
          <a:stretch>
            <a:fillRect/>
          </a:stretch>
        </p:blipFill>
        <p:spPr>
          <a:xfrm>
            <a:off x="9308592" y="3154680"/>
            <a:ext cx="182880" cy="201168"/>
          </a:xfrm>
          <a:prstGeom prst="rect">
            <a:avLst/>
          </a:prstGeom>
        </p:spPr>
      </p:pic>
      <p:pic>
        <p:nvPicPr>
          <p:cNvPr id="21" name="Image 4" descr="far right vote">    </p:cNvPr>
          <p:cNvPicPr>
            <a:picLocks noChangeAspect="1"/>
          </p:cNvPicPr>
          <p:nvPr/>
        </p:nvPicPr>
        <p:blipFill>
          <a:blip r:embed="rId6"/>
          <a:stretch>
            <a:fillRect/>
          </a:stretch>
        </p:blipFill>
        <p:spPr>
          <a:xfrm>
            <a:off x="9573768" y="3154680"/>
            <a:ext cx="182880" cy="201168"/>
          </a:xfrm>
          <a:prstGeom prst="rect">
            <a:avLst/>
          </a:prstGeom>
        </p:spPr>
      </p:pic>
      <p:pic>
        <p:nvPicPr>
          <p:cNvPr id="22" name="Image 5" descr="far right vote">    </p:cNvPr>
          <p:cNvPicPr>
            <a:picLocks noChangeAspect="1"/>
          </p:cNvPicPr>
          <p:nvPr/>
        </p:nvPicPr>
        <p:blipFill>
          <a:blip r:embed="rId7"/>
          <a:stretch>
            <a:fillRect/>
          </a:stretch>
        </p:blipFill>
        <p:spPr>
          <a:xfrm>
            <a:off x="9838944" y="3154680"/>
            <a:ext cx="182880" cy="201168"/>
          </a:xfrm>
          <a:prstGeom prst="rect">
            <a:avLst/>
          </a:prstGeom>
        </p:spPr>
      </p:pic>
      <p:pic>
        <p:nvPicPr>
          <p:cNvPr id="23" name="Image 6" descr="far right vote">    </p:cNvPr>
          <p:cNvPicPr>
            <a:picLocks noChangeAspect="1"/>
          </p:cNvPicPr>
          <p:nvPr/>
        </p:nvPicPr>
        <p:blipFill>
          <a:blip r:embed="rId8"/>
          <a:stretch>
            <a:fillRect/>
          </a:stretch>
        </p:blipFill>
        <p:spPr>
          <a:xfrm>
            <a:off x="10104120" y="3154680"/>
            <a:ext cx="182880" cy="201168"/>
          </a:xfrm>
          <a:prstGeom prst="rect">
            <a:avLst/>
          </a:prstGeom>
        </p:spPr>
      </p:pic>
      <p:pic>
        <p:nvPicPr>
          <p:cNvPr id="24" name="Image 7" descr="far right vote">    </p:cNvPr>
          <p:cNvPicPr>
            <a:picLocks noChangeAspect="1"/>
          </p:cNvPicPr>
          <p:nvPr/>
        </p:nvPicPr>
        <p:blipFill>
          <a:blip r:embed="rId9"/>
          <a:stretch>
            <a:fillRect/>
          </a:stretch>
        </p:blipFill>
        <p:spPr>
          <a:xfrm>
            <a:off x="10369296" y="3154680"/>
            <a:ext cx="182880" cy="201168"/>
          </a:xfrm>
          <a:prstGeom prst="rect">
            <a:avLst/>
          </a:prstGeom>
        </p:spPr>
      </p:pic>
      <p:pic>
        <p:nvPicPr>
          <p:cNvPr id="25" name="Image 8" descr="far right vote">    </p:cNvPr>
          <p:cNvPicPr>
            <a:picLocks noChangeAspect="1"/>
          </p:cNvPicPr>
          <p:nvPr/>
        </p:nvPicPr>
        <p:blipFill>
          <a:blip r:embed="rId10"/>
          <a:stretch>
            <a:fillRect/>
          </a:stretch>
        </p:blipFill>
        <p:spPr>
          <a:xfrm>
            <a:off x="10634472" y="3154680"/>
            <a:ext cx="182880" cy="201168"/>
          </a:xfrm>
          <a:prstGeom prst="rect">
            <a:avLst/>
          </a:prstGeom>
        </p:spPr>
      </p:pic>
      <p:pic>
        <p:nvPicPr>
          <p:cNvPr id="26" name="Image 9" descr="far right vote">    </p:cNvPr>
          <p:cNvPicPr>
            <a:picLocks noChangeAspect="1"/>
          </p:cNvPicPr>
          <p:nvPr/>
        </p:nvPicPr>
        <p:blipFill>
          <a:blip r:embed="rId11"/>
          <a:stretch>
            <a:fillRect/>
          </a:stretch>
        </p:blipFill>
        <p:spPr>
          <a:xfrm>
            <a:off x="10899648" y="3154680"/>
            <a:ext cx="182880" cy="201168"/>
          </a:xfrm>
          <a:prstGeom prst="rect">
            <a:avLst/>
          </a:prstGeom>
        </p:spPr>
      </p:pic>
      <p:pic>
        <p:nvPicPr>
          <p:cNvPr id="27" name="Image 10" descr="far right vote">    </p:cNvPr>
          <p:cNvPicPr>
            <a:picLocks noChangeAspect="1"/>
          </p:cNvPicPr>
          <p:nvPr/>
        </p:nvPicPr>
        <p:blipFill>
          <a:blip r:embed="rId12"/>
          <a:stretch>
            <a:fillRect/>
          </a:stretch>
        </p:blipFill>
        <p:spPr>
          <a:xfrm>
            <a:off x="11164824" y="3154680"/>
            <a:ext cx="182880" cy="201168"/>
          </a:xfrm>
          <a:prstGeom prst="rect">
            <a:avLst/>
          </a:prstGeom>
        </p:spPr>
      </p:pic>
      <p:pic>
        <p:nvPicPr>
          <p:cNvPr id="28" name="Image 11" descr="far right vote">    </p:cNvPr>
          <p:cNvPicPr>
            <a:picLocks noChangeAspect="1"/>
          </p:cNvPicPr>
          <p:nvPr/>
        </p:nvPicPr>
        <p:blipFill>
          <a:blip r:embed="rId13"/>
          <a:stretch>
            <a:fillRect/>
          </a:stretch>
        </p:blipFill>
        <p:spPr>
          <a:xfrm>
            <a:off x="8778240" y="3387852"/>
            <a:ext cx="182880" cy="201168"/>
          </a:xfrm>
          <a:prstGeom prst="rect">
            <a:avLst/>
          </a:prstGeom>
        </p:spPr>
      </p:pic>
      <p:pic>
        <p:nvPicPr>
          <p:cNvPr id="29" name="Image 12" descr="far right vote">    </p:cNvPr>
          <p:cNvPicPr>
            <a:picLocks noChangeAspect="1"/>
          </p:cNvPicPr>
          <p:nvPr/>
        </p:nvPicPr>
        <p:blipFill>
          <a:blip r:embed="rId14"/>
          <a:stretch>
            <a:fillRect/>
          </a:stretch>
        </p:blipFill>
        <p:spPr>
          <a:xfrm>
            <a:off x="9043416" y="3387852"/>
            <a:ext cx="182880" cy="201168"/>
          </a:xfrm>
          <a:prstGeom prst="rect">
            <a:avLst/>
          </a:prstGeom>
        </p:spPr>
      </p:pic>
      <p:pic>
        <p:nvPicPr>
          <p:cNvPr id="30" name="Image 13" descr="far right vote">    </p:cNvPr>
          <p:cNvPicPr>
            <a:picLocks noChangeAspect="1"/>
          </p:cNvPicPr>
          <p:nvPr/>
        </p:nvPicPr>
        <p:blipFill>
          <a:blip r:embed="rId15"/>
          <a:stretch>
            <a:fillRect/>
          </a:stretch>
        </p:blipFill>
        <p:spPr>
          <a:xfrm>
            <a:off x="9308592" y="3387852"/>
            <a:ext cx="182880" cy="201168"/>
          </a:xfrm>
          <a:prstGeom prst="rect">
            <a:avLst/>
          </a:prstGeom>
        </p:spPr>
      </p:pic>
      <p:pic>
        <p:nvPicPr>
          <p:cNvPr id="31" name="Image 14" descr="far right vote">    </p:cNvPr>
          <p:cNvPicPr>
            <a:picLocks noChangeAspect="1"/>
          </p:cNvPicPr>
          <p:nvPr/>
        </p:nvPicPr>
        <p:blipFill>
          <a:blip r:embed="rId16"/>
          <a:stretch>
            <a:fillRect/>
          </a:stretch>
        </p:blipFill>
        <p:spPr>
          <a:xfrm>
            <a:off x="9573768" y="3387852"/>
            <a:ext cx="182880" cy="201168"/>
          </a:xfrm>
          <a:prstGeom prst="rect">
            <a:avLst/>
          </a:prstGeom>
        </p:spPr>
      </p:pic>
      <p:pic>
        <p:nvPicPr>
          <p:cNvPr id="32" name="Image 15" descr="far right vote">    </p:cNvPr>
          <p:cNvPicPr>
            <a:picLocks noChangeAspect="1"/>
          </p:cNvPicPr>
          <p:nvPr/>
        </p:nvPicPr>
        <p:blipFill>
          <a:blip r:embed="rId17"/>
          <a:stretch>
            <a:fillRect/>
          </a:stretch>
        </p:blipFill>
        <p:spPr>
          <a:xfrm>
            <a:off x="9838944" y="3387852"/>
            <a:ext cx="182880" cy="201168"/>
          </a:xfrm>
          <a:prstGeom prst="rect">
            <a:avLst/>
          </a:prstGeom>
        </p:spPr>
      </p:pic>
      <p:pic>
        <p:nvPicPr>
          <p:cNvPr id="33" name="Image 16" descr="far right vote">    </p:cNvPr>
          <p:cNvPicPr>
            <a:picLocks noChangeAspect="1"/>
          </p:cNvPicPr>
          <p:nvPr/>
        </p:nvPicPr>
        <p:blipFill>
          <a:blip r:embed="rId18"/>
          <a:stretch>
            <a:fillRect/>
          </a:stretch>
        </p:blipFill>
        <p:spPr>
          <a:xfrm>
            <a:off x="10104120" y="3387852"/>
            <a:ext cx="182880" cy="201168"/>
          </a:xfrm>
          <a:prstGeom prst="rect">
            <a:avLst/>
          </a:prstGeom>
        </p:spPr>
      </p:pic>
      <p:pic>
        <p:nvPicPr>
          <p:cNvPr id="34" name="Image 17" descr="far right vote">    </p:cNvPr>
          <p:cNvPicPr>
            <a:picLocks noChangeAspect="1"/>
          </p:cNvPicPr>
          <p:nvPr/>
        </p:nvPicPr>
        <p:blipFill>
          <a:blip r:embed="rId19"/>
          <a:stretch>
            <a:fillRect/>
          </a:stretch>
        </p:blipFill>
        <p:spPr>
          <a:xfrm>
            <a:off x="10369296" y="3387852"/>
            <a:ext cx="182880" cy="201168"/>
          </a:xfrm>
          <a:prstGeom prst="rect">
            <a:avLst/>
          </a:prstGeom>
        </p:spPr>
      </p:pic>
      <p:pic>
        <p:nvPicPr>
          <p:cNvPr id="35" name="Image 18" descr="far right vote">    </p:cNvPr>
          <p:cNvPicPr>
            <a:picLocks noChangeAspect="1"/>
          </p:cNvPicPr>
          <p:nvPr/>
        </p:nvPicPr>
        <p:blipFill>
          <a:blip r:embed="rId20"/>
          <a:stretch>
            <a:fillRect/>
          </a:stretch>
        </p:blipFill>
        <p:spPr>
          <a:xfrm>
            <a:off x="10634472" y="3387852"/>
            <a:ext cx="182880" cy="201168"/>
          </a:xfrm>
          <a:prstGeom prst="rect">
            <a:avLst/>
          </a:prstGeom>
        </p:spPr>
      </p:pic>
      <p:pic>
        <p:nvPicPr>
          <p:cNvPr id="36" name="Image 19" descr="far right vote">    </p:cNvPr>
          <p:cNvPicPr>
            <a:picLocks noChangeAspect="1"/>
          </p:cNvPicPr>
          <p:nvPr/>
        </p:nvPicPr>
        <p:blipFill>
          <a:blip r:embed="rId21"/>
          <a:stretch>
            <a:fillRect/>
          </a:stretch>
        </p:blipFill>
        <p:spPr>
          <a:xfrm>
            <a:off x="10899648" y="3387852"/>
            <a:ext cx="182880" cy="201168"/>
          </a:xfrm>
          <a:prstGeom prst="rect">
            <a:avLst/>
          </a:prstGeom>
        </p:spPr>
      </p:pic>
      <p:pic>
        <p:nvPicPr>
          <p:cNvPr id="37" name="Image 20" descr="far right vote">    </p:cNvPr>
          <p:cNvPicPr>
            <a:picLocks noChangeAspect="1"/>
          </p:cNvPicPr>
          <p:nvPr/>
        </p:nvPicPr>
        <p:blipFill>
          <a:blip r:embed="rId22"/>
          <a:stretch>
            <a:fillRect/>
          </a:stretch>
        </p:blipFill>
        <p:spPr>
          <a:xfrm>
            <a:off x="11164824" y="3387852"/>
            <a:ext cx="182880" cy="201168"/>
          </a:xfrm>
          <a:prstGeom prst="rect">
            <a:avLst/>
          </a:prstGeom>
        </p:spPr>
      </p:pic>
      <p:pic>
        <p:nvPicPr>
          <p:cNvPr id="38" name="Image 21" descr="far right vote">    </p:cNvPr>
          <p:cNvPicPr>
            <a:picLocks noChangeAspect="1"/>
          </p:cNvPicPr>
          <p:nvPr/>
        </p:nvPicPr>
        <p:blipFill>
          <a:blip r:embed="rId23"/>
          <a:stretch>
            <a:fillRect/>
          </a:stretch>
        </p:blipFill>
        <p:spPr>
          <a:xfrm>
            <a:off x="8778240" y="3621024"/>
            <a:ext cx="182880" cy="201168"/>
          </a:xfrm>
          <a:prstGeom prst="rect">
            <a:avLst/>
          </a:prstGeom>
        </p:spPr>
      </p:pic>
      <p:pic>
        <p:nvPicPr>
          <p:cNvPr id="39" name="Image 22" descr="far right vote">    </p:cNvPr>
          <p:cNvPicPr>
            <a:picLocks noChangeAspect="1"/>
          </p:cNvPicPr>
          <p:nvPr/>
        </p:nvPicPr>
        <p:blipFill>
          <a:blip r:embed="rId24"/>
          <a:stretch>
            <a:fillRect/>
          </a:stretch>
        </p:blipFill>
        <p:spPr>
          <a:xfrm>
            <a:off x="9043416" y="3621024"/>
            <a:ext cx="182880" cy="201168"/>
          </a:xfrm>
          <a:prstGeom prst="rect">
            <a:avLst/>
          </a:prstGeom>
        </p:spPr>
      </p:pic>
      <p:pic>
        <p:nvPicPr>
          <p:cNvPr id="40" name="Image 23" descr="far right vote">    </p:cNvPr>
          <p:cNvPicPr>
            <a:picLocks noChangeAspect="1"/>
          </p:cNvPicPr>
          <p:nvPr/>
        </p:nvPicPr>
        <p:blipFill>
          <a:blip r:embed="rId25"/>
          <a:stretch>
            <a:fillRect/>
          </a:stretch>
        </p:blipFill>
        <p:spPr>
          <a:xfrm>
            <a:off x="9308592" y="3621024"/>
            <a:ext cx="182880" cy="201168"/>
          </a:xfrm>
          <a:prstGeom prst="rect">
            <a:avLst/>
          </a:prstGeom>
        </p:spPr>
      </p:pic>
      <p:pic>
        <p:nvPicPr>
          <p:cNvPr id="41" name="Image 24" descr="far right vote">    </p:cNvPr>
          <p:cNvPicPr>
            <a:picLocks noChangeAspect="1"/>
          </p:cNvPicPr>
          <p:nvPr/>
        </p:nvPicPr>
        <p:blipFill>
          <a:blip r:embed="rId26"/>
          <a:stretch>
            <a:fillRect/>
          </a:stretch>
        </p:blipFill>
        <p:spPr>
          <a:xfrm>
            <a:off x="9573768" y="3621024"/>
            <a:ext cx="182880" cy="201168"/>
          </a:xfrm>
          <a:prstGeom prst="rect">
            <a:avLst/>
          </a:prstGeom>
        </p:spPr>
      </p:pic>
      <p:pic>
        <p:nvPicPr>
          <p:cNvPr id="42" name="Image 25" descr="far right vote">    </p:cNvPr>
          <p:cNvPicPr>
            <a:picLocks noChangeAspect="1"/>
          </p:cNvPicPr>
          <p:nvPr/>
        </p:nvPicPr>
        <p:blipFill>
          <a:blip r:embed="rId27"/>
          <a:stretch>
            <a:fillRect/>
          </a:stretch>
        </p:blipFill>
        <p:spPr>
          <a:xfrm>
            <a:off x="9838944" y="3621024"/>
            <a:ext cx="182880" cy="201168"/>
          </a:xfrm>
          <a:prstGeom prst="rect">
            <a:avLst/>
          </a:prstGeom>
        </p:spPr>
      </p:pic>
      <p:pic>
        <p:nvPicPr>
          <p:cNvPr id="43" name="Image 26" descr="far right vote">    </p:cNvPr>
          <p:cNvPicPr>
            <a:picLocks noChangeAspect="1"/>
          </p:cNvPicPr>
          <p:nvPr/>
        </p:nvPicPr>
        <p:blipFill>
          <a:blip r:embed="rId28"/>
          <a:stretch>
            <a:fillRect/>
          </a:stretch>
        </p:blipFill>
        <p:spPr>
          <a:xfrm>
            <a:off x="10104120" y="3621024"/>
            <a:ext cx="182880" cy="201168"/>
          </a:xfrm>
          <a:prstGeom prst="rect">
            <a:avLst/>
          </a:prstGeom>
        </p:spPr>
      </p:pic>
      <p:pic>
        <p:nvPicPr>
          <p:cNvPr id="44" name="Image 27" descr="far right vote">    </p:cNvPr>
          <p:cNvPicPr>
            <a:picLocks noChangeAspect="1"/>
          </p:cNvPicPr>
          <p:nvPr/>
        </p:nvPicPr>
        <p:blipFill>
          <a:blip r:embed="rId29"/>
          <a:stretch>
            <a:fillRect/>
          </a:stretch>
        </p:blipFill>
        <p:spPr>
          <a:xfrm>
            <a:off x="10369296" y="3621024"/>
            <a:ext cx="182880" cy="201168"/>
          </a:xfrm>
          <a:prstGeom prst="rect">
            <a:avLst/>
          </a:prstGeom>
        </p:spPr>
      </p:pic>
      <p:pic>
        <p:nvPicPr>
          <p:cNvPr id="45" name="Image 28" descr="far right vote">    </p:cNvPr>
          <p:cNvPicPr>
            <a:picLocks noChangeAspect="1"/>
          </p:cNvPicPr>
          <p:nvPr/>
        </p:nvPicPr>
        <p:blipFill>
          <a:blip r:embed="rId30"/>
          <a:stretch>
            <a:fillRect/>
          </a:stretch>
        </p:blipFill>
        <p:spPr>
          <a:xfrm>
            <a:off x="10634472" y="3621024"/>
            <a:ext cx="182880" cy="201168"/>
          </a:xfrm>
          <a:prstGeom prst="rect">
            <a:avLst/>
          </a:prstGeom>
        </p:spPr>
      </p:pic>
      <p:pic>
        <p:nvPicPr>
          <p:cNvPr id="46" name="Image 29" descr="far right vote">    </p:cNvPr>
          <p:cNvPicPr>
            <a:picLocks noChangeAspect="1"/>
          </p:cNvPicPr>
          <p:nvPr/>
        </p:nvPicPr>
        <p:blipFill>
          <a:blip r:embed="rId31"/>
          <a:stretch>
            <a:fillRect/>
          </a:stretch>
        </p:blipFill>
        <p:spPr>
          <a:xfrm>
            <a:off x="10899648" y="3621024"/>
            <a:ext cx="182880" cy="201168"/>
          </a:xfrm>
          <a:prstGeom prst="rect">
            <a:avLst/>
          </a:prstGeom>
        </p:spPr>
      </p:pic>
      <p:pic>
        <p:nvPicPr>
          <p:cNvPr id="47" name="Image 30" descr="far right vote">    </p:cNvPr>
          <p:cNvPicPr>
            <a:picLocks noChangeAspect="1"/>
          </p:cNvPicPr>
          <p:nvPr/>
        </p:nvPicPr>
        <p:blipFill>
          <a:blip r:embed="rId32"/>
          <a:stretch>
            <a:fillRect/>
          </a:stretch>
        </p:blipFill>
        <p:spPr>
          <a:xfrm>
            <a:off x="11164824" y="3621024"/>
            <a:ext cx="182880" cy="201168"/>
          </a:xfrm>
          <a:prstGeom prst="rect">
            <a:avLst/>
          </a:prstGeom>
        </p:spPr>
      </p:pic>
      <p:pic>
        <p:nvPicPr>
          <p:cNvPr id="48" name="Image 31" descr="far right vote">    </p:cNvPr>
          <p:cNvPicPr>
            <a:picLocks noChangeAspect="1"/>
          </p:cNvPicPr>
          <p:nvPr/>
        </p:nvPicPr>
        <p:blipFill>
          <a:blip r:embed="rId33"/>
          <a:stretch>
            <a:fillRect/>
          </a:stretch>
        </p:blipFill>
        <p:spPr>
          <a:xfrm>
            <a:off x="8778240" y="3854196"/>
            <a:ext cx="182880" cy="201168"/>
          </a:xfrm>
          <a:prstGeom prst="rect">
            <a:avLst/>
          </a:prstGeom>
        </p:spPr>
      </p:pic>
      <p:pic>
        <p:nvPicPr>
          <p:cNvPr id="49" name="Image 32" descr="far right vote">    </p:cNvPr>
          <p:cNvPicPr>
            <a:picLocks noChangeAspect="1"/>
          </p:cNvPicPr>
          <p:nvPr/>
        </p:nvPicPr>
        <p:blipFill>
          <a:blip r:embed="rId34"/>
          <a:stretch>
            <a:fillRect/>
          </a:stretch>
        </p:blipFill>
        <p:spPr>
          <a:xfrm>
            <a:off x="9043416" y="3854196"/>
            <a:ext cx="182880" cy="201168"/>
          </a:xfrm>
          <a:prstGeom prst="rect">
            <a:avLst/>
          </a:prstGeom>
        </p:spPr>
      </p:pic>
      <p:pic>
        <p:nvPicPr>
          <p:cNvPr id="50" name="Image 33" descr="other vote">    </p:cNvPr>
          <p:cNvPicPr>
            <a:picLocks noChangeAspect="1"/>
          </p:cNvPicPr>
          <p:nvPr/>
        </p:nvPicPr>
        <p:blipFill>
          <a:blip r:embed="rId35"/>
          <a:stretch>
            <a:fillRect/>
          </a:stretch>
        </p:blipFill>
        <p:spPr>
          <a:xfrm>
            <a:off x="9308592" y="3854196"/>
            <a:ext cx="182880" cy="201168"/>
          </a:xfrm>
          <a:prstGeom prst="rect">
            <a:avLst/>
          </a:prstGeom>
        </p:spPr>
      </p:pic>
      <p:pic>
        <p:nvPicPr>
          <p:cNvPr id="51" name="Image 34" descr="other vote">    </p:cNvPr>
          <p:cNvPicPr>
            <a:picLocks noChangeAspect="1"/>
          </p:cNvPicPr>
          <p:nvPr/>
        </p:nvPicPr>
        <p:blipFill>
          <a:blip r:embed="rId36"/>
          <a:stretch>
            <a:fillRect/>
          </a:stretch>
        </p:blipFill>
        <p:spPr>
          <a:xfrm>
            <a:off x="9573768" y="3854196"/>
            <a:ext cx="182880" cy="201168"/>
          </a:xfrm>
          <a:prstGeom prst="rect">
            <a:avLst/>
          </a:prstGeom>
        </p:spPr>
      </p:pic>
      <p:pic>
        <p:nvPicPr>
          <p:cNvPr id="52" name="Image 35" descr="other vote">    </p:cNvPr>
          <p:cNvPicPr>
            <a:picLocks noChangeAspect="1"/>
          </p:cNvPicPr>
          <p:nvPr/>
        </p:nvPicPr>
        <p:blipFill>
          <a:blip r:embed="rId37"/>
          <a:stretch>
            <a:fillRect/>
          </a:stretch>
        </p:blipFill>
        <p:spPr>
          <a:xfrm>
            <a:off x="9838944" y="3854196"/>
            <a:ext cx="182880" cy="201168"/>
          </a:xfrm>
          <a:prstGeom prst="rect">
            <a:avLst/>
          </a:prstGeom>
        </p:spPr>
      </p:pic>
      <p:pic>
        <p:nvPicPr>
          <p:cNvPr id="53" name="Image 36" descr="other vote">    </p:cNvPr>
          <p:cNvPicPr>
            <a:picLocks noChangeAspect="1"/>
          </p:cNvPicPr>
          <p:nvPr/>
        </p:nvPicPr>
        <p:blipFill>
          <a:blip r:embed="rId38"/>
          <a:stretch>
            <a:fillRect/>
          </a:stretch>
        </p:blipFill>
        <p:spPr>
          <a:xfrm>
            <a:off x="10104120" y="3854196"/>
            <a:ext cx="182880" cy="201168"/>
          </a:xfrm>
          <a:prstGeom prst="rect">
            <a:avLst/>
          </a:prstGeom>
        </p:spPr>
      </p:pic>
      <p:pic>
        <p:nvPicPr>
          <p:cNvPr id="54" name="Image 37" descr="other vote">    </p:cNvPr>
          <p:cNvPicPr>
            <a:picLocks noChangeAspect="1"/>
          </p:cNvPicPr>
          <p:nvPr/>
        </p:nvPicPr>
        <p:blipFill>
          <a:blip r:embed="rId39"/>
          <a:stretch>
            <a:fillRect/>
          </a:stretch>
        </p:blipFill>
        <p:spPr>
          <a:xfrm>
            <a:off x="10369296" y="3854196"/>
            <a:ext cx="182880" cy="201168"/>
          </a:xfrm>
          <a:prstGeom prst="rect">
            <a:avLst/>
          </a:prstGeom>
        </p:spPr>
      </p:pic>
      <p:pic>
        <p:nvPicPr>
          <p:cNvPr id="55" name="Image 38" descr="other vote">    </p:cNvPr>
          <p:cNvPicPr>
            <a:picLocks noChangeAspect="1"/>
          </p:cNvPicPr>
          <p:nvPr/>
        </p:nvPicPr>
        <p:blipFill>
          <a:blip r:embed="rId40"/>
          <a:stretch>
            <a:fillRect/>
          </a:stretch>
        </p:blipFill>
        <p:spPr>
          <a:xfrm>
            <a:off x="10634472" y="3854196"/>
            <a:ext cx="182880" cy="201168"/>
          </a:xfrm>
          <a:prstGeom prst="rect">
            <a:avLst/>
          </a:prstGeom>
        </p:spPr>
      </p:pic>
      <p:pic>
        <p:nvPicPr>
          <p:cNvPr id="56" name="Image 39" descr="other vote">    </p:cNvPr>
          <p:cNvPicPr>
            <a:picLocks noChangeAspect="1"/>
          </p:cNvPicPr>
          <p:nvPr/>
        </p:nvPicPr>
        <p:blipFill>
          <a:blip r:embed="rId41"/>
          <a:stretch>
            <a:fillRect/>
          </a:stretch>
        </p:blipFill>
        <p:spPr>
          <a:xfrm>
            <a:off x="10899648" y="3854196"/>
            <a:ext cx="182880" cy="201168"/>
          </a:xfrm>
          <a:prstGeom prst="rect">
            <a:avLst/>
          </a:prstGeom>
        </p:spPr>
      </p:pic>
      <p:pic>
        <p:nvPicPr>
          <p:cNvPr id="57" name="Image 40" descr="other vote">    </p:cNvPr>
          <p:cNvPicPr>
            <a:picLocks noChangeAspect="1"/>
          </p:cNvPicPr>
          <p:nvPr/>
        </p:nvPicPr>
        <p:blipFill>
          <a:blip r:embed="rId42"/>
          <a:stretch>
            <a:fillRect/>
          </a:stretch>
        </p:blipFill>
        <p:spPr>
          <a:xfrm>
            <a:off x="11164824" y="3854196"/>
            <a:ext cx="182880" cy="201168"/>
          </a:xfrm>
          <a:prstGeom prst="rect">
            <a:avLst/>
          </a:prstGeom>
        </p:spPr>
      </p:pic>
      <p:pic>
        <p:nvPicPr>
          <p:cNvPr id="58" name="Image 41" descr="other vote">    </p:cNvPr>
          <p:cNvPicPr>
            <a:picLocks noChangeAspect="1"/>
          </p:cNvPicPr>
          <p:nvPr/>
        </p:nvPicPr>
        <p:blipFill>
          <a:blip r:embed="rId43"/>
          <a:stretch>
            <a:fillRect/>
          </a:stretch>
        </p:blipFill>
        <p:spPr>
          <a:xfrm>
            <a:off x="8778240" y="4087368"/>
            <a:ext cx="182880" cy="201168"/>
          </a:xfrm>
          <a:prstGeom prst="rect">
            <a:avLst/>
          </a:prstGeom>
        </p:spPr>
      </p:pic>
      <p:pic>
        <p:nvPicPr>
          <p:cNvPr id="59" name="Image 42" descr="other vote">    </p:cNvPr>
          <p:cNvPicPr>
            <a:picLocks noChangeAspect="1"/>
          </p:cNvPicPr>
          <p:nvPr/>
        </p:nvPicPr>
        <p:blipFill>
          <a:blip r:embed="rId44"/>
          <a:stretch>
            <a:fillRect/>
          </a:stretch>
        </p:blipFill>
        <p:spPr>
          <a:xfrm>
            <a:off x="9043416" y="4087368"/>
            <a:ext cx="182880" cy="201168"/>
          </a:xfrm>
          <a:prstGeom prst="rect">
            <a:avLst/>
          </a:prstGeom>
        </p:spPr>
      </p:pic>
      <p:pic>
        <p:nvPicPr>
          <p:cNvPr id="60" name="Image 43" descr="other vote">    </p:cNvPr>
          <p:cNvPicPr>
            <a:picLocks noChangeAspect="1"/>
          </p:cNvPicPr>
          <p:nvPr/>
        </p:nvPicPr>
        <p:blipFill>
          <a:blip r:embed="rId45"/>
          <a:stretch>
            <a:fillRect/>
          </a:stretch>
        </p:blipFill>
        <p:spPr>
          <a:xfrm>
            <a:off x="9308592" y="4087368"/>
            <a:ext cx="182880" cy="201168"/>
          </a:xfrm>
          <a:prstGeom prst="rect">
            <a:avLst/>
          </a:prstGeom>
        </p:spPr>
      </p:pic>
      <p:pic>
        <p:nvPicPr>
          <p:cNvPr id="61" name="Image 44" descr="other vote">    </p:cNvPr>
          <p:cNvPicPr>
            <a:picLocks noChangeAspect="1"/>
          </p:cNvPicPr>
          <p:nvPr/>
        </p:nvPicPr>
        <p:blipFill>
          <a:blip r:embed="rId46"/>
          <a:stretch>
            <a:fillRect/>
          </a:stretch>
        </p:blipFill>
        <p:spPr>
          <a:xfrm>
            <a:off x="9573768" y="4087368"/>
            <a:ext cx="182880" cy="201168"/>
          </a:xfrm>
          <a:prstGeom prst="rect">
            <a:avLst/>
          </a:prstGeom>
        </p:spPr>
      </p:pic>
      <p:pic>
        <p:nvPicPr>
          <p:cNvPr id="62" name="Image 45" descr="other vote">    </p:cNvPr>
          <p:cNvPicPr>
            <a:picLocks noChangeAspect="1"/>
          </p:cNvPicPr>
          <p:nvPr/>
        </p:nvPicPr>
        <p:blipFill>
          <a:blip r:embed="rId47"/>
          <a:stretch>
            <a:fillRect/>
          </a:stretch>
        </p:blipFill>
        <p:spPr>
          <a:xfrm>
            <a:off x="9838944" y="4087368"/>
            <a:ext cx="182880" cy="201168"/>
          </a:xfrm>
          <a:prstGeom prst="rect">
            <a:avLst/>
          </a:prstGeom>
        </p:spPr>
      </p:pic>
      <p:pic>
        <p:nvPicPr>
          <p:cNvPr id="63" name="Image 46" descr="other vote">    </p:cNvPr>
          <p:cNvPicPr>
            <a:picLocks noChangeAspect="1"/>
          </p:cNvPicPr>
          <p:nvPr/>
        </p:nvPicPr>
        <p:blipFill>
          <a:blip r:embed="rId48"/>
          <a:stretch>
            <a:fillRect/>
          </a:stretch>
        </p:blipFill>
        <p:spPr>
          <a:xfrm>
            <a:off x="10104120" y="4087368"/>
            <a:ext cx="182880" cy="201168"/>
          </a:xfrm>
          <a:prstGeom prst="rect">
            <a:avLst/>
          </a:prstGeom>
        </p:spPr>
      </p:pic>
      <p:pic>
        <p:nvPicPr>
          <p:cNvPr id="64" name="Image 47" descr="other vote">    </p:cNvPr>
          <p:cNvPicPr>
            <a:picLocks noChangeAspect="1"/>
          </p:cNvPicPr>
          <p:nvPr/>
        </p:nvPicPr>
        <p:blipFill>
          <a:blip r:embed="rId49"/>
          <a:stretch>
            <a:fillRect/>
          </a:stretch>
        </p:blipFill>
        <p:spPr>
          <a:xfrm>
            <a:off x="10369296" y="4087368"/>
            <a:ext cx="182880" cy="201168"/>
          </a:xfrm>
          <a:prstGeom prst="rect">
            <a:avLst/>
          </a:prstGeom>
        </p:spPr>
      </p:pic>
      <p:pic>
        <p:nvPicPr>
          <p:cNvPr id="65" name="Image 48" descr="other vote">    </p:cNvPr>
          <p:cNvPicPr>
            <a:picLocks noChangeAspect="1"/>
          </p:cNvPicPr>
          <p:nvPr/>
        </p:nvPicPr>
        <p:blipFill>
          <a:blip r:embed="rId50"/>
          <a:stretch>
            <a:fillRect/>
          </a:stretch>
        </p:blipFill>
        <p:spPr>
          <a:xfrm>
            <a:off x="10634472" y="4087368"/>
            <a:ext cx="182880" cy="201168"/>
          </a:xfrm>
          <a:prstGeom prst="rect">
            <a:avLst/>
          </a:prstGeom>
        </p:spPr>
      </p:pic>
      <p:pic>
        <p:nvPicPr>
          <p:cNvPr id="66" name="Image 49" descr="other vote">    </p:cNvPr>
          <p:cNvPicPr>
            <a:picLocks noChangeAspect="1"/>
          </p:cNvPicPr>
          <p:nvPr/>
        </p:nvPicPr>
        <p:blipFill>
          <a:blip r:embed="rId51"/>
          <a:stretch>
            <a:fillRect/>
          </a:stretch>
        </p:blipFill>
        <p:spPr>
          <a:xfrm>
            <a:off x="10899648" y="4087368"/>
            <a:ext cx="182880" cy="201168"/>
          </a:xfrm>
          <a:prstGeom prst="rect">
            <a:avLst/>
          </a:prstGeom>
        </p:spPr>
      </p:pic>
      <p:pic>
        <p:nvPicPr>
          <p:cNvPr id="67" name="Image 50" descr="other vote">    </p:cNvPr>
          <p:cNvPicPr>
            <a:picLocks noChangeAspect="1"/>
          </p:cNvPicPr>
          <p:nvPr/>
        </p:nvPicPr>
        <p:blipFill>
          <a:blip r:embed="rId52"/>
          <a:stretch>
            <a:fillRect/>
          </a:stretch>
        </p:blipFill>
        <p:spPr>
          <a:xfrm>
            <a:off x="11164824" y="4087368"/>
            <a:ext cx="182880" cy="201168"/>
          </a:xfrm>
          <a:prstGeom prst="rect">
            <a:avLst/>
          </a:prstGeom>
        </p:spPr>
      </p:pic>
      <p:pic>
        <p:nvPicPr>
          <p:cNvPr id="68" name="Image 51" descr="other vote">    </p:cNvPr>
          <p:cNvPicPr>
            <a:picLocks noChangeAspect="1"/>
          </p:cNvPicPr>
          <p:nvPr/>
        </p:nvPicPr>
        <p:blipFill>
          <a:blip r:embed="rId53"/>
          <a:stretch>
            <a:fillRect/>
          </a:stretch>
        </p:blipFill>
        <p:spPr>
          <a:xfrm>
            <a:off x="8778240" y="4320540"/>
            <a:ext cx="182880" cy="201168"/>
          </a:xfrm>
          <a:prstGeom prst="rect">
            <a:avLst/>
          </a:prstGeom>
        </p:spPr>
      </p:pic>
      <p:pic>
        <p:nvPicPr>
          <p:cNvPr id="69" name="Image 52" descr="other vote">    </p:cNvPr>
          <p:cNvPicPr>
            <a:picLocks noChangeAspect="1"/>
          </p:cNvPicPr>
          <p:nvPr/>
        </p:nvPicPr>
        <p:blipFill>
          <a:blip r:embed="rId54"/>
          <a:stretch>
            <a:fillRect/>
          </a:stretch>
        </p:blipFill>
        <p:spPr>
          <a:xfrm>
            <a:off x="9043416" y="4320540"/>
            <a:ext cx="182880" cy="201168"/>
          </a:xfrm>
          <a:prstGeom prst="rect">
            <a:avLst/>
          </a:prstGeom>
        </p:spPr>
      </p:pic>
      <p:pic>
        <p:nvPicPr>
          <p:cNvPr id="70" name="Image 53" descr="other vote">    </p:cNvPr>
          <p:cNvPicPr>
            <a:picLocks noChangeAspect="1"/>
          </p:cNvPicPr>
          <p:nvPr/>
        </p:nvPicPr>
        <p:blipFill>
          <a:blip r:embed="rId55"/>
          <a:stretch>
            <a:fillRect/>
          </a:stretch>
        </p:blipFill>
        <p:spPr>
          <a:xfrm>
            <a:off x="9308592" y="4320540"/>
            <a:ext cx="182880" cy="201168"/>
          </a:xfrm>
          <a:prstGeom prst="rect">
            <a:avLst/>
          </a:prstGeom>
        </p:spPr>
      </p:pic>
      <p:pic>
        <p:nvPicPr>
          <p:cNvPr id="71" name="Image 54" descr="other vote">    </p:cNvPr>
          <p:cNvPicPr>
            <a:picLocks noChangeAspect="1"/>
          </p:cNvPicPr>
          <p:nvPr/>
        </p:nvPicPr>
        <p:blipFill>
          <a:blip r:embed="rId56"/>
          <a:stretch>
            <a:fillRect/>
          </a:stretch>
        </p:blipFill>
        <p:spPr>
          <a:xfrm>
            <a:off x="9573768" y="4320540"/>
            <a:ext cx="182880" cy="201168"/>
          </a:xfrm>
          <a:prstGeom prst="rect">
            <a:avLst/>
          </a:prstGeom>
        </p:spPr>
      </p:pic>
      <p:pic>
        <p:nvPicPr>
          <p:cNvPr id="72" name="Image 55" descr="other vote">    </p:cNvPr>
          <p:cNvPicPr>
            <a:picLocks noChangeAspect="1"/>
          </p:cNvPicPr>
          <p:nvPr/>
        </p:nvPicPr>
        <p:blipFill>
          <a:blip r:embed="rId57"/>
          <a:stretch>
            <a:fillRect/>
          </a:stretch>
        </p:blipFill>
        <p:spPr>
          <a:xfrm>
            <a:off x="9838944" y="4320540"/>
            <a:ext cx="182880" cy="201168"/>
          </a:xfrm>
          <a:prstGeom prst="rect">
            <a:avLst/>
          </a:prstGeom>
        </p:spPr>
      </p:pic>
      <p:pic>
        <p:nvPicPr>
          <p:cNvPr id="73" name="Image 56" descr="other vote">    </p:cNvPr>
          <p:cNvPicPr>
            <a:picLocks noChangeAspect="1"/>
          </p:cNvPicPr>
          <p:nvPr/>
        </p:nvPicPr>
        <p:blipFill>
          <a:blip r:embed="rId58"/>
          <a:stretch>
            <a:fillRect/>
          </a:stretch>
        </p:blipFill>
        <p:spPr>
          <a:xfrm>
            <a:off x="10104120" y="4320540"/>
            <a:ext cx="182880" cy="201168"/>
          </a:xfrm>
          <a:prstGeom prst="rect">
            <a:avLst/>
          </a:prstGeom>
        </p:spPr>
      </p:pic>
      <p:pic>
        <p:nvPicPr>
          <p:cNvPr id="74" name="Image 57" descr="other vote">    </p:cNvPr>
          <p:cNvPicPr>
            <a:picLocks noChangeAspect="1"/>
          </p:cNvPicPr>
          <p:nvPr/>
        </p:nvPicPr>
        <p:blipFill>
          <a:blip r:embed="rId59"/>
          <a:stretch>
            <a:fillRect/>
          </a:stretch>
        </p:blipFill>
        <p:spPr>
          <a:xfrm>
            <a:off x="10369296" y="4320540"/>
            <a:ext cx="182880" cy="201168"/>
          </a:xfrm>
          <a:prstGeom prst="rect">
            <a:avLst/>
          </a:prstGeom>
        </p:spPr>
      </p:pic>
      <p:pic>
        <p:nvPicPr>
          <p:cNvPr id="75" name="Image 58" descr="other vote">    </p:cNvPr>
          <p:cNvPicPr>
            <a:picLocks noChangeAspect="1"/>
          </p:cNvPicPr>
          <p:nvPr/>
        </p:nvPicPr>
        <p:blipFill>
          <a:blip r:embed="rId60"/>
          <a:stretch>
            <a:fillRect/>
          </a:stretch>
        </p:blipFill>
        <p:spPr>
          <a:xfrm>
            <a:off x="10634472" y="4320540"/>
            <a:ext cx="182880" cy="201168"/>
          </a:xfrm>
          <a:prstGeom prst="rect">
            <a:avLst/>
          </a:prstGeom>
        </p:spPr>
      </p:pic>
      <p:pic>
        <p:nvPicPr>
          <p:cNvPr id="76" name="Image 59" descr="other vote">    </p:cNvPr>
          <p:cNvPicPr>
            <a:picLocks noChangeAspect="1"/>
          </p:cNvPicPr>
          <p:nvPr/>
        </p:nvPicPr>
        <p:blipFill>
          <a:blip r:embed="rId61"/>
          <a:stretch>
            <a:fillRect/>
          </a:stretch>
        </p:blipFill>
        <p:spPr>
          <a:xfrm>
            <a:off x="10899648" y="4320540"/>
            <a:ext cx="182880" cy="201168"/>
          </a:xfrm>
          <a:prstGeom prst="rect">
            <a:avLst/>
          </a:prstGeom>
        </p:spPr>
      </p:pic>
      <p:pic>
        <p:nvPicPr>
          <p:cNvPr id="77" name="Image 60" descr="other vote">    </p:cNvPr>
          <p:cNvPicPr>
            <a:picLocks noChangeAspect="1"/>
          </p:cNvPicPr>
          <p:nvPr/>
        </p:nvPicPr>
        <p:blipFill>
          <a:blip r:embed="rId62"/>
          <a:stretch>
            <a:fillRect/>
          </a:stretch>
        </p:blipFill>
        <p:spPr>
          <a:xfrm>
            <a:off x="11164824" y="4320540"/>
            <a:ext cx="182880" cy="201168"/>
          </a:xfrm>
          <a:prstGeom prst="rect">
            <a:avLst/>
          </a:prstGeom>
        </p:spPr>
      </p:pic>
      <p:pic>
        <p:nvPicPr>
          <p:cNvPr id="78" name="Image 61" descr="other vote">    </p:cNvPr>
          <p:cNvPicPr>
            <a:picLocks noChangeAspect="1"/>
          </p:cNvPicPr>
          <p:nvPr/>
        </p:nvPicPr>
        <p:blipFill>
          <a:blip r:embed="rId63"/>
          <a:stretch>
            <a:fillRect/>
          </a:stretch>
        </p:blipFill>
        <p:spPr>
          <a:xfrm>
            <a:off x="8778240" y="4553712"/>
            <a:ext cx="182880" cy="201168"/>
          </a:xfrm>
          <a:prstGeom prst="rect">
            <a:avLst/>
          </a:prstGeom>
        </p:spPr>
      </p:pic>
      <p:pic>
        <p:nvPicPr>
          <p:cNvPr id="79" name="Image 62" descr="other vote">    </p:cNvPr>
          <p:cNvPicPr>
            <a:picLocks noChangeAspect="1"/>
          </p:cNvPicPr>
          <p:nvPr/>
        </p:nvPicPr>
        <p:blipFill>
          <a:blip r:embed="rId64"/>
          <a:stretch>
            <a:fillRect/>
          </a:stretch>
        </p:blipFill>
        <p:spPr>
          <a:xfrm>
            <a:off x="9043416" y="4553712"/>
            <a:ext cx="182880" cy="201168"/>
          </a:xfrm>
          <a:prstGeom prst="rect">
            <a:avLst/>
          </a:prstGeom>
        </p:spPr>
      </p:pic>
      <p:pic>
        <p:nvPicPr>
          <p:cNvPr id="80" name="Image 63" descr="other vote">    </p:cNvPr>
          <p:cNvPicPr>
            <a:picLocks noChangeAspect="1"/>
          </p:cNvPicPr>
          <p:nvPr/>
        </p:nvPicPr>
        <p:blipFill>
          <a:blip r:embed="rId65"/>
          <a:stretch>
            <a:fillRect/>
          </a:stretch>
        </p:blipFill>
        <p:spPr>
          <a:xfrm>
            <a:off x="9308592" y="4553712"/>
            <a:ext cx="182880" cy="201168"/>
          </a:xfrm>
          <a:prstGeom prst="rect">
            <a:avLst/>
          </a:prstGeom>
        </p:spPr>
      </p:pic>
      <p:pic>
        <p:nvPicPr>
          <p:cNvPr id="81" name="Image 64" descr="other vote">    </p:cNvPr>
          <p:cNvPicPr>
            <a:picLocks noChangeAspect="1"/>
          </p:cNvPicPr>
          <p:nvPr/>
        </p:nvPicPr>
        <p:blipFill>
          <a:blip r:embed="rId66"/>
          <a:stretch>
            <a:fillRect/>
          </a:stretch>
        </p:blipFill>
        <p:spPr>
          <a:xfrm>
            <a:off x="9573768" y="4553712"/>
            <a:ext cx="182880" cy="201168"/>
          </a:xfrm>
          <a:prstGeom prst="rect">
            <a:avLst/>
          </a:prstGeom>
        </p:spPr>
      </p:pic>
      <p:pic>
        <p:nvPicPr>
          <p:cNvPr id="82" name="Image 65" descr="other vote">    </p:cNvPr>
          <p:cNvPicPr>
            <a:picLocks noChangeAspect="1"/>
          </p:cNvPicPr>
          <p:nvPr/>
        </p:nvPicPr>
        <p:blipFill>
          <a:blip r:embed="rId67"/>
          <a:stretch>
            <a:fillRect/>
          </a:stretch>
        </p:blipFill>
        <p:spPr>
          <a:xfrm>
            <a:off x="9838944" y="4553712"/>
            <a:ext cx="182880" cy="201168"/>
          </a:xfrm>
          <a:prstGeom prst="rect">
            <a:avLst/>
          </a:prstGeom>
        </p:spPr>
      </p:pic>
      <p:pic>
        <p:nvPicPr>
          <p:cNvPr id="83" name="Image 66" descr="other vote">    </p:cNvPr>
          <p:cNvPicPr>
            <a:picLocks noChangeAspect="1"/>
          </p:cNvPicPr>
          <p:nvPr/>
        </p:nvPicPr>
        <p:blipFill>
          <a:blip r:embed="rId68"/>
          <a:stretch>
            <a:fillRect/>
          </a:stretch>
        </p:blipFill>
        <p:spPr>
          <a:xfrm>
            <a:off x="10104120" y="4553712"/>
            <a:ext cx="182880" cy="201168"/>
          </a:xfrm>
          <a:prstGeom prst="rect">
            <a:avLst/>
          </a:prstGeom>
        </p:spPr>
      </p:pic>
      <p:pic>
        <p:nvPicPr>
          <p:cNvPr id="84" name="Image 67" descr="other vote">    </p:cNvPr>
          <p:cNvPicPr>
            <a:picLocks noChangeAspect="1"/>
          </p:cNvPicPr>
          <p:nvPr/>
        </p:nvPicPr>
        <p:blipFill>
          <a:blip r:embed="rId69"/>
          <a:stretch>
            <a:fillRect/>
          </a:stretch>
        </p:blipFill>
        <p:spPr>
          <a:xfrm>
            <a:off x="10369296" y="4553712"/>
            <a:ext cx="182880" cy="201168"/>
          </a:xfrm>
          <a:prstGeom prst="rect">
            <a:avLst/>
          </a:prstGeom>
        </p:spPr>
      </p:pic>
      <p:pic>
        <p:nvPicPr>
          <p:cNvPr id="85" name="Image 68" descr="other vote">    </p:cNvPr>
          <p:cNvPicPr>
            <a:picLocks noChangeAspect="1"/>
          </p:cNvPicPr>
          <p:nvPr/>
        </p:nvPicPr>
        <p:blipFill>
          <a:blip r:embed="rId70"/>
          <a:stretch>
            <a:fillRect/>
          </a:stretch>
        </p:blipFill>
        <p:spPr>
          <a:xfrm>
            <a:off x="10634472" y="4553712"/>
            <a:ext cx="182880" cy="201168"/>
          </a:xfrm>
          <a:prstGeom prst="rect">
            <a:avLst/>
          </a:prstGeom>
        </p:spPr>
      </p:pic>
      <p:pic>
        <p:nvPicPr>
          <p:cNvPr id="86" name="Image 69" descr="other vote">    </p:cNvPr>
          <p:cNvPicPr>
            <a:picLocks noChangeAspect="1"/>
          </p:cNvPicPr>
          <p:nvPr/>
        </p:nvPicPr>
        <p:blipFill>
          <a:blip r:embed="rId71"/>
          <a:stretch>
            <a:fillRect/>
          </a:stretch>
        </p:blipFill>
        <p:spPr>
          <a:xfrm>
            <a:off x="10899648" y="4553712"/>
            <a:ext cx="182880" cy="201168"/>
          </a:xfrm>
          <a:prstGeom prst="rect">
            <a:avLst/>
          </a:prstGeom>
        </p:spPr>
      </p:pic>
      <p:pic>
        <p:nvPicPr>
          <p:cNvPr id="87" name="Image 70" descr="other vote">    </p:cNvPr>
          <p:cNvPicPr>
            <a:picLocks noChangeAspect="1"/>
          </p:cNvPicPr>
          <p:nvPr/>
        </p:nvPicPr>
        <p:blipFill>
          <a:blip r:embed="rId72"/>
          <a:stretch>
            <a:fillRect/>
          </a:stretch>
        </p:blipFill>
        <p:spPr>
          <a:xfrm>
            <a:off x="11164824" y="4553712"/>
            <a:ext cx="182880" cy="201168"/>
          </a:xfrm>
          <a:prstGeom prst="rect">
            <a:avLst/>
          </a:prstGeom>
        </p:spPr>
      </p:pic>
      <p:pic>
        <p:nvPicPr>
          <p:cNvPr id="88" name="Image 71" descr="other vote">    </p:cNvPr>
          <p:cNvPicPr>
            <a:picLocks noChangeAspect="1"/>
          </p:cNvPicPr>
          <p:nvPr/>
        </p:nvPicPr>
        <p:blipFill>
          <a:blip r:embed="rId73"/>
          <a:stretch>
            <a:fillRect/>
          </a:stretch>
        </p:blipFill>
        <p:spPr>
          <a:xfrm>
            <a:off x="8778240" y="4786884"/>
            <a:ext cx="182880" cy="201168"/>
          </a:xfrm>
          <a:prstGeom prst="rect">
            <a:avLst/>
          </a:prstGeom>
        </p:spPr>
      </p:pic>
      <p:pic>
        <p:nvPicPr>
          <p:cNvPr id="89" name="Image 72" descr="other vote">    </p:cNvPr>
          <p:cNvPicPr>
            <a:picLocks noChangeAspect="1"/>
          </p:cNvPicPr>
          <p:nvPr/>
        </p:nvPicPr>
        <p:blipFill>
          <a:blip r:embed="rId74"/>
          <a:stretch>
            <a:fillRect/>
          </a:stretch>
        </p:blipFill>
        <p:spPr>
          <a:xfrm>
            <a:off x="9043416" y="4786884"/>
            <a:ext cx="182880" cy="201168"/>
          </a:xfrm>
          <a:prstGeom prst="rect">
            <a:avLst/>
          </a:prstGeom>
        </p:spPr>
      </p:pic>
      <p:pic>
        <p:nvPicPr>
          <p:cNvPr id="90" name="Image 73" descr="other vote">    </p:cNvPr>
          <p:cNvPicPr>
            <a:picLocks noChangeAspect="1"/>
          </p:cNvPicPr>
          <p:nvPr/>
        </p:nvPicPr>
        <p:blipFill>
          <a:blip r:embed="rId75"/>
          <a:stretch>
            <a:fillRect/>
          </a:stretch>
        </p:blipFill>
        <p:spPr>
          <a:xfrm>
            <a:off x="9308592" y="4786884"/>
            <a:ext cx="182880" cy="201168"/>
          </a:xfrm>
          <a:prstGeom prst="rect">
            <a:avLst/>
          </a:prstGeom>
        </p:spPr>
      </p:pic>
      <p:pic>
        <p:nvPicPr>
          <p:cNvPr id="91" name="Image 74" descr="other vote">    </p:cNvPr>
          <p:cNvPicPr>
            <a:picLocks noChangeAspect="1"/>
          </p:cNvPicPr>
          <p:nvPr/>
        </p:nvPicPr>
        <p:blipFill>
          <a:blip r:embed="rId76"/>
          <a:stretch>
            <a:fillRect/>
          </a:stretch>
        </p:blipFill>
        <p:spPr>
          <a:xfrm>
            <a:off x="9573768" y="4786884"/>
            <a:ext cx="182880" cy="201168"/>
          </a:xfrm>
          <a:prstGeom prst="rect">
            <a:avLst/>
          </a:prstGeom>
        </p:spPr>
      </p:pic>
      <p:pic>
        <p:nvPicPr>
          <p:cNvPr id="92" name="Image 75" descr="other vote">    </p:cNvPr>
          <p:cNvPicPr>
            <a:picLocks noChangeAspect="1"/>
          </p:cNvPicPr>
          <p:nvPr/>
        </p:nvPicPr>
        <p:blipFill>
          <a:blip r:embed="rId77"/>
          <a:stretch>
            <a:fillRect/>
          </a:stretch>
        </p:blipFill>
        <p:spPr>
          <a:xfrm>
            <a:off x="9838944" y="4786884"/>
            <a:ext cx="182880" cy="201168"/>
          </a:xfrm>
          <a:prstGeom prst="rect">
            <a:avLst/>
          </a:prstGeom>
        </p:spPr>
      </p:pic>
      <p:pic>
        <p:nvPicPr>
          <p:cNvPr id="93" name="Image 76" descr="other vote">    </p:cNvPr>
          <p:cNvPicPr>
            <a:picLocks noChangeAspect="1"/>
          </p:cNvPicPr>
          <p:nvPr/>
        </p:nvPicPr>
        <p:blipFill>
          <a:blip r:embed="rId78"/>
          <a:stretch>
            <a:fillRect/>
          </a:stretch>
        </p:blipFill>
        <p:spPr>
          <a:xfrm>
            <a:off x="10104120" y="4786884"/>
            <a:ext cx="182880" cy="201168"/>
          </a:xfrm>
          <a:prstGeom prst="rect">
            <a:avLst/>
          </a:prstGeom>
        </p:spPr>
      </p:pic>
      <p:pic>
        <p:nvPicPr>
          <p:cNvPr id="94" name="Image 77" descr="other vote">    </p:cNvPr>
          <p:cNvPicPr>
            <a:picLocks noChangeAspect="1"/>
          </p:cNvPicPr>
          <p:nvPr/>
        </p:nvPicPr>
        <p:blipFill>
          <a:blip r:embed="rId79"/>
          <a:stretch>
            <a:fillRect/>
          </a:stretch>
        </p:blipFill>
        <p:spPr>
          <a:xfrm>
            <a:off x="10369296" y="4786884"/>
            <a:ext cx="182880" cy="201168"/>
          </a:xfrm>
          <a:prstGeom prst="rect">
            <a:avLst/>
          </a:prstGeom>
        </p:spPr>
      </p:pic>
      <p:pic>
        <p:nvPicPr>
          <p:cNvPr id="95" name="Image 78" descr="other vote">    </p:cNvPr>
          <p:cNvPicPr>
            <a:picLocks noChangeAspect="1"/>
          </p:cNvPicPr>
          <p:nvPr/>
        </p:nvPicPr>
        <p:blipFill>
          <a:blip r:embed="rId80"/>
          <a:stretch>
            <a:fillRect/>
          </a:stretch>
        </p:blipFill>
        <p:spPr>
          <a:xfrm>
            <a:off x="10634472" y="4786884"/>
            <a:ext cx="182880" cy="201168"/>
          </a:xfrm>
          <a:prstGeom prst="rect">
            <a:avLst/>
          </a:prstGeom>
        </p:spPr>
      </p:pic>
      <p:pic>
        <p:nvPicPr>
          <p:cNvPr id="96" name="Image 79" descr="other vote">    </p:cNvPr>
          <p:cNvPicPr>
            <a:picLocks noChangeAspect="1"/>
          </p:cNvPicPr>
          <p:nvPr/>
        </p:nvPicPr>
        <p:blipFill>
          <a:blip r:embed="rId81"/>
          <a:stretch>
            <a:fillRect/>
          </a:stretch>
        </p:blipFill>
        <p:spPr>
          <a:xfrm>
            <a:off x="10899648" y="4786884"/>
            <a:ext cx="182880" cy="201168"/>
          </a:xfrm>
          <a:prstGeom prst="rect">
            <a:avLst/>
          </a:prstGeom>
        </p:spPr>
      </p:pic>
      <p:pic>
        <p:nvPicPr>
          <p:cNvPr id="97" name="Image 80" descr="other vote">    </p:cNvPr>
          <p:cNvPicPr>
            <a:picLocks noChangeAspect="1"/>
          </p:cNvPicPr>
          <p:nvPr/>
        </p:nvPicPr>
        <p:blipFill>
          <a:blip r:embed="rId82"/>
          <a:stretch>
            <a:fillRect/>
          </a:stretch>
        </p:blipFill>
        <p:spPr>
          <a:xfrm>
            <a:off x="11164824" y="4786884"/>
            <a:ext cx="182880" cy="201168"/>
          </a:xfrm>
          <a:prstGeom prst="rect">
            <a:avLst/>
          </a:prstGeom>
        </p:spPr>
      </p:pic>
      <p:pic>
        <p:nvPicPr>
          <p:cNvPr id="98" name="Image 81" descr="other vote">    </p:cNvPr>
          <p:cNvPicPr>
            <a:picLocks noChangeAspect="1"/>
          </p:cNvPicPr>
          <p:nvPr/>
        </p:nvPicPr>
        <p:blipFill>
          <a:blip r:embed="rId83"/>
          <a:stretch>
            <a:fillRect/>
          </a:stretch>
        </p:blipFill>
        <p:spPr>
          <a:xfrm>
            <a:off x="8778240" y="5020056"/>
            <a:ext cx="182880" cy="201168"/>
          </a:xfrm>
          <a:prstGeom prst="rect">
            <a:avLst/>
          </a:prstGeom>
        </p:spPr>
      </p:pic>
      <p:pic>
        <p:nvPicPr>
          <p:cNvPr id="99" name="Image 82" descr="other vote">    </p:cNvPr>
          <p:cNvPicPr>
            <a:picLocks noChangeAspect="1"/>
          </p:cNvPicPr>
          <p:nvPr/>
        </p:nvPicPr>
        <p:blipFill>
          <a:blip r:embed="rId84"/>
          <a:stretch>
            <a:fillRect/>
          </a:stretch>
        </p:blipFill>
        <p:spPr>
          <a:xfrm>
            <a:off x="9043416" y="5020056"/>
            <a:ext cx="182880" cy="201168"/>
          </a:xfrm>
          <a:prstGeom prst="rect">
            <a:avLst/>
          </a:prstGeom>
        </p:spPr>
      </p:pic>
      <p:pic>
        <p:nvPicPr>
          <p:cNvPr id="100" name="Image 83" descr="other vote">    </p:cNvPr>
          <p:cNvPicPr>
            <a:picLocks noChangeAspect="1"/>
          </p:cNvPicPr>
          <p:nvPr/>
        </p:nvPicPr>
        <p:blipFill>
          <a:blip r:embed="rId85"/>
          <a:stretch>
            <a:fillRect/>
          </a:stretch>
        </p:blipFill>
        <p:spPr>
          <a:xfrm>
            <a:off x="9308592" y="5020056"/>
            <a:ext cx="182880" cy="201168"/>
          </a:xfrm>
          <a:prstGeom prst="rect">
            <a:avLst/>
          </a:prstGeom>
        </p:spPr>
      </p:pic>
      <p:pic>
        <p:nvPicPr>
          <p:cNvPr id="101" name="Image 84" descr="other vote">    </p:cNvPr>
          <p:cNvPicPr>
            <a:picLocks noChangeAspect="1"/>
          </p:cNvPicPr>
          <p:nvPr/>
        </p:nvPicPr>
        <p:blipFill>
          <a:blip r:embed="rId86"/>
          <a:stretch>
            <a:fillRect/>
          </a:stretch>
        </p:blipFill>
        <p:spPr>
          <a:xfrm>
            <a:off x="9573768" y="5020056"/>
            <a:ext cx="182880" cy="201168"/>
          </a:xfrm>
          <a:prstGeom prst="rect">
            <a:avLst/>
          </a:prstGeom>
        </p:spPr>
      </p:pic>
      <p:pic>
        <p:nvPicPr>
          <p:cNvPr id="102" name="Image 85" descr="other vote">    </p:cNvPr>
          <p:cNvPicPr>
            <a:picLocks noChangeAspect="1"/>
          </p:cNvPicPr>
          <p:nvPr/>
        </p:nvPicPr>
        <p:blipFill>
          <a:blip r:embed="rId87"/>
          <a:stretch>
            <a:fillRect/>
          </a:stretch>
        </p:blipFill>
        <p:spPr>
          <a:xfrm>
            <a:off x="9838944" y="5020056"/>
            <a:ext cx="182880" cy="201168"/>
          </a:xfrm>
          <a:prstGeom prst="rect">
            <a:avLst/>
          </a:prstGeom>
        </p:spPr>
      </p:pic>
      <p:pic>
        <p:nvPicPr>
          <p:cNvPr id="103" name="Image 86" descr="other vote">    </p:cNvPr>
          <p:cNvPicPr>
            <a:picLocks noChangeAspect="1"/>
          </p:cNvPicPr>
          <p:nvPr/>
        </p:nvPicPr>
        <p:blipFill>
          <a:blip r:embed="rId88"/>
          <a:stretch>
            <a:fillRect/>
          </a:stretch>
        </p:blipFill>
        <p:spPr>
          <a:xfrm>
            <a:off x="10104120" y="5020056"/>
            <a:ext cx="182880" cy="201168"/>
          </a:xfrm>
          <a:prstGeom prst="rect">
            <a:avLst/>
          </a:prstGeom>
        </p:spPr>
      </p:pic>
      <p:pic>
        <p:nvPicPr>
          <p:cNvPr id="104" name="Image 87" descr="other vote">    </p:cNvPr>
          <p:cNvPicPr>
            <a:picLocks noChangeAspect="1"/>
          </p:cNvPicPr>
          <p:nvPr/>
        </p:nvPicPr>
        <p:blipFill>
          <a:blip r:embed="rId89"/>
          <a:stretch>
            <a:fillRect/>
          </a:stretch>
        </p:blipFill>
        <p:spPr>
          <a:xfrm>
            <a:off x="10369296" y="5020056"/>
            <a:ext cx="182880" cy="201168"/>
          </a:xfrm>
          <a:prstGeom prst="rect">
            <a:avLst/>
          </a:prstGeom>
        </p:spPr>
      </p:pic>
      <p:pic>
        <p:nvPicPr>
          <p:cNvPr id="105" name="Image 88" descr="other vote">    </p:cNvPr>
          <p:cNvPicPr>
            <a:picLocks noChangeAspect="1"/>
          </p:cNvPicPr>
          <p:nvPr/>
        </p:nvPicPr>
        <p:blipFill>
          <a:blip r:embed="rId90"/>
          <a:stretch>
            <a:fillRect/>
          </a:stretch>
        </p:blipFill>
        <p:spPr>
          <a:xfrm>
            <a:off x="10634472" y="5020056"/>
            <a:ext cx="182880" cy="201168"/>
          </a:xfrm>
          <a:prstGeom prst="rect">
            <a:avLst/>
          </a:prstGeom>
        </p:spPr>
      </p:pic>
      <p:pic>
        <p:nvPicPr>
          <p:cNvPr id="106" name="Image 89" descr="other vote">    </p:cNvPr>
          <p:cNvPicPr>
            <a:picLocks noChangeAspect="1"/>
          </p:cNvPicPr>
          <p:nvPr/>
        </p:nvPicPr>
        <p:blipFill>
          <a:blip r:embed="rId91"/>
          <a:stretch>
            <a:fillRect/>
          </a:stretch>
        </p:blipFill>
        <p:spPr>
          <a:xfrm>
            <a:off x="10899648" y="5020056"/>
            <a:ext cx="182880" cy="201168"/>
          </a:xfrm>
          <a:prstGeom prst="rect">
            <a:avLst/>
          </a:prstGeom>
        </p:spPr>
      </p:pic>
      <p:pic>
        <p:nvPicPr>
          <p:cNvPr id="107" name="Image 90" descr="other vote">    </p:cNvPr>
          <p:cNvPicPr>
            <a:picLocks noChangeAspect="1"/>
          </p:cNvPicPr>
          <p:nvPr/>
        </p:nvPicPr>
        <p:blipFill>
          <a:blip r:embed="rId92"/>
          <a:stretch>
            <a:fillRect/>
          </a:stretch>
        </p:blipFill>
        <p:spPr>
          <a:xfrm>
            <a:off x="11164824" y="5020056"/>
            <a:ext cx="182880" cy="201168"/>
          </a:xfrm>
          <a:prstGeom prst="rect">
            <a:avLst/>
          </a:prstGeom>
        </p:spPr>
      </p:pic>
      <p:pic>
        <p:nvPicPr>
          <p:cNvPr id="108" name="Image 91" descr="other vote">    </p:cNvPr>
          <p:cNvPicPr>
            <a:picLocks noChangeAspect="1"/>
          </p:cNvPicPr>
          <p:nvPr/>
        </p:nvPicPr>
        <p:blipFill>
          <a:blip r:embed="rId93"/>
          <a:stretch>
            <a:fillRect/>
          </a:stretch>
        </p:blipFill>
        <p:spPr>
          <a:xfrm>
            <a:off x="8778240" y="5253228"/>
            <a:ext cx="182880" cy="201168"/>
          </a:xfrm>
          <a:prstGeom prst="rect">
            <a:avLst/>
          </a:prstGeom>
        </p:spPr>
      </p:pic>
      <p:pic>
        <p:nvPicPr>
          <p:cNvPr id="109" name="Image 92" descr="other vote">    </p:cNvPr>
          <p:cNvPicPr>
            <a:picLocks noChangeAspect="1"/>
          </p:cNvPicPr>
          <p:nvPr/>
        </p:nvPicPr>
        <p:blipFill>
          <a:blip r:embed="rId94"/>
          <a:stretch>
            <a:fillRect/>
          </a:stretch>
        </p:blipFill>
        <p:spPr>
          <a:xfrm>
            <a:off x="9043416" y="5253228"/>
            <a:ext cx="182880" cy="201168"/>
          </a:xfrm>
          <a:prstGeom prst="rect">
            <a:avLst/>
          </a:prstGeom>
        </p:spPr>
      </p:pic>
      <p:pic>
        <p:nvPicPr>
          <p:cNvPr id="110" name="Image 93" descr="other vote">    </p:cNvPr>
          <p:cNvPicPr>
            <a:picLocks noChangeAspect="1"/>
          </p:cNvPicPr>
          <p:nvPr/>
        </p:nvPicPr>
        <p:blipFill>
          <a:blip r:embed="rId95"/>
          <a:stretch>
            <a:fillRect/>
          </a:stretch>
        </p:blipFill>
        <p:spPr>
          <a:xfrm>
            <a:off x="9308592" y="5253228"/>
            <a:ext cx="182880" cy="201168"/>
          </a:xfrm>
          <a:prstGeom prst="rect">
            <a:avLst/>
          </a:prstGeom>
        </p:spPr>
      </p:pic>
      <p:pic>
        <p:nvPicPr>
          <p:cNvPr id="111" name="Image 94" descr="other vote">    </p:cNvPr>
          <p:cNvPicPr>
            <a:picLocks noChangeAspect="1"/>
          </p:cNvPicPr>
          <p:nvPr/>
        </p:nvPicPr>
        <p:blipFill>
          <a:blip r:embed="rId96"/>
          <a:stretch>
            <a:fillRect/>
          </a:stretch>
        </p:blipFill>
        <p:spPr>
          <a:xfrm>
            <a:off x="9573768" y="5253228"/>
            <a:ext cx="182880" cy="201168"/>
          </a:xfrm>
          <a:prstGeom prst="rect">
            <a:avLst/>
          </a:prstGeom>
        </p:spPr>
      </p:pic>
      <p:pic>
        <p:nvPicPr>
          <p:cNvPr id="112" name="Image 95" descr="other vote">    </p:cNvPr>
          <p:cNvPicPr>
            <a:picLocks noChangeAspect="1"/>
          </p:cNvPicPr>
          <p:nvPr/>
        </p:nvPicPr>
        <p:blipFill>
          <a:blip r:embed="rId97"/>
          <a:stretch>
            <a:fillRect/>
          </a:stretch>
        </p:blipFill>
        <p:spPr>
          <a:xfrm>
            <a:off x="9838944" y="5253228"/>
            <a:ext cx="182880" cy="201168"/>
          </a:xfrm>
          <a:prstGeom prst="rect">
            <a:avLst/>
          </a:prstGeom>
        </p:spPr>
      </p:pic>
      <p:pic>
        <p:nvPicPr>
          <p:cNvPr id="113" name="Image 96" descr="other vote">    </p:cNvPr>
          <p:cNvPicPr>
            <a:picLocks noChangeAspect="1"/>
          </p:cNvPicPr>
          <p:nvPr/>
        </p:nvPicPr>
        <p:blipFill>
          <a:blip r:embed="rId98"/>
          <a:stretch>
            <a:fillRect/>
          </a:stretch>
        </p:blipFill>
        <p:spPr>
          <a:xfrm>
            <a:off x="10104120" y="5253228"/>
            <a:ext cx="182880" cy="201168"/>
          </a:xfrm>
          <a:prstGeom prst="rect">
            <a:avLst/>
          </a:prstGeom>
        </p:spPr>
      </p:pic>
      <p:pic>
        <p:nvPicPr>
          <p:cNvPr id="114" name="Image 97" descr="other vote">    </p:cNvPr>
          <p:cNvPicPr>
            <a:picLocks noChangeAspect="1"/>
          </p:cNvPicPr>
          <p:nvPr/>
        </p:nvPicPr>
        <p:blipFill>
          <a:blip r:embed="rId99"/>
          <a:stretch>
            <a:fillRect/>
          </a:stretch>
        </p:blipFill>
        <p:spPr>
          <a:xfrm>
            <a:off x="10369296" y="5253228"/>
            <a:ext cx="182880" cy="201168"/>
          </a:xfrm>
          <a:prstGeom prst="rect">
            <a:avLst/>
          </a:prstGeom>
        </p:spPr>
      </p:pic>
      <p:pic>
        <p:nvPicPr>
          <p:cNvPr id="115" name="Image 98" descr="other vote">    </p:cNvPr>
          <p:cNvPicPr>
            <a:picLocks noChangeAspect="1"/>
          </p:cNvPicPr>
          <p:nvPr/>
        </p:nvPicPr>
        <p:blipFill>
          <a:blip r:embed="rId100"/>
          <a:stretch>
            <a:fillRect/>
          </a:stretch>
        </p:blipFill>
        <p:spPr>
          <a:xfrm>
            <a:off x="10634472" y="5253228"/>
            <a:ext cx="182880" cy="201168"/>
          </a:xfrm>
          <a:prstGeom prst="rect">
            <a:avLst/>
          </a:prstGeom>
        </p:spPr>
      </p:pic>
      <p:pic>
        <p:nvPicPr>
          <p:cNvPr id="116" name="Image 99" descr="other vote">    </p:cNvPr>
          <p:cNvPicPr>
            <a:picLocks noChangeAspect="1"/>
          </p:cNvPicPr>
          <p:nvPr/>
        </p:nvPicPr>
        <p:blipFill>
          <a:blip r:embed="rId101"/>
          <a:stretch>
            <a:fillRect/>
          </a:stretch>
        </p:blipFill>
        <p:spPr>
          <a:xfrm>
            <a:off x="10899648" y="5253228"/>
            <a:ext cx="182880" cy="201168"/>
          </a:xfrm>
          <a:prstGeom prst="rect">
            <a:avLst/>
          </a:prstGeom>
        </p:spPr>
      </p:pic>
      <p:pic>
        <p:nvPicPr>
          <p:cNvPr id="117" name="Image 100" descr="other vote">    </p:cNvPr>
          <p:cNvPicPr>
            <a:picLocks noChangeAspect="1"/>
          </p:cNvPicPr>
          <p:nvPr/>
        </p:nvPicPr>
        <p:blipFill>
          <a:blip r:embed="rId102"/>
          <a:stretch>
            <a:fillRect/>
          </a:stretch>
        </p:blipFill>
        <p:spPr>
          <a:xfrm>
            <a:off x="11164824" y="5253228"/>
            <a:ext cx="182880" cy="201168"/>
          </a:xfrm>
          <a:prstGeom prst="rect">
            <a:avLst/>
          </a:prstGeom>
        </p:spPr>
      </p:pic>
      <p:pic>
        <p:nvPicPr>
          <p:cNvPr id="118" name="Image 101" descr="An illustration, not a forecast">    </p:cNvPr>
          <p:cNvPicPr>
            <a:picLocks noChangeAspect="1"/>
          </p:cNvPicPr>
          <p:nvPr/>
        </p:nvPicPr>
        <p:blipFill>
          <a:blip r:embed="rId103"/>
          <a:stretch>
            <a:fillRect/>
          </a:stretch>
        </p:blipFill>
        <p:spPr>
          <a:xfrm>
            <a:off x="548640" y="5760720"/>
            <a:ext cx="329184" cy="329184"/>
          </a:xfrm>
          <a:prstGeom prst="rect">
            <a:avLst/>
          </a:prstGeom>
        </p:spPr>
      </p:pic>
      <p:sp>
        <p:nvSpPr>
          <p:cNvPr id="119" name="Text 14"/>
          <p:cNvSpPr txBox="1"/>
          <p:nvPr/>
        </p:nvSpPr>
        <p:spPr>
          <a:xfrm>
            <a:off x="1005840" y="5669280"/>
            <a:ext cx="3154680" cy="731520"/>
          </a:xfrm>
          <a:prstGeom prst="rect">
            <a:avLst/>
          </a:prstGeom>
          <a:noFill/>
          <a:ln/>
        </p:spPr>
        <p:txBody>
          <a:bodyPr wrap="square" lIns="0" tIns="0" rIns="0" bIns="0" rtlCol="0" anchor="t"/>
          <a:lstStyle/>
          <a:p>
            <a:pPr indent="0" marL="0">
              <a:buNone/>
            </a:pPr>
            <a:r>
              <a:rPr lang="en-US" sz="1300" b="1" dirty="0">
                <a:solidFill>
                  <a:srgbClr val="023465"/>
                </a:solidFill>
              </a:rPr>
              <a:t>An illustration, not a forecast
</a:t>
            </a:r>
            <a:pPr indent="0" marL="0">
              <a:buNone/>
            </a:pPr>
            <a:r>
              <a:rPr lang="en-US" sz="1300" dirty="0">
                <a:solidFill>
                  <a:srgbClr val="4F6886"/>
                </a:solidFill>
              </a:rPr>
              <a:t>The model's range is wide (about −9 to +8 points).</a:t>
            </a:r>
            <a:endParaRPr lang="en-US" sz="1300" dirty="0"/>
          </a:p>
        </p:txBody>
      </p:sp>
      <p:pic>
        <p:nvPicPr>
          <p:cNvPr id="120" name="Image 102" descr="Influence">    </p:cNvPr>
          <p:cNvPicPr>
            <a:picLocks noChangeAspect="1"/>
          </p:cNvPicPr>
          <p:nvPr/>
        </p:nvPicPr>
        <p:blipFill>
          <a:blip r:embed="rId104"/>
          <a:stretch>
            <a:fillRect/>
          </a:stretch>
        </p:blipFill>
        <p:spPr>
          <a:xfrm>
            <a:off x="4288536" y="5760720"/>
            <a:ext cx="329184" cy="329184"/>
          </a:xfrm>
          <a:prstGeom prst="rect">
            <a:avLst/>
          </a:prstGeom>
        </p:spPr>
      </p:pic>
      <p:sp>
        <p:nvSpPr>
          <p:cNvPr id="121" name="Text 15"/>
          <p:cNvSpPr txBox="1"/>
          <p:nvPr/>
        </p:nvSpPr>
        <p:spPr>
          <a:xfrm>
            <a:off x="4745736" y="5669280"/>
            <a:ext cx="3154680" cy="731520"/>
          </a:xfrm>
          <a:prstGeom prst="rect">
            <a:avLst/>
          </a:prstGeom>
          <a:noFill/>
          <a:ln/>
        </p:spPr>
        <p:txBody>
          <a:bodyPr wrap="square" lIns="0" tIns="0" rIns="0" bIns="0" rtlCol="0" anchor="t"/>
          <a:lstStyle/>
          <a:p>
            <a:pPr indent="0" marL="0">
              <a:buNone/>
            </a:pPr>
            <a:r>
              <a:rPr lang="en-US" sz="1300" b="1" dirty="0">
                <a:solidFill>
                  <a:srgbClr val="023465"/>
                </a:solidFill>
              </a:rPr>
              <a:t>Influence
</a:t>
            </a:r>
            <a:pPr indent="0" marL="0">
              <a:buNone/>
            </a:pPr>
            <a:r>
              <a:rPr lang="en-US" sz="1300" dirty="0">
                <a:solidFill>
                  <a:srgbClr val="4F6886"/>
                </a:solidFill>
              </a:rPr>
              <a:t>A published projection could sway voters, like polls do.</a:t>
            </a:r>
            <a:endParaRPr lang="en-US" sz="1300" dirty="0"/>
          </a:p>
        </p:txBody>
      </p:sp>
      <p:pic>
        <p:nvPicPr>
          <p:cNvPr id="122" name="Image 103" descr="Data gaps">    </p:cNvPr>
          <p:cNvPicPr>
            <a:picLocks noChangeAspect="1"/>
          </p:cNvPicPr>
          <p:nvPr/>
        </p:nvPicPr>
        <p:blipFill>
          <a:blip r:embed="rId105"/>
          <a:stretch>
            <a:fillRect/>
          </a:stretch>
        </p:blipFill>
        <p:spPr>
          <a:xfrm>
            <a:off x="8028432" y="5760720"/>
            <a:ext cx="329184" cy="329184"/>
          </a:xfrm>
          <a:prstGeom prst="rect">
            <a:avLst/>
          </a:prstGeom>
        </p:spPr>
      </p:pic>
      <p:sp>
        <p:nvSpPr>
          <p:cNvPr id="123" name="Text 16"/>
          <p:cNvSpPr txBox="1"/>
          <p:nvPr/>
        </p:nvSpPr>
        <p:spPr>
          <a:xfrm>
            <a:off x="8485632" y="5669280"/>
            <a:ext cx="3154680" cy="731520"/>
          </a:xfrm>
          <a:prstGeom prst="rect">
            <a:avLst/>
          </a:prstGeom>
          <a:noFill/>
          <a:ln/>
        </p:spPr>
        <p:txBody>
          <a:bodyPr wrap="square" lIns="0" tIns="0" rIns="0" bIns="0" rtlCol="0" anchor="t"/>
          <a:lstStyle/>
          <a:p>
            <a:pPr indent="0" marL="0">
              <a:buNone/>
            </a:pPr>
            <a:r>
              <a:rPr lang="en-US" sz="1300" b="1" dirty="0">
                <a:solidFill>
                  <a:srgbClr val="023465"/>
                </a:solidFill>
              </a:rPr>
              <a:t>Data gaps
</a:t>
            </a:r>
            <a:pPr indent="0" marL="0">
              <a:buNone/>
            </a:pPr>
            <a:r>
              <a:rPr lang="en-US" sz="1300" dirty="0">
                <a:solidFill>
                  <a:srgbClr val="4F6886"/>
                </a:solidFill>
              </a:rPr>
              <a:t>Campaigns, leaders and scandals are not in the data.</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688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9144000" cy="320040"/>
          </a:xfrm>
          <a:prstGeom prst="rect">
            <a:avLst/>
          </a:prstGeom>
          <a:noFill/>
          <a:ln/>
        </p:spPr>
        <p:txBody>
          <a:bodyPr wrap="square" lIns="0" tIns="0" rIns="0" bIns="0" rtlCol="0" anchor="t"/>
          <a:lstStyle/>
          <a:p>
            <a:pPr indent="0" marL="0">
              <a:buNone/>
            </a:pPr>
            <a:r>
              <a:rPr lang="en-US" sz="1200" b="1" spc="200" kern="0" dirty="0">
                <a:solidFill>
                  <a:srgbClr val="D20C0C"/>
                </a:solidFill>
              </a:rPr>
              <a:t>CONCLUSION</a:t>
            </a:r>
            <a:endParaRPr lang="en-US" sz="1200" dirty="0"/>
          </a:p>
        </p:txBody>
      </p:sp>
      <p:sp>
        <p:nvSpPr>
          <p:cNvPr id="3" name="Text 0"/>
          <p:cNvSpPr/>
          <p:nvPr>
            <p:ph idx="101"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400" b="1" dirty="0">
                <a:solidFill>
                  <a:srgbClr val="023465"/>
                </a:solidFill>
                <a:latin typeface="Arial" pitchFamily="34" charset="0"/>
                <a:ea typeface="Arial" pitchFamily="34" charset="-122"/>
                <a:cs typeface="Arial" pitchFamily="34" charset="-120"/>
              </a:rPr>
              <a:t>What I conclude about my models</a:t>
            </a:r>
            <a:endParaRPr lang="en-US" sz="3400" dirty="0"/>
          </a:p>
        </p:txBody>
      </p:sp>
      <p:sp>
        <p:nvSpPr>
          <p:cNvPr id="4" name="Party model · Gradient Boosting"/>
          <p:cNvSpPr/>
          <p:nvPr/>
        </p:nvSpPr>
        <p:spPr>
          <a:xfrm>
            <a:off x="548640" y="1600200"/>
            <a:ext cx="5477256" cy="3611880"/>
          </a:xfrm>
          <a:prstGeom prst="roundRect">
            <a:avLst>
              <a:gd name="adj" fmla="val 2025"/>
            </a:avLst>
          </a:prstGeom>
          <a:solidFill>
            <a:srgbClr val="F1F4F8"/>
          </a:solidFill>
          <a:ln w="12700">
            <a:solidFill>
              <a:srgbClr val="F1F4F8"/>
            </a:solidFill>
            <a:prstDash val="solid"/>
          </a:ln>
        </p:spPr>
      </p:sp>
      <p:sp>
        <p:nvSpPr>
          <p:cNvPr id="5" name="Shape 3"/>
          <p:cNvSpPr/>
          <p:nvPr/>
        </p:nvSpPr>
        <p:spPr>
          <a:xfrm>
            <a:off x="640080" y="1600200"/>
            <a:ext cx="5294376" cy="64008"/>
          </a:xfrm>
          <a:prstGeom prst="rect">
            <a:avLst/>
          </a:prstGeom>
          <a:solidFill>
            <a:srgbClr val="D20C0C"/>
          </a:solidFill>
          <a:ln w="12700">
            <a:solidFill>
              <a:srgbClr val="D20C0C"/>
            </a:solidFill>
            <a:prstDash val="solid"/>
          </a:ln>
        </p:spPr>
      </p:sp>
      <p:sp>
        <p:nvSpPr>
          <p:cNvPr id="6" name="Text 4"/>
          <p:cNvSpPr txBox="1"/>
          <p:nvPr/>
        </p:nvSpPr>
        <p:spPr>
          <a:xfrm>
            <a:off x="822960" y="1810512"/>
            <a:ext cx="4937760" cy="274320"/>
          </a:xfrm>
          <a:prstGeom prst="rect">
            <a:avLst/>
          </a:prstGeom>
          <a:noFill/>
          <a:ln/>
        </p:spPr>
        <p:txBody>
          <a:bodyPr wrap="square" lIns="0" tIns="0" rIns="0" bIns="0" rtlCol="0" anchor="ctr"/>
          <a:lstStyle/>
          <a:p>
            <a:pPr indent="0" marL="0">
              <a:buNone/>
            </a:pPr>
            <a:r>
              <a:rPr lang="en-US" sz="1200" b="1" spc="150" kern="0" dirty="0">
                <a:solidFill>
                  <a:srgbClr val="D20C0C"/>
                </a:solidFill>
              </a:rPr>
              <a:t>PARTY MODEL · GRADIENT BOOSTING</a:t>
            </a:r>
            <a:endParaRPr lang="en-US" sz="1200" dirty="0"/>
          </a:p>
        </p:txBody>
      </p:sp>
      <p:sp>
        <p:nvSpPr>
          <p:cNvPr id="7" name="Text 5"/>
          <p:cNvSpPr txBox="1"/>
          <p:nvPr/>
        </p:nvSpPr>
        <p:spPr>
          <a:xfrm>
            <a:off x="822960" y="2240280"/>
            <a:ext cx="1325880" cy="640080"/>
          </a:xfrm>
          <a:prstGeom prst="rect">
            <a:avLst/>
          </a:prstGeom>
          <a:noFill/>
          <a:ln/>
        </p:spPr>
        <p:txBody>
          <a:bodyPr wrap="square" lIns="0" tIns="0" rIns="0" bIns="0" rtlCol="0" anchor="t"/>
          <a:lstStyle/>
          <a:p>
            <a:pPr indent="0" marL="0">
              <a:buNone/>
            </a:pPr>
            <a:r>
              <a:rPr lang="en-US" sz="1500" b="1" dirty="0">
                <a:solidFill>
                  <a:srgbClr val="023465"/>
                </a:solidFill>
              </a:rPr>
              <a:t>Best overall</a:t>
            </a:r>
            <a:endParaRPr lang="en-US" sz="1500" dirty="0"/>
          </a:p>
        </p:txBody>
      </p:sp>
      <p:sp>
        <p:nvSpPr>
          <p:cNvPr id="8" name="Text 6"/>
          <p:cNvSpPr txBox="1"/>
          <p:nvPr/>
        </p:nvSpPr>
        <p:spPr>
          <a:xfrm>
            <a:off x="2194560" y="2240280"/>
            <a:ext cx="3611880" cy="640080"/>
          </a:xfrm>
          <a:prstGeom prst="rect">
            <a:avLst/>
          </a:prstGeom>
          <a:noFill/>
          <a:ln/>
        </p:spPr>
        <p:txBody>
          <a:bodyPr wrap="square" lIns="0" tIns="0" rIns="0" bIns="0" rtlCol="0" anchor="t"/>
          <a:lstStyle/>
          <a:p>
            <a:pPr indent="0" marL="0">
              <a:buNone/>
            </a:pPr>
            <a:r>
              <a:rPr lang="en-US" sz="1500" b="1" dirty="0">
                <a:solidFill>
                  <a:srgbClr val="023465"/>
                </a:solidFill>
              </a:rPr>
              <a:t>3.15</a:t>
            </a:r>
            <a:pPr indent="0" marL="0">
              <a:buNone/>
            </a:pPr>
            <a:r>
              <a:rPr lang="en-US" sz="1500" dirty="0">
                <a:solidFill>
                  <a:srgbClr val="4F6886"/>
                </a:solidFill>
              </a:rPr>
              <a:t> points of error vs 3.59: </a:t>
            </a:r>
            <a:pPr indent="0" marL="0">
              <a:buNone/>
            </a:pPr>
            <a:r>
              <a:rPr lang="en-US" sz="1500" b="1" dirty="0">
                <a:solidFill>
                  <a:srgbClr val="023465"/>
                </a:solidFill>
              </a:rPr>
              <a:t>12% better</a:t>
            </a:r>
            <a:endParaRPr lang="en-US" sz="1500" dirty="0"/>
          </a:p>
        </p:txBody>
      </p:sp>
      <p:sp>
        <p:nvSpPr>
          <p:cNvPr id="9" name="Text 7"/>
          <p:cNvSpPr txBox="1"/>
          <p:nvPr/>
        </p:nvSpPr>
        <p:spPr>
          <a:xfrm>
            <a:off x="822960" y="2971800"/>
            <a:ext cx="1325880" cy="640080"/>
          </a:xfrm>
          <a:prstGeom prst="rect">
            <a:avLst/>
          </a:prstGeom>
          <a:noFill/>
          <a:ln/>
        </p:spPr>
        <p:txBody>
          <a:bodyPr wrap="square" lIns="0" tIns="0" rIns="0" bIns="0" rtlCol="0" anchor="t"/>
          <a:lstStyle/>
          <a:p>
            <a:pPr indent="0" marL="0">
              <a:buNone/>
            </a:pPr>
            <a:r>
              <a:rPr lang="en-US" sz="1500" b="1" dirty="0">
                <a:solidFill>
                  <a:srgbClr val="023465"/>
                </a:solidFill>
              </a:rPr>
              <a:t>Strong on</a:t>
            </a:r>
            <a:endParaRPr lang="en-US" sz="1500" dirty="0"/>
          </a:p>
        </p:txBody>
      </p:sp>
      <p:sp>
        <p:nvSpPr>
          <p:cNvPr id="10" name="Text 8"/>
          <p:cNvSpPr txBox="1"/>
          <p:nvPr/>
        </p:nvSpPr>
        <p:spPr>
          <a:xfrm>
            <a:off x="2194560" y="2971800"/>
            <a:ext cx="3611880" cy="640080"/>
          </a:xfrm>
          <a:prstGeom prst="rect">
            <a:avLst/>
          </a:prstGeom>
          <a:noFill/>
          <a:ln/>
        </p:spPr>
        <p:txBody>
          <a:bodyPr wrap="square" lIns="0" tIns="0" rIns="0" bIns="0" rtlCol="0" anchor="t"/>
          <a:lstStyle/>
          <a:p>
            <a:pPr indent="0" marL="0">
              <a:buNone/>
            </a:pPr>
            <a:r>
              <a:rPr lang="en-US" sz="1500" dirty="0">
                <a:solidFill>
                  <a:srgbClr val="4F6886"/>
                </a:solidFill>
              </a:rPr>
              <a:t>small and new parties</a:t>
            </a:r>
            <a:endParaRPr lang="en-US" sz="1500" dirty="0"/>
          </a:p>
        </p:txBody>
      </p:sp>
      <p:sp>
        <p:nvSpPr>
          <p:cNvPr id="11" name="Text 9"/>
          <p:cNvSpPr txBox="1"/>
          <p:nvPr/>
        </p:nvSpPr>
        <p:spPr>
          <a:xfrm>
            <a:off x="822960" y="3703320"/>
            <a:ext cx="1325880" cy="640080"/>
          </a:xfrm>
          <a:prstGeom prst="rect">
            <a:avLst/>
          </a:prstGeom>
          <a:noFill/>
          <a:ln/>
        </p:spPr>
        <p:txBody>
          <a:bodyPr wrap="square" lIns="0" tIns="0" rIns="0" bIns="0" rtlCol="0" anchor="t"/>
          <a:lstStyle/>
          <a:p>
            <a:pPr indent="0" marL="0">
              <a:buNone/>
            </a:pPr>
            <a:r>
              <a:rPr lang="en-US" sz="1500" b="1" dirty="0">
                <a:solidFill>
                  <a:srgbClr val="023465"/>
                </a:solidFill>
              </a:rPr>
              <a:t>Weak on</a:t>
            </a:r>
            <a:endParaRPr lang="en-US" sz="1500" dirty="0"/>
          </a:p>
        </p:txBody>
      </p:sp>
      <p:sp>
        <p:nvSpPr>
          <p:cNvPr id="12" name="Text 10"/>
          <p:cNvSpPr txBox="1"/>
          <p:nvPr/>
        </p:nvSpPr>
        <p:spPr>
          <a:xfrm>
            <a:off x="2194560" y="3703320"/>
            <a:ext cx="3611880" cy="640080"/>
          </a:xfrm>
          <a:prstGeom prst="rect">
            <a:avLst/>
          </a:prstGeom>
          <a:noFill/>
          <a:ln/>
        </p:spPr>
        <p:txBody>
          <a:bodyPr wrap="square" lIns="0" tIns="0" rIns="0" bIns="0" rtlCol="0" anchor="t"/>
          <a:lstStyle/>
          <a:p>
            <a:pPr indent="0" marL="0">
              <a:buNone/>
            </a:pPr>
            <a:r>
              <a:rPr lang="en-US" sz="1500" dirty="0">
                <a:solidFill>
                  <a:srgbClr val="4F6886"/>
                </a:solidFill>
              </a:rPr>
              <a:t>alliances and big swings; doesn't pick winners better (64% vs 65%)</a:t>
            </a:r>
            <a:endParaRPr lang="en-US" sz="1500" dirty="0"/>
          </a:p>
        </p:txBody>
      </p:sp>
      <p:sp>
        <p:nvSpPr>
          <p:cNvPr id="13" name="Text 11"/>
          <p:cNvSpPr txBox="1"/>
          <p:nvPr/>
        </p:nvSpPr>
        <p:spPr>
          <a:xfrm>
            <a:off x="822960" y="4434840"/>
            <a:ext cx="1325880" cy="640080"/>
          </a:xfrm>
          <a:prstGeom prst="rect">
            <a:avLst/>
          </a:prstGeom>
          <a:noFill/>
          <a:ln/>
        </p:spPr>
        <p:txBody>
          <a:bodyPr wrap="square" lIns="0" tIns="0" rIns="0" bIns="0" rtlCol="0" anchor="t"/>
          <a:lstStyle/>
          <a:p>
            <a:pPr indent="0" marL="0">
              <a:buNone/>
            </a:pPr>
            <a:r>
              <a:rPr lang="en-US" sz="1500" b="1" dirty="0">
                <a:solidFill>
                  <a:srgbClr val="023465"/>
                </a:solidFill>
              </a:rPr>
              <a:t>Use it for</a:t>
            </a:r>
            <a:endParaRPr lang="en-US" sz="1500" dirty="0"/>
          </a:p>
        </p:txBody>
      </p:sp>
      <p:sp>
        <p:nvSpPr>
          <p:cNvPr id="14" name="Text 12"/>
          <p:cNvSpPr txBox="1"/>
          <p:nvPr/>
        </p:nvSpPr>
        <p:spPr>
          <a:xfrm>
            <a:off x="2194560" y="4434840"/>
            <a:ext cx="3611880" cy="640080"/>
          </a:xfrm>
          <a:prstGeom prst="rect">
            <a:avLst/>
          </a:prstGeom>
          <a:noFill/>
          <a:ln/>
        </p:spPr>
        <p:txBody>
          <a:bodyPr wrap="square" lIns="0" tIns="0" rIns="0" bIns="0" rtlCol="0" anchor="t"/>
          <a:lstStyle/>
          <a:p>
            <a:pPr indent="0" marL="0">
              <a:buNone/>
            </a:pPr>
            <a:r>
              <a:rPr lang="en-US" sz="1500" dirty="0">
                <a:solidFill>
                  <a:srgbClr val="4F6886"/>
                </a:solidFill>
              </a:rPr>
              <a:t>each party's score</a:t>
            </a:r>
            <a:endParaRPr lang="en-US" sz="1500" dirty="0"/>
          </a:p>
        </p:txBody>
      </p:sp>
      <p:sp>
        <p:nvSpPr>
          <p:cNvPr id="15" name="Bloc model · political camps"/>
          <p:cNvSpPr/>
          <p:nvPr/>
        </p:nvSpPr>
        <p:spPr>
          <a:xfrm>
            <a:off x="6163056" y="1600200"/>
            <a:ext cx="5477256" cy="3611880"/>
          </a:xfrm>
          <a:prstGeom prst="roundRect">
            <a:avLst>
              <a:gd name="adj" fmla="val 2025"/>
            </a:avLst>
          </a:prstGeom>
          <a:solidFill>
            <a:srgbClr val="F1F4F8"/>
          </a:solidFill>
          <a:ln w="12700">
            <a:solidFill>
              <a:srgbClr val="F1F4F8"/>
            </a:solidFill>
            <a:prstDash val="solid"/>
          </a:ln>
        </p:spPr>
      </p:sp>
      <p:sp>
        <p:nvSpPr>
          <p:cNvPr id="16" name="Shape 14"/>
          <p:cNvSpPr/>
          <p:nvPr/>
        </p:nvSpPr>
        <p:spPr>
          <a:xfrm>
            <a:off x="6254496" y="1600200"/>
            <a:ext cx="5294376" cy="64008"/>
          </a:xfrm>
          <a:prstGeom prst="rect">
            <a:avLst/>
          </a:prstGeom>
          <a:solidFill>
            <a:srgbClr val="418BCA"/>
          </a:solidFill>
          <a:ln w="12700">
            <a:solidFill>
              <a:srgbClr val="418BCA"/>
            </a:solidFill>
            <a:prstDash val="solid"/>
          </a:ln>
        </p:spPr>
      </p:sp>
      <p:sp>
        <p:nvSpPr>
          <p:cNvPr id="17" name="Text 15"/>
          <p:cNvSpPr txBox="1"/>
          <p:nvPr/>
        </p:nvSpPr>
        <p:spPr>
          <a:xfrm>
            <a:off x="6437376" y="1810512"/>
            <a:ext cx="4937760" cy="274320"/>
          </a:xfrm>
          <a:prstGeom prst="rect">
            <a:avLst/>
          </a:prstGeom>
          <a:noFill/>
          <a:ln/>
        </p:spPr>
        <p:txBody>
          <a:bodyPr wrap="square" lIns="0" tIns="0" rIns="0" bIns="0" rtlCol="0" anchor="ctr"/>
          <a:lstStyle/>
          <a:p>
            <a:pPr indent="0" marL="0">
              <a:buNone/>
            </a:pPr>
            <a:r>
              <a:rPr lang="en-US" sz="1200" b="1" spc="150" kern="0" dirty="0">
                <a:solidFill>
                  <a:srgbClr val="418BCA"/>
                </a:solidFill>
              </a:rPr>
              <a:t>BLOC MODEL · POLITICAL CAMPS</a:t>
            </a:r>
            <a:endParaRPr lang="en-US" sz="1200" dirty="0"/>
          </a:p>
        </p:txBody>
      </p:sp>
      <p:sp>
        <p:nvSpPr>
          <p:cNvPr id="18" name="Text 16"/>
          <p:cNvSpPr txBox="1"/>
          <p:nvPr/>
        </p:nvSpPr>
        <p:spPr>
          <a:xfrm>
            <a:off x="6437376" y="2240280"/>
            <a:ext cx="1325880" cy="640080"/>
          </a:xfrm>
          <a:prstGeom prst="rect">
            <a:avLst/>
          </a:prstGeom>
          <a:noFill/>
          <a:ln/>
        </p:spPr>
        <p:txBody>
          <a:bodyPr wrap="square" lIns="0" tIns="0" rIns="0" bIns="0" rtlCol="0" anchor="t"/>
          <a:lstStyle/>
          <a:p>
            <a:pPr indent="0" marL="0">
              <a:buNone/>
            </a:pPr>
            <a:r>
              <a:rPr lang="en-US" sz="1500" b="1" dirty="0">
                <a:solidFill>
                  <a:srgbClr val="023465"/>
                </a:solidFill>
              </a:rPr>
              <a:t>Fixes</a:t>
            </a:r>
            <a:endParaRPr lang="en-US" sz="1500" dirty="0"/>
          </a:p>
        </p:txBody>
      </p:sp>
      <p:sp>
        <p:nvSpPr>
          <p:cNvPr id="19" name="Text 17"/>
          <p:cNvSpPr txBox="1"/>
          <p:nvPr/>
        </p:nvSpPr>
        <p:spPr>
          <a:xfrm>
            <a:off x="7808976" y="2240280"/>
            <a:ext cx="3611880" cy="640080"/>
          </a:xfrm>
          <a:prstGeom prst="rect">
            <a:avLst/>
          </a:prstGeom>
          <a:noFill/>
          <a:ln/>
        </p:spPr>
        <p:txBody>
          <a:bodyPr wrap="square" lIns="0" tIns="0" rIns="0" bIns="0" rtlCol="0" anchor="t"/>
          <a:lstStyle/>
          <a:p>
            <a:pPr indent="0" marL="0">
              <a:buNone/>
            </a:pPr>
            <a:r>
              <a:rPr lang="en-US" sz="1500" dirty="0">
                <a:solidFill>
                  <a:srgbClr val="4F6886"/>
                </a:solidFill>
              </a:rPr>
              <a:t>alliances: France 2022 left </a:t>
            </a:r>
            <a:pPr indent="0" marL="0">
              <a:buNone/>
            </a:pPr>
            <a:r>
              <a:rPr lang="en-US" sz="1500" b="1" dirty="0">
                <a:solidFill>
                  <a:srgbClr val="023465"/>
                </a:solidFill>
              </a:rPr>
              <a:t>25.2%</a:t>
            </a:r>
            <a:pPr indent="0" marL="0">
              <a:buNone/>
            </a:pPr>
            <a:r>
              <a:rPr lang="en-US" sz="1500" dirty="0">
                <a:solidFill>
                  <a:srgbClr val="4F6886"/>
                </a:solidFill>
              </a:rPr>
              <a:t> (real 28.3%) vs 13.6%</a:t>
            </a:r>
            <a:endParaRPr lang="en-US" sz="1500" dirty="0"/>
          </a:p>
        </p:txBody>
      </p:sp>
      <p:sp>
        <p:nvSpPr>
          <p:cNvPr id="20" name="Text 18"/>
          <p:cNvSpPr txBox="1"/>
          <p:nvPr/>
        </p:nvSpPr>
        <p:spPr>
          <a:xfrm>
            <a:off x="6437376" y="2971800"/>
            <a:ext cx="1325880" cy="640080"/>
          </a:xfrm>
          <a:prstGeom prst="rect">
            <a:avLst/>
          </a:prstGeom>
          <a:noFill/>
          <a:ln/>
        </p:spPr>
        <p:txBody>
          <a:bodyPr wrap="square" lIns="0" tIns="0" rIns="0" bIns="0" rtlCol="0" anchor="t"/>
          <a:lstStyle/>
          <a:p>
            <a:pPr indent="0" marL="0">
              <a:buNone/>
            </a:pPr>
            <a:r>
              <a:rPr lang="en-US" sz="1500" b="1" dirty="0">
                <a:solidFill>
                  <a:srgbClr val="023465"/>
                </a:solidFill>
              </a:rPr>
              <a:t>Big camps</a:t>
            </a:r>
            <a:endParaRPr lang="en-US" sz="1500" dirty="0"/>
          </a:p>
        </p:txBody>
      </p:sp>
      <p:sp>
        <p:nvSpPr>
          <p:cNvPr id="21" name="Text 19"/>
          <p:cNvSpPr txBox="1"/>
          <p:nvPr/>
        </p:nvSpPr>
        <p:spPr>
          <a:xfrm>
            <a:off x="7808976" y="2971800"/>
            <a:ext cx="3611880" cy="640080"/>
          </a:xfrm>
          <a:prstGeom prst="rect">
            <a:avLst/>
          </a:prstGeom>
          <a:noFill/>
          <a:ln/>
        </p:spPr>
        <p:txBody>
          <a:bodyPr wrap="square" lIns="0" tIns="0" rIns="0" bIns="0" rtlCol="0" anchor="t"/>
          <a:lstStyle/>
          <a:p>
            <a:pPr indent="0" marL="0">
              <a:buNone/>
            </a:pPr>
            <a:r>
              <a:rPr lang="en-US" sz="1500" dirty="0">
                <a:solidFill>
                  <a:srgbClr val="4F6886"/>
                </a:solidFill>
              </a:rPr>
              <a:t>tied with "same as last time" (5.32 vs 5.20)</a:t>
            </a:r>
            <a:endParaRPr lang="en-US" sz="1500" dirty="0"/>
          </a:p>
        </p:txBody>
      </p:sp>
      <p:sp>
        <p:nvSpPr>
          <p:cNvPr id="22" name="Text 20"/>
          <p:cNvSpPr txBox="1"/>
          <p:nvPr/>
        </p:nvSpPr>
        <p:spPr>
          <a:xfrm>
            <a:off x="6437376" y="3703320"/>
            <a:ext cx="1325880" cy="640080"/>
          </a:xfrm>
          <a:prstGeom prst="rect">
            <a:avLst/>
          </a:prstGeom>
          <a:noFill/>
          <a:ln/>
        </p:spPr>
        <p:txBody>
          <a:bodyPr wrap="square" lIns="0" tIns="0" rIns="0" bIns="0" rtlCol="0" anchor="t"/>
          <a:lstStyle/>
          <a:p>
            <a:pPr indent="0" marL="0">
              <a:buNone/>
            </a:pPr>
            <a:r>
              <a:rPr lang="en-US" sz="1500" b="1" dirty="0">
                <a:solidFill>
                  <a:srgbClr val="023465"/>
                </a:solidFill>
              </a:rPr>
              <a:t>Weak on</a:t>
            </a:r>
            <a:endParaRPr lang="en-US" sz="1500" dirty="0"/>
          </a:p>
        </p:txBody>
      </p:sp>
      <p:sp>
        <p:nvSpPr>
          <p:cNvPr id="23" name="Text 21"/>
          <p:cNvSpPr txBox="1"/>
          <p:nvPr/>
        </p:nvSpPr>
        <p:spPr>
          <a:xfrm>
            <a:off x="7808976" y="3703320"/>
            <a:ext cx="3611880" cy="640080"/>
          </a:xfrm>
          <a:prstGeom prst="rect">
            <a:avLst/>
          </a:prstGeom>
          <a:noFill/>
          <a:ln/>
        </p:spPr>
        <p:txBody>
          <a:bodyPr wrap="square" lIns="0" tIns="0" rIns="0" bIns="0" rtlCol="0" anchor="t"/>
          <a:lstStyle/>
          <a:p>
            <a:pPr indent="0" marL="0">
              <a:buNone/>
            </a:pPr>
            <a:r>
              <a:rPr lang="en-US" sz="1500" dirty="0">
                <a:solidFill>
                  <a:srgbClr val="4F6886"/>
                </a:solidFill>
              </a:rPr>
              <a:t>big swings, like any model built on past results</a:t>
            </a:r>
            <a:endParaRPr lang="en-US" sz="1500" dirty="0"/>
          </a:p>
        </p:txBody>
      </p:sp>
      <p:sp>
        <p:nvSpPr>
          <p:cNvPr id="24" name="Text 22"/>
          <p:cNvSpPr txBox="1"/>
          <p:nvPr/>
        </p:nvSpPr>
        <p:spPr>
          <a:xfrm>
            <a:off x="6437376" y="4434840"/>
            <a:ext cx="1325880" cy="640080"/>
          </a:xfrm>
          <a:prstGeom prst="rect">
            <a:avLst/>
          </a:prstGeom>
          <a:noFill/>
          <a:ln/>
        </p:spPr>
        <p:txBody>
          <a:bodyPr wrap="square" lIns="0" tIns="0" rIns="0" bIns="0" rtlCol="0" anchor="t"/>
          <a:lstStyle/>
          <a:p>
            <a:pPr indent="0" marL="0">
              <a:buNone/>
            </a:pPr>
            <a:r>
              <a:rPr lang="en-US" sz="1500" b="1" dirty="0">
                <a:solidFill>
                  <a:srgbClr val="023465"/>
                </a:solidFill>
              </a:rPr>
              <a:t>Use it for</a:t>
            </a:r>
            <a:endParaRPr lang="en-US" sz="1500" dirty="0"/>
          </a:p>
        </p:txBody>
      </p:sp>
      <p:sp>
        <p:nvSpPr>
          <p:cNvPr id="25" name="Text 23"/>
          <p:cNvSpPr txBox="1"/>
          <p:nvPr/>
        </p:nvSpPr>
        <p:spPr>
          <a:xfrm>
            <a:off x="7808976" y="4434840"/>
            <a:ext cx="3611880" cy="640080"/>
          </a:xfrm>
          <a:prstGeom prst="rect">
            <a:avLst/>
          </a:prstGeom>
          <a:noFill/>
          <a:ln/>
        </p:spPr>
        <p:txBody>
          <a:bodyPr wrap="square" lIns="0" tIns="0" rIns="0" bIns="0" rtlCol="0" anchor="t"/>
          <a:lstStyle/>
          <a:p>
            <a:pPr indent="0" marL="0">
              <a:buNone/>
            </a:pPr>
            <a:r>
              <a:rPr lang="en-US" sz="1500" dirty="0">
                <a:solidFill>
                  <a:srgbClr val="4F6886"/>
                </a:solidFill>
              </a:rPr>
              <a:t>France 2027, together with the polls</a:t>
            </a:r>
            <a:endParaRPr lang="en-US" sz="1500" dirty="0"/>
          </a:p>
        </p:txBody>
      </p:sp>
      <p:sp>
        <p:nvSpPr>
          <p:cNvPr id="26" name="Shape 24"/>
          <p:cNvSpPr/>
          <p:nvPr/>
        </p:nvSpPr>
        <p:spPr>
          <a:xfrm>
            <a:off x="548640" y="5440680"/>
            <a:ext cx="11091672" cy="914400"/>
          </a:xfrm>
          <a:prstGeom prst="roundRect">
            <a:avLst>
              <a:gd name="adj" fmla="val 10000"/>
            </a:avLst>
          </a:prstGeom>
          <a:solidFill>
            <a:srgbClr val="023465"/>
          </a:solidFill>
          <a:ln w="12700">
            <a:solidFill>
              <a:srgbClr val="023465"/>
            </a:solidFill>
            <a:prstDash val="solid"/>
          </a:ln>
        </p:spPr>
      </p:sp>
      <p:sp>
        <p:nvSpPr>
          <p:cNvPr id="27" name="Text 25"/>
          <p:cNvSpPr txBox="1"/>
          <p:nvPr/>
        </p:nvSpPr>
        <p:spPr>
          <a:xfrm>
            <a:off x="868680" y="5440680"/>
            <a:ext cx="10515600" cy="914400"/>
          </a:xfrm>
          <a:prstGeom prst="rect">
            <a:avLst/>
          </a:prstGeom>
          <a:noFill/>
          <a:ln/>
        </p:spPr>
        <p:txBody>
          <a:bodyPr wrap="square" lIns="0" tIns="0" rIns="0" bIns="0" rtlCol="0" anchor="ctr"/>
          <a:lstStyle/>
          <a:p>
            <a:pPr indent="0" marL="0">
              <a:buNone/>
            </a:pPr>
            <a:r>
              <a:rPr lang="en-US" sz="1900" dirty="0">
                <a:solidFill>
                  <a:srgbClr val="FFFFFF"/>
                </a:solidFill>
              </a:rPr>
              <a:t>Past results beat guessing for </a:t>
            </a:r>
            <a:pPr indent="0" marL="0">
              <a:buNone/>
            </a:pPr>
            <a:r>
              <a:rPr lang="en-US" sz="1900" b="1" dirty="0">
                <a:solidFill>
                  <a:srgbClr val="A9CBEA"/>
                </a:solidFill>
              </a:rPr>
              <a:t>small and new parties</a:t>
            </a:r>
            <a:pPr indent="0" marL="0">
              <a:buNone/>
            </a:pPr>
            <a:r>
              <a:rPr lang="en-US" sz="1900" dirty="0">
                <a:solidFill>
                  <a:srgbClr val="FFFFFF"/>
                </a:solidFill>
              </a:rPr>
              <a:t>. For big political shifts, </a:t>
            </a:r>
            <a:pPr indent="0" marL="0">
              <a:buNone/>
            </a:pPr>
            <a:r>
              <a:rPr lang="en-US" sz="1900" b="1" dirty="0">
                <a:solidFill>
                  <a:srgbClr val="A9CBEA"/>
                </a:solidFill>
              </a:rPr>
              <a:t>combine the model with polls</a:t>
            </a:r>
            <a:pPr indent="0" marL="0">
              <a:buNone/>
            </a:pPr>
            <a:r>
              <a:rPr lang="en-US" sz="1900" dirty="0">
                <a:solidFill>
                  <a:srgbClr val="FFFFFF"/>
                </a:solidFill>
              </a:rPr>
              <a:t>.</a:t>
            </a:r>
            <a:endParaRPr lang="en-US" sz="19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688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548640"/>
            <a:ext cx="7315200" cy="320040"/>
          </a:xfrm>
          <a:prstGeom prst="rect">
            <a:avLst/>
          </a:prstGeom>
          <a:noFill/>
          <a:ln/>
        </p:spPr>
        <p:txBody>
          <a:bodyPr wrap="square" lIns="0" tIns="0" rIns="0" bIns="0" rtlCol="0" anchor="ctr"/>
          <a:lstStyle/>
          <a:p>
            <a:pPr indent="0" marL="0">
              <a:buNone/>
            </a:pPr>
            <a:r>
              <a:rPr lang="en-US" sz="1300" b="1" spc="200" kern="0" dirty="0">
                <a:solidFill>
                  <a:srgbClr val="A9CBEA"/>
                </a:solidFill>
              </a:rPr>
              <a:t>PREDICTING VOTE SHARES FROM PREVIOUS ELECTION RESULTS</a:t>
            </a:r>
            <a:endParaRPr lang="en-US" sz="1300" dirty="0"/>
          </a:p>
        </p:txBody>
      </p:sp>
      <p:sp>
        <p:nvSpPr>
          <p:cNvPr id="3" name="Text 1"/>
          <p:cNvSpPr txBox="1"/>
          <p:nvPr/>
        </p:nvSpPr>
        <p:spPr>
          <a:xfrm>
            <a:off x="548640" y="1371600"/>
            <a:ext cx="6583680" cy="2377440"/>
          </a:xfrm>
          <a:prstGeom prst="rect">
            <a:avLst/>
          </a:prstGeom>
          <a:noFill/>
          <a:ln/>
        </p:spPr>
        <p:txBody>
          <a:bodyPr wrap="square" lIns="0" tIns="0" rIns="0" bIns="0" rtlCol="0" anchor="t"/>
          <a:lstStyle/>
          <a:p>
            <a:pPr indent="0" marL="0">
              <a:buNone/>
            </a:pPr>
            <a:r>
              <a:rPr lang="en-US" sz="6000" b="1" dirty="0">
                <a:solidFill>
                  <a:srgbClr val="FFFFFF"/>
                </a:solidFill>
                <a:latin typeface="Arial" pitchFamily="34" charset="0"/>
                <a:ea typeface="Arial" pitchFamily="34" charset="-122"/>
                <a:cs typeface="Arial" pitchFamily="34" charset="-120"/>
              </a:rPr>
              <a:t>Thank you!</a:t>
            </a:r>
            <a:endParaRPr lang="en-US" sz="6000" dirty="0"/>
          </a:p>
          <a:p>
            <a:pPr indent="0" marL="0">
              <a:buNone/>
            </a:pPr>
            <a:r>
              <a:rPr lang="en-US" sz="6000" b="1" dirty="0">
                <a:solidFill>
                  <a:srgbClr val="FFFFFF"/>
                </a:solidFill>
                <a:latin typeface="Arial" pitchFamily="34" charset="0"/>
                <a:ea typeface="Arial" pitchFamily="34" charset="-122"/>
                <a:cs typeface="Arial" pitchFamily="34" charset="-120"/>
              </a:rPr>
              <a:t>Questions?</a:t>
            </a:r>
            <a:endParaRPr lang="en-US" sz="6000" dirty="0"/>
          </a:p>
        </p:txBody>
      </p:sp>
      <p:sp>
        <p:nvSpPr>
          <p:cNvPr id="4" name="Text 2"/>
          <p:cNvSpPr txBox="1"/>
          <p:nvPr/>
        </p:nvSpPr>
        <p:spPr>
          <a:xfrm>
            <a:off x="548640" y="3931920"/>
            <a:ext cx="6400800" cy="914400"/>
          </a:xfrm>
          <a:prstGeom prst="rect">
            <a:avLst/>
          </a:prstGeom>
          <a:noFill/>
          <a:ln/>
        </p:spPr>
        <p:txBody>
          <a:bodyPr wrap="square" lIns="0" tIns="0" rIns="0" bIns="0" rtlCol="0" anchor="t"/>
          <a:lstStyle/>
          <a:p>
            <a:pPr indent="0" marL="0">
              <a:buNone/>
            </a:pPr>
            <a:r>
              <a:rPr lang="en-US" sz="2000" dirty="0">
                <a:solidFill>
                  <a:srgbClr val="C9D8E8"/>
                </a:solidFill>
              </a:rPr>
              <a:t>Past results beat guessing for small and new parties. For the big shifts, you still need polls.</a:t>
            </a:r>
            <a:endParaRPr lang="en-US" sz="2000" dirty="0"/>
          </a:p>
        </p:txBody>
      </p:sp>
      <p:sp>
        <p:nvSpPr>
          <p:cNvPr id="5" name="Text 3"/>
          <p:cNvSpPr txBox="1"/>
          <p:nvPr/>
        </p:nvSpPr>
        <p:spPr>
          <a:xfrm>
            <a:off x="548640" y="5394960"/>
            <a:ext cx="6400800" cy="411480"/>
          </a:xfrm>
          <a:prstGeom prst="rect">
            <a:avLst/>
          </a:prstGeom>
          <a:noFill/>
          <a:ln/>
        </p:spPr>
        <p:txBody>
          <a:bodyPr wrap="square" lIns="0" tIns="0" rIns="0" bIns="0" rtlCol="0" anchor="ctr"/>
          <a:lstStyle/>
          <a:p>
            <a:pPr indent="0" marL="0">
              <a:buNone/>
            </a:pPr>
            <a:r>
              <a:rPr lang="en-US" sz="2000" b="1" dirty="0">
                <a:solidFill>
                  <a:srgbClr val="FFFFFF"/>
                </a:solidFill>
              </a:rPr>
              <a:t>Your name</a:t>
            </a:r>
            <a:endParaRPr lang="en-US" sz="2000" dirty="0"/>
          </a:p>
        </p:txBody>
      </p:sp>
      <p:sp>
        <p:nvSpPr>
          <p:cNvPr id="6" name="Shape 4"/>
          <p:cNvSpPr/>
          <p:nvPr/>
        </p:nvSpPr>
        <p:spPr>
          <a:xfrm>
            <a:off x="7863840" y="822960"/>
            <a:ext cx="3776472" cy="1600200"/>
          </a:xfrm>
          <a:prstGeom prst="roundRect">
            <a:avLst>
              <a:gd name="adj" fmla="val 4571"/>
            </a:avLst>
          </a:prstGeom>
          <a:solidFill>
            <a:srgbClr val="0E447A"/>
          </a:solidFill>
          <a:ln w="12700">
            <a:solidFill>
              <a:srgbClr val="2A5583"/>
            </a:solidFill>
            <a:prstDash val="solid"/>
          </a:ln>
        </p:spPr>
      </p:sp>
      <p:sp>
        <p:nvSpPr>
          <p:cNvPr id="7" name="Text 5"/>
          <p:cNvSpPr txBox="1"/>
          <p:nvPr/>
        </p:nvSpPr>
        <p:spPr>
          <a:xfrm>
            <a:off x="8138160" y="1005840"/>
            <a:ext cx="3291840" cy="777240"/>
          </a:xfrm>
          <a:prstGeom prst="rect">
            <a:avLst/>
          </a:prstGeom>
          <a:noFill/>
          <a:ln/>
        </p:spPr>
        <p:txBody>
          <a:bodyPr wrap="square" lIns="0" tIns="0" rIns="0" bIns="0" rtlCol="0" anchor="ctr"/>
          <a:lstStyle/>
          <a:p>
            <a:pPr indent="0" marL="0">
              <a:buNone/>
            </a:pPr>
            <a:r>
              <a:rPr lang="en-US" sz="4400" b="1" dirty="0">
                <a:solidFill>
                  <a:srgbClr val="A9CBEA"/>
                </a:solidFill>
                <a:latin typeface="Arial" pitchFamily="34" charset="0"/>
                <a:ea typeface="Arial" pitchFamily="34" charset="-122"/>
                <a:cs typeface="Arial" pitchFamily="34" charset="-120"/>
              </a:rPr>
              <a:t>3.15</a:t>
            </a:r>
            <a:endParaRPr lang="en-US" sz="4400" dirty="0"/>
          </a:p>
        </p:txBody>
      </p:sp>
      <p:sp>
        <p:nvSpPr>
          <p:cNvPr id="8" name="Text 6"/>
          <p:cNvSpPr txBox="1"/>
          <p:nvPr/>
        </p:nvSpPr>
        <p:spPr>
          <a:xfrm>
            <a:off x="8138160" y="1810512"/>
            <a:ext cx="3291840" cy="411480"/>
          </a:xfrm>
          <a:prstGeom prst="rect">
            <a:avLst/>
          </a:prstGeom>
          <a:noFill/>
          <a:ln/>
        </p:spPr>
        <p:txBody>
          <a:bodyPr wrap="square" lIns="0" tIns="0" rIns="0" bIns="0" rtlCol="0" anchor="ctr"/>
          <a:lstStyle/>
          <a:p>
            <a:pPr indent="0" marL="0">
              <a:buNone/>
            </a:pPr>
            <a:r>
              <a:rPr lang="en-US" sz="1500" dirty="0">
                <a:solidFill>
                  <a:srgbClr val="C9D8E8"/>
                </a:solidFill>
              </a:rPr>
              <a:t>points of error, best model</a:t>
            </a:r>
            <a:endParaRPr lang="en-US" sz="1500" dirty="0"/>
          </a:p>
        </p:txBody>
      </p:sp>
      <p:sp>
        <p:nvSpPr>
          <p:cNvPr id="9" name="Shape 7"/>
          <p:cNvSpPr/>
          <p:nvPr/>
        </p:nvSpPr>
        <p:spPr>
          <a:xfrm>
            <a:off x="7863840" y="2606040"/>
            <a:ext cx="3776472" cy="1600200"/>
          </a:xfrm>
          <a:prstGeom prst="roundRect">
            <a:avLst>
              <a:gd name="adj" fmla="val 4571"/>
            </a:avLst>
          </a:prstGeom>
          <a:solidFill>
            <a:srgbClr val="0E447A"/>
          </a:solidFill>
          <a:ln w="12700">
            <a:solidFill>
              <a:srgbClr val="2A5583"/>
            </a:solidFill>
            <a:prstDash val="solid"/>
          </a:ln>
        </p:spPr>
      </p:sp>
      <p:sp>
        <p:nvSpPr>
          <p:cNvPr id="10" name="Text 8"/>
          <p:cNvSpPr txBox="1"/>
          <p:nvPr/>
        </p:nvSpPr>
        <p:spPr>
          <a:xfrm>
            <a:off x="8138160" y="2788920"/>
            <a:ext cx="3291840" cy="77724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12%</a:t>
            </a:r>
            <a:endParaRPr lang="en-US" sz="4400" dirty="0"/>
          </a:p>
        </p:txBody>
      </p:sp>
      <p:sp>
        <p:nvSpPr>
          <p:cNvPr id="11" name="Text 9"/>
          <p:cNvSpPr txBox="1"/>
          <p:nvPr/>
        </p:nvSpPr>
        <p:spPr>
          <a:xfrm>
            <a:off x="8138160" y="3593592"/>
            <a:ext cx="3291840" cy="411480"/>
          </a:xfrm>
          <a:prstGeom prst="rect">
            <a:avLst/>
          </a:prstGeom>
          <a:noFill/>
          <a:ln/>
        </p:spPr>
        <p:txBody>
          <a:bodyPr wrap="square" lIns="0" tIns="0" rIns="0" bIns="0" rtlCol="0" anchor="ctr"/>
          <a:lstStyle/>
          <a:p>
            <a:pPr indent="0" marL="0">
              <a:buNone/>
            </a:pPr>
            <a:r>
              <a:rPr lang="en-US" sz="1500" dirty="0">
                <a:solidFill>
                  <a:srgbClr val="C9D8E8"/>
                </a:solidFill>
              </a:rPr>
              <a:t>better than "same as last time"</a:t>
            </a:r>
            <a:endParaRPr lang="en-US" sz="1500" dirty="0"/>
          </a:p>
        </p:txBody>
      </p:sp>
      <p:sp>
        <p:nvSpPr>
          <p:cNvPr id="12" name="Shape 10"/>
          <p:cNvSpPr/>
          <p:nvPr/>
        </p:nvSpPr>
        <p:spPr>
          <a:xfrm>
            <a:off x="7863840" y="4389120"/>
            <a:ext cx="3776472" cy="1600200"/>
          </a:xfrm>
          <a:prstGeom prst="roundRect">
            <a:avLst>
              <a:gd name="adj" fmla="val 4571"/>
            </a:avLst>
          </a:prstGeom>
          <a:solidFill>
            <a:srgbClr val="0E447A"/>
          </a:solidFill>
          <a:ln w="12700">
            <a:solidFill>
              <a:srgbClr val="2A5583"/>
            </a:solidFill>
            <a:prstDash val="solid"/>
          </a:ln>
        </p:spPr>
      </p:sp>
      <p:sp>
        <p:nvSpPr>
          <p:cNvPr id="13" name="Text 11"/>
          <p:cNvSpPr txBox="1"/>
          <p:nvPr/>
        </p:nvSpPr>
        <p:spPr>
          <a:xfrm>
            <a:off x="8138160" y="4572000"/>
            <a:ext cx="3291840" cy="77724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271</a:t>
            </a:r>
            <a:endParaRPr lang="en-US" sz="4400" dirty="0"/>
          </a:p>
        </p:txBody>
      </p:sp>
      <p:sp>
        <p:nvSpPr>
          <p:cNvPr id="14" name="Text 12"/>
          <p:cNvSpPr txBox="1"/>
          <p:nvPr/>
        </p:nvSpPr>
        <p:spPr>
          <a:xfrm>
            <a:off x="8138160" y="5376672"/>
            <a:ext cx="3291840" cy="411480"/>
          </a:xfrm>
          <a:prstGeom prst="rect">
            <a:avLst/>
          </a:prstGeom>
          <a:noFill/>
          <a:ln/>
        </p:spPr>
        <p:txBody>
          <a:bodyPr wrap="square" lIns="0" tIns="0" rIns="0" bIns="0" rtlCol="0" anchor="ctr"/>
          <a:lstStyle/>
          <a:p>
            <a:pPr indent="0" marL="0">
              <a:buNone/>
            </a:pPr>
            <a:r>
              <a:rPr lang="en-US" sz="1500" dirty="0">
                <a:solidFill>
                  <a:srgbClr val="C9D8E8"/>
                </a:solidFill>
              </a:rPr>
              <a:t>elections in the dataset</a:t>
            </a:r>
            <a:endParaRPr lang="en-US" sz="1500" dirty="0"/>
          </a:p>
        </p:txBody>
      </p:sp>
    </p:spTree>
  </p:cSld>
  <p:clrMapOvr>
    <a:masterClrMapping/>
  </p:clrMapOvr>
</p:sld>
</file>

<file path=ppt/theme/theme1.xml><?xml version="1.0" encoding="utf-8"?>
<a:theme xmlns:a="http://schemas.openxmlformats.org/drawingml/2006/main" name="Election Results">
  <a:themeElements>
    <a:clrScheme name="Election Results">
      <a:dk1>
        <a:srgbClr val="023465"/>
      </a:dk1>
      <a:lt1>
        <a:srgbClr val="FFFFFF"/>
      </a:lt1>
      <a:dk2>
        <a:srgbClr val="4F6886"/>
      </a:dk2>
      <a:lt2>
        <a:srgbClr val="F1F4F8"/>
      </a:lt2>
      <a:accent1>
        <a:srgbClr val="D20C0C"/>
      </a:accent1>
      <a:accent2>
        <a:srgbClr val="418BCA"/>
      </a:accent2>
      <a:accent3>
        <a:srgbClr val="1F5A96"/>
      </a:accent3>
      <a:accent4>
        <a:srgbClr val="7B1E3A"/>
      </a:accent4>
      <a:accent5>
        <a:srgbClr val="CACACA"/>
      </a:accent5>
      <a:accent6>
        <a:srgbClr val="CACACA"/>
      </a:accent6>
      <a:hlink>
        <a:srgbClr val="D20C0C"/>
      </a:hlink>
      <a:folHlink>
        <a:srgbClr val="7B1E3A"/>
      </a:folHlink>
    </a:clrScheme>
    <a:fontScheme name="Election Result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vote shares from previous election results</dc:title>
  <dc:subject>PptxGenJS Presentation</dc:subject>
  <dc:creator>PptxGenJS</dc:creator>
  <cp:lastModifiedBy>PptxGenJS</cp:lastModifiedBy>
  <cp:revision>1</cp:revision>
  <dcterms:created xsi:type="dcterms:W3CDTF">2026-10-29T23:56:44Z</dcterms:created>
  <dcterms:modified xsi:type="dcterms:W3CDTF">2026-10-29T23:56:44Z</dcterms:modified>
</cp:coreProperties>
</file>